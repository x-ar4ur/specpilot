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22eb9e99b094956" /><Relationship Type="http://schemas.openxmlformats.org/officeDocument/2006/relationships/extended-properties" Target="/docProps/app.xml" Id="R1cd9d60f47404152" /><Relationship Type="http://schemas.openxmlformats.org/officeDocument/2006/relationships/officeDocument" Target="/ppt/presentation.xml" Id="R922d572ee2724b6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41a58206218483e"/>
  </p:sldMasterIdLst>
  <p:notesMasterIdLst>
    <p:notesMasterId xmlns:r="http://schemas.openxmlformats.org/officeDocument/2006/relationships" r:id="Rbe61e834fb00485c"/>
  </p:notesMasterIdLst>
  <p:sldIdLst>
    <p:sldId xmlns:r="http://schemas.openxmlformats.org/officeDocument/2006/relationships" id="256" r:id="R04bc1d2a7b1d48ac"/>
    <p:sldId xmlns:r="http://schemas.openxmlformats.org/officeDocument/2006/relationships" id="257" r:id="Ra15d4f7be55b4055"/>
    <p:sldId xmlns:r="http://schemas.openxmlformats.org/officeDocument/2006/relationships" id="258" r:id="R7895c6da617f48f7"/>
    <p:sldId xmlns:r="http://schemas.openxmlformats.org/officeDocument/2006/relationships" id="259" r:id="Rd9d1c093853c46b7"/>
    <p:sldId xmlns:r="http://schemas.openxmlformats.org/officeDocument/2006/relationships" id="260" r:id="R24b3cedf51ab4221"/>
    <p:sldId xmlns:r="http://schemas.openxmlformats.org/officeDocument/2006/relationships" id="261" r:id="Rbad6aa49ef5345df"/>
    <p:sldId xmlns:r="http://schemas.openxmlformats.org/officeDocument/2006/relationships" id="262" r:id="R1ff76db58c5943a0"/>
    <p:sldId xmlns:r="http://schemas.openxmlformats.org/officeDocument/2006/relationships" id="263" r:id="R37b8b91a616d422d"/>
    <p:sldId xmlns:r="http://schemas.openxmlformats.org/officeDocument/2006/relationships" id="264" r:id="Rfe301658aaa04b84"/>
    <p:sldId xmlns:r="http://schemas.openxmlformats.org/officeDocument/2006/relationships" id="265" r:id="R4223847354164ee3"/>
    <p:sldId xmlns:r="http://schemas.openxmlformats.org/officeDocument/2006/relationships" id="266" r:id="R3fbcad0b65854d02"/>
    <p:sldId xmlns:r="http://schemas.openxmlformats.org/officeDocument/2006/relationships" id="267" r:id="Re981142b2aaf42b4"/>
    <p:sldId xmlns:r="http://schemas.openxmlformats.org/officeDocument/2006/relationships" id="268" r:id="Rd1d5c965d0ea48e1"/>
    <p:sldId xmlns:r="http://schemas.openxmlformats.org/officeDocument/2006/relationships" id="269" r:id="R190693d7bd6f48b8"/>
    <p:sldId xmlns:r="http://schemas.openxmlformats.org/officeDocument/2006/relationships" id="270" r:id="Redafaeb76d8f4e74"/>
    <p:sldId xmlns:r="http://schemas.openxmlformats.org/officeDocument/2006/relationships" id="271" r:id="R30e5105470b5416a"/>
    <p:sldId xmlns:r="http://schemas.openxmlformats.org/officeDocument/2006/relationships" id="272" r:id="R87d69f5cd5a843ff"/>
    <p:sldId xmlns:r="http://schemas.openxmlformats.org/officeDocument/2006/relationships" id="273" r:id="R01de6dfe230e46b1"/>
    <p:sldId xmlns:r="http://schemas.openxmlformats.org/officeDocument/2006/relationships" id="274" r:id="R2973c8aa5c9d4d8c"/>
    <p:sldId xmlns:r="http://schemas.openxmlformats.org/officeDocument/2006/relationships" id="275" r:id="Rf671226c3a8042d8"/>
    <p:sldId xmlns:r="http://schemas.openxmlformats.org/officeDocument/2006/relationships" id="276" r:id="R93285a2117a24c61"/>
    <p:sldId xmlns:r="http://schemas.openxmlformats.org/officeDocument/2006/relationships" id="277" r:id="R03cea567124e4575"/>
    <p:sldId xmlns:r="http://schemas.openxmlformats.org/officeDocument/2006/relationships" id="278" r:id="Ra5da8bf9bbe84992"/>
    <p:sldId xmlns:r="http://schemas.openxmlformats.org/officeDocument/2006/relationships" id="279" r:id="Ra06baacfef574ceb"/>
    <p:sldId xmlns:r="http://schemas.openxmlformats.org/officeDocument/2006/relationships" id="280" r:id="Rb8a645c46eae4c6f"/>
    <p:sldId xmlns:r="http://schemas.openxmlformats.org/officeDocument/2006/relationships" id="281" r:id="Rceba8974376544d4"/>
    <p:sldId xmlns:r="http://schemas.openxmlformats.org/officeDocument/2006/relationships" id="282" r:id="R06924948af6348de"/>
    <p:sldId xmlns:r="http://schemas.openxmlformats.org/officeDocument/2006/relationships" id="283" r:id="R81f461f79b034347"/>
    <p:sldId xmlns:r="http://schemas.openxmlformats.org/officeDocument/2006/relationships" id="284" r:id="R4b169d346106438d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41a58206218483e" /><Relationship Type="http://schemas.openxmlformats.org/officeDocument/2006/relationships/theme" Target="/ppt/theme/theme1.xml" Id="Rccd40dcf48b0435f" /><Relationship Type="http://schemas.openxmlformats.org/officeDocument/2006/relationships/notesMaster" Target="/ppt/notesMasters/notesMaster1.xml" Id="Rbe61e834fb00485c" /><Relationship Type="http://schemas.openxmlformats.org/officeDocument/2006/relationships/presProps" Target="/ppt/presProps.xml" Id="R3999950f9a074fc3" /><Relationship Type="http://schemas.openxmlformats.org/officeDocument/2006/relationships/viewProps" Target="/ppt/viewProps.xml" Id="R8828152f64334ed6" /><Relationship Type="http://schemas.openxmlformats.org/officeDocument/2006/relationships/tableStyles" Target="/ppt/tableStyles.xml" Id="Ra417fb79720041dd" /><Relationship Type="http://schemas.openxmlformats.org/officeDocument/2006/relationships/slide" Target="/ppt/slides/slide1.xml" Id="R04bc1d2a7b1d48ac" /><Relationship Type="http://schemas.openxmlformats.org/officeDocument/2006/relationships/slide" Target="/ppt/slides/slide2.xml" Id="Ra15d4f7be55b4055" /><Relationship Type="http://schemas.openxmlformats.org/officeDocument/2006/relationships/slide" Target="/ppt/slides/slide3.xml" Id="R7895c6da617f48f7" /><Relationship Type="http://schemas.openxmlformats.org/officeDocument/2006/relationships/slide" Target="/ppt/slides/slide4.xml" Id="Rd9d1c093853c46b7" /><Relationship Type="http://schemas.openxmlformats.org/officeDocument/2006/relationships/slide" Target="/ppt/slides/slide5.xml" Id="R24b3cedf51ab4221" /><Relationship Type="http://schemas.openxmlformats.org/officeDocument/2006/relationships/slide" Target="/ppt/slides/slide6.xml" Id="Rbad6aa49ef5345df" /><Relationship Type="http://schemas.openxmlformats.org/officeDocument/2006/relationships/slide" Target="/ppt/slides/slide7.xml" Id="R1ff76db58c5943a0" /><Relationship Type="http://schemas.openxmlformats.org/officeDocument/2006/relationships/slide" Target="/ppt/slides/slide8.xml" Id="R37b8b91a616d422d" /><Relationship Type="http://schemas.openxmlformats.org/officeDocument/2006/relationships/slide" Target="/ppt/slides/slide9.xml" Id="Rfe301658aaa04b84" /><Relationship Type="http://schemas.openxmlformats.org/officeDocument/2006/relationships/slide" Target="/ppt/slides/slide10.xml" Id="R4223847354164ee3" /><Relationship Type="http://schemas.openxmlformats.org/officeDocument/2006/relationships/slide" Target="/ppt/slides/slide11.xml" Id="R3fbcad0b65854d02" /><Relationship Type="http://schemas.openxmlformats.org/officeDocument/2006/relationships/slide" Target="/ppt/slides/slide12.xml" Id="Re981142b2aaf42b4" /><Relationship Type="http://schemas.openxmlformats.org/officeDocument/2006/relationships/slide" Target="/ppt/slides/slide13.xml" Id="Rd1d5c965d0ea48e1" /><Relationship Type="http://schemas.openxmlformats.org/officeDocument/2006/relationships/slide" Target="/ppt/slides/slide14.xml" Id="R190693d7bd6f48b8" /><Relationship Type="http://schemas.openxmlformats.org/officeDocument/2006/relationships/slide" Target="/ppt/slides/slide15.xml" Id="Redafaeb76d8f4e74" /><Relationship Type="http://schemas.openxmlformats.org/officeDocument/2006/relationships/slide" Target="/ppt/slides/slide16.xml" Id="R30e5105470b5416a" /><Relationship Type="http://schemas.openxmlformats.org/officeDocument/2006/relationships/slide" Target="/ppt/slides/slide17.xml" Id="R87d69f5cd5a843ff" /><Relationship Type="http://schemas.openxmlformats.org/officeDocument/2006/relationships/slide" Target="/ppt/slides/slide18.xml" Id="R01de6dfe230e46b1" /><Relationship Type="http://schemas.openxmlformats.org/officeDocument/2006/relationships/slide" Target="/ppt/slides/slide19.xml" Id="R2973c8aa5c9d4d8c" /><Relationship Type="http://schemas.openxmlformats.org/officeDocument/2006/relationships/slide" Target="/ppt/slides/slide20.xml" Id="Rf671226c3a8042d8" /><Relationship Type="http://schemas.openxmlformats.org/officeDocument/2006/relationships/slide" Target="/ppt/slides/slide21.xml" Id="R93285a2117a24c61" /><Relationship Type="http://schemas.openxmlformats.org/officeDocument/2006/relationships/slide" Target="/ppt/slides/slide22.xml" Id="R03cea567124e4575" /><Relationship Type="http://schemas.openxmlformats.org/officeDocument/2006/relationships/slide" Target="/ppt/slides/slide23.xml" Id="Ra5da8bf9bbe84992" /><Relationship Type="http://schemas.openxmlformats.org/officeDocument/2006/relationships/slide" Target="/ppt/slides/slide24.xml" Id="Ra06baacfef574ceb" /><Relationship Type="http://schemas.openxmlformats.org/officeDocument/2006/relationships/slide" Target="/ppt/slides/slide25.xml" Id="Rb8a645c46eae4c6f" /><Relationship Type="http://schemas.openxmlformats.org/officeDocument/2006/relationships/slide" Target="/ppt/slides/slide26.xml" Id="Rceba8974376544d4" /><Relationship Type="http://schemas.openxmlformats.org/officeDocument/2006/relationships/slide" Target="/ppt/slides/slide27.xml" Id="R06924948af6348de" /><Relationship Type="http://schemas.openxmlformats.org/officeDocument/2006/relationships/slide" Target="/ppt/slides/slide28.xml" Id="R81f461f79b034347" /><Relationship Type="http://schemas.openxmlformats.org/officeDocument/2006/relationships/slide" Target="/ppt/slides/slide29.xml" Id="R4b169d346106438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d2843fb73c79484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770348db2814783" /><Relationship Type="http://schemas.openxmlformats.org/officeDocument/2006/relationships/notesMaster" Target="/ppt/notesMasters/notesMaster1.xml" Id="R0e4986fae50b43e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8a2835f16904d34" /><Relationship Type="http://schemas.openxmlformats.org/officeDocument/2006/relationships/notesMaster" Target="/ppt/notesMasters/notesMaster1.xml" Id="Rfc72aeb15fff447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6b1e32e35e74bb6" /><Relationship Type="http://schemas.openxmlformats.org/officeDocument/2006/relationships/notesMaster" Target="/ppt/notesMasters/notesMaster1.xml" Id="R0cde70e8c58e4ed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738c865dbff4b83" /><Relationship Type="http://schemas.openxmlformats.org/officeDocument/2006/relationships/notesMaster" Target="/ppt/notesMasters/notesMaster1.xml" Id="R3e5a4efb93784e4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d1e2ebec0ae4154" /><Relationship Type="http://schemas.openxmlformats.org/officeDocument/2006/relationships/notesMaster" Target="/ppt/notesMasters/notesMaster1.xml" Id="R3d8dc6f824f24e6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4633c55a7104253" /><Relationship Type="http://schemas.openxmlformats.org/officeDocument/2006/relationships/notesMaster" Target="/ppt/notesMasters/notesMaster1.xml" Id="Ra9035830077e4aa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0c12c441fd54aa9" /><Relationship Type="http://schemas.openxmlformats.org/officeDocument/2006/relationships/notesMaster" Target="/ppt/notesMasters/notesMaster1.xml" Id="R36b07408302b43e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5de65da3277417e" /><Relationship Type="http://schemas.openxmlformats.org/officeDocument/2006/relationships/notesMaster" Target="/ppt/notesMasters/notesMaster1.xml" Id="R88b56c1cf48e4a25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9749d2f26a4642b3" /><Relationship Type="http://schemas.openxmlformats.org/officeDocument/2006/relationships/notesMaster" Target="/ppt/notesMasters/notesMaster1.xml" Id="R25623395a9df4628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aa0bacf42e4b4060" /><Relationship Type="http://schemas.openxmlformats.org/officeDocument/2006/relationships/notesMaster" Target="/ppt/notesMasters/notesMaster1.xml" Id="R5c2f418d94d34cc3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739e3cfb9ac045c1" /><Relationship Type="http://schemas.openxmlformats.org/officeDocument/2006/relationships/notesMaster" Target="/ppt/notesMasters/notesMaster1.xml" Id="R77c852c6e7d142c0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f47686c0f3eb4923" /><Relationship Type="http://schemas.openxmlformats.org/officeDocument/2006/relationships/notesMaster" Target="/ppt/notesMasters/notesMaster1.xml" Id="R8700d193b01a4d44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d0c3dba0e09f45af" /><Relationship Type="http://schemas.openxmlformats.org/officeDocument/2006/relationships/notesMaster" Target="/ppt/notesMasters/notesMaster1.xml" Id="Rf6551c9c23094fe8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b09ea0a231b5476b" /><Relationship Type="http://schemas.openxmlformats.org/officeDocument/2006/relationships/notesMaster" Target="/ppt/notesMasters/notesMaster1.xml" Id="R669029662b5a476d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1105fd94e3834388" /><Relationship Type="http://schemas.openxmlformats.org/officeDocument/2006/relationships/notesMaster" Target="/ppt/notesMasters/notesMaster1.xml" Id="Rbbec3018aa704d30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ad0fd11d4bf84105" /><Relationship Type="http://schemas.openxmlformats.org/officeDocument/2006/relationships/notesMaster" Target="/ppt/notesMasters/notesMaster1.xml" Id="Rcce14324dd524780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a94937c1978843dc" /><Relationship Type="http://schemas.openxmlformats.org/officeDocument/2006/relationships/notesMaster" Target="/ppt/notesMasters/notesMaster1.xml" Id="R1777c31ffe664a16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0e7341e23f4944be" /><Relationship Type="http://schemas.openxmlformats.org/officeDocument/2006/relationships/notesMaster" Target="/ppt/notesMasters/notesMaster1.xml" Id="R588bc0aa59b34578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df36f962ae134b4b" /><Relationship Type="http://schemas.openxmlformats.org/officeDocument/2006/relationships/notesMaster" Target="/ppt/notesMasters/notesMaster1.xml" Id="R737fd10b8b144a2f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d345109a59e344ea" /><Relationship Type="http://schemas.openxmlformats.org/officeDocument/2006/relationships/notesMaster" Target="/ppt/notesMasters/notesMaster1.xml" Id="R16c81c371556458f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539bfde077894ea6" /><Relationship Type="http://schemas.openxmlformats.org/officeDocument/2006/relationships/notesMaster" Target="/ppt/notesMasters/notesMaster1.xml" Id="Rff2801a46aaa469d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28b64f1e76db47ab" /><Relationship Type="http://schemas.openxmlformats.org/officeDocument/2006/relationships/notesMaster" Target="/ppt/notesMasters/notesMaster1.xml" Id="Rce5a854711de4b22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9c8155ab81664fa0" /><Relationship Type="http://schemas.openxmlformats.org/officeDocument/2006/relationships/notesMaster" Target="/ppt/notesMasters/notesMaster1.xml" Id="R07a3ff9c22ab4cf9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ca5ff43a712f439b" /><Relationship Type="http://schemas.openxmlformats.org/officeDocument/2006/relationships/notesMaster" Target="/ppt/notesMasters/notesMaster1.xml" Id="R8c8b11bc92dc4d4e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057a4c2d8321422a" /><Relationship Type="http://schemas.openxmlformats.org/officeDocument/2006/relationships/notesMaster" Target="/ppt/notesMasters/notesMaster1.xml" Id="R44515f0dadbb4a2d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2e8b5e75aa4f458b" /><Relationship Type="http://schemas.openxmlformats.org/officeDocument/2006/relationships/notesMaster" Target="/ppt/notesMasters/notesMaster1.xml" Id="Rb6eb1aac405045f2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b3d1658b5a9244a4" /><Relationship Type="http://schemas.openxmlformats.org/officeDocument/2006/relationships/notesMaster" Target="/ppt/notesMasters/notesMaster1.xml" Id="R1715fad7da444e0a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d03bc99e8675452a" /><Relationship Type="http://schemas.openxmlformats.org/officeDocument/2006/relationships/notesMaster" Target="/ppt/notesMasters/notesMaster1.xml" Id="Re1da28aa1a804bfd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d0e467686ad44621" /><Relationship Type="http://schemas.openxmlformats.org/officeDocument/2006/relationships/notesMaster" Target="/ppt/notesMasters/notesMaster1.xml" Id="Ra39199e1d222407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5bc8bb2f94b49d6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01de81e6ff94bb7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4fa54017f1d4806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332114debb143e4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77c77543bc342ee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7e0ca3de8bc44f7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1edd8e68cfd4649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a078bd9d60c4730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bd9961cd0a14956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e89195fc0f64d23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4dc042562f04519" /></Relationships>
</file>

<file path=ppt/slideLayouts/slideLayout2.xml><?xml version="1.0" encoding="utf-8"?>
<p:sldLayout xmlns:p="http://schemas.openxmlformats.org/presentationml/2006/main" type="objTx">
  <p:cSld name="内容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35B2BC33-62B7-407F-BB27-413D667AC08F}"/>
              </a:ext>
            </a:extLst>
          </p:cNvPr>
          <p:cNvSpPr/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/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84B827BC-7C6A-4043-B1A7-28E8FC9A2843}"/>
              </a:ext>
            </a:extLst>
          </p:cNvPr>
          <p:cNvSpPr/>
          <p:nvPr>
            <p:ph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/>
        </p:txBody>
      </p:sp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67346A8B-D538-4AB2-A384-1527A91E394D}"/>
              </a:ext>
            </a:extLst>
          </p:cNvPr>
          <p:cNvSpPr/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/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CBA7FB73-C062-451E-9246-F10B852B0857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EF22D85A-3C1C-42B3-B57C-AECC00DF7D0A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4C6EF025-1420-47D9-A2EF-C714CDF6F8D7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 type="secHead">
  <p:cSld name="节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064ABCAF-B23B-48AF-A590-09B50630C957}"/>
              </a:ext>
            </a:extLst>
          </p:cNvPr>
          <p:cNvSpPr/>
          <p:nvPr>
            <p:ph type="title" idx="0"/>
          </p:nvPr>
        </p:nvSpPr>
        <p:spPr>
          <a:xfrm xmlns:a="http://schemas.openxmlformats.org/drawingml/2006/main">
            <a:off x="831850" y="1709738"/>
            <a:ext cx="10515600" cy="2852737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6000"/>
            </a:lvl1pPr>
          </a:lstStyle>
          <a:p xmlns:a="http://schemas.openxmlformats.org/drawingml/2006/main"/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F33F3589-5ED0-4252-A61F-A42B7EB08B9C}"/>
              </a:ext>
            </a:extLst>
          </p:cNvPr>
          <p:cNvSpPr/>
          <p:nvPr>
            <p:ph type="body" idx="1"/>
          </p:nvPr>
        </p:nvSpPr>
        <p:spPr>
          <a:xfrm xmlns:a="http://schemas.openxmlformats.org/drawingml/2006/main">
            <a:off x="831850" y="4589463"/>
            <a:ext cx="10515600" cy="1500187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/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358580F6-CF76-4CDB-949C-421A0A0A9B8E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EE7D9FD6-41AB-46F7-845E-587C8291750B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F43CC5C6-8054-442E-B401-E628BECCAB14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 type="blank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日期占位符 1">
            <a:extLst xmlns:a="http://schemas.openxmlformats.org/drawingml/2006/main">
              <a:ext uri="{FF2B5EF4-FFF2-40B4-BE49-F238E27FC236}">
                <a16:creationId xmlns:a16="http://schemas.microsoft.com/office/drawing/2014/main" id="{660CB3C3-183B-47F0-BF48-7EE0761D4C70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页脚占位符 2">
            <a:extLst xmlns:a="http://schemas.openxmlformats.org/drawingml/2006/main">
              <a:ext uri="{FF2B5EF4-FFF2-40B4-BE49-F238E27FC236}">
                <a16:creationId xmlns:a16="http://schemas.microsoft.com/office/drawing/2014/main" id="{450EEC10-5BC4-4C56-91CA-2C74E21BAB38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灯片编号占位符 3">
            <a:extLst xmlns:a="http://schemas.openxmlformats.org/drawingml/2006/main">
              <a:ext uri="{FF2B5EF4-FFF2-40B4-BE49-F238E27FC236}">
                <a16:creationId xmlns:a16="http://schemas.microsoft.com/office/drawing/2014/main" id="{C53AD91B-799A-45CB-AE8E-A95079D2A98A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 type="obj">
  <p:cSld name="标题和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EB61619D-36E2-402F-BF54-B7E675F6BC65}"/>
              </a:ext>
            </a:extLst>
          </p:cNvPr>
          <p:cNvSpPr/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86C45D95-CA64-463F-8303-EB8732457481}"/>
              </a:ext>
            </a:extLst>
          </p:cNvPr>
          <p:cNvSpPr/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2601A51D-ED68-4245-9D1B-5B49EEF485C5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260EFF1B-AADF-41B4-82F6-2BC7E328FA19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DC9ABA4E-35B0-4F1A-AC9A-617D3AE219CA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title">
  <p:cSld name="标题幻灯片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B6B8501E-2E54-4E7E-BE00-C4B477193BA2}"/>
              </a:ext>
            </a:extLst>
          </p:cNvPr>
          <p:cNvSpPr/>
          <p:nvPr>
            <p:ph type="ctrTitle" idx="0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 anchor="b"/>
          <a:lstStyle xmlns:a="http://schemas.openxmlformats.org/drawingml/2006/main">
            <a:lvl1pPr algn="ctr">
              <a:buNone/>
              <a:defRPr sz="6000"/>
            </a:lvl1pPr>
          </a:lstStyle>
          <a:p xmlns:a="http://schemas.openxmlformats.org/drawingml/2006/main"/>
        </p:txBody>
      </p:sp>
      <p:sp>
        <p:nvSpPr>
          <p:cNvPr id="3" name="副标题 2">
            <a:extLst xmlns:a="http://schemas.openxmlformats.org/drawingml/2006/main">
              <a:ext uri="{FF2B5EF4-FFF2-40B4-BE49-F238E27FC236}">
                <a16:creationId xmlns:a16="http://schemas.microsoft.com/office/drawing/2014/main" id="{8506479E-85AD-44E2-821A-04EA70F3BFFB}"/>
              </a:ext>
            </a:extLst>
          </p:cNvPr>
          <p:cNvSpPr/>
          <p:nvPr>
            <p:ph type="subTitle" idx="1"/>
          </p:nvPr>
        </p:nvSpPr>
        <p:spPr>
          <a:xfrm xmlns:a="http://schemas.openxmlformats.org/drawingml/2006/main">
            <a:off x="1524000" y="3602038"/>
            <a:ext cx="9144000" cy="1655762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/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04016E07-F6B0-41C9-ADC8-042DD928A4C2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9AAFF367-92DB-4449-BE0F-C83564E3768C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9F063D46-A9F1-482F-AB1C-52928A74BB20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7.xml><?xml version="1.0" encoding="utf-8"?>
<p:sldLayout xmlns:p="http://schemas.openxmlformats.org/presentationml/2006/main" type="titleOnly">
  <p:cSld name="仅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CBBC8C71-601B-4676-ACBC-945022B14D37}"/>
              </a:ext>
            </a:extLst>
          </p:cNvPr>
          <p:cNvSpPr/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日期占位符 2">
            <a:extLst xmlns:a="http://schemas.openxmlformats.org/drawingml/2006/main">
              <a:ext uri="{FF2B5EF4-FFF2-40B4-BE49-F238E27FC236}">
                <a16:creationId xmlns:a16="http://schemas.microsoft.com/office/drawing/2014/main" id="{7275C810-747D-4D44-B27C-A70759C982BC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页脚占位符 3">
            <a:extLst xmlns:a="http://schemas.openxmlformats.org/drawingml/2006/main">
              <a:ext uri="{FF2B5EF4-FFF2-40B4-BE49-F238E27FC236}">
                <a16:creationId xmlns:a16="http://schemas.microsoft.com/office/drawing/2014/main" id="{8951EDBE-FB0B-48A3-A929-1A5603C05212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灯片编号占位符 4">
            <a:extLst xmlns:a="http://schemas.openxmlformats.org/drawingml/2006/main">
              <a:ext uri="{FF2B5EF4-FFF2-40B4-BE49-F238E27FC236}">
                <a16:creationId xmlns:a16="http://schemas.microsoft.com/office/drawing/2014/main" id="{1B1686A6-27E6-498B-9556-9A3E9F0DB72A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8.xml><?xml version="1.0" encoding="utf-8"?>
<p:sldLayout xmlns:p="http://schemas.openxmlformats.org/presentationml/2006/main" type="vertTitleAndTx">
  <p:cSld name="竖排标题与文本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竖排标题 1">
            <a:extLst xmlns:a="http://schemas.openxmlformats.org/drawingml/2006/main">
              <a:ext uri="{FF2B5EF4-FFF2-40B4-BE49-F238E27FC236}">
                <a16:creationId xmlns:a16="http://schemas.microsoft.com/office/drawing/2014/main" id="{6BDE453F-A641-46FE-86D8-48B4AC6695D3}"/>
              </a:ext>
            </a:extLst>
          </p:cNvPr>
          <p:cNvSpPr/>
          <p:nvPr>
            <p:ph type="title" idx="0"/>
          </p:nvPr>
        </p:nvSpPr>
        <p:spPr>
          <a:xfrm xmlns:a="http://schemas.openxmlformats.org/drawingml/2006/main">
            <a:off x="8724900" y="365125"/>
            <a:ext cx="26289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/>
        </p:txBody>
      </p:sp>
      <p:sp>
        <p:nvSpPr>
          <p:cNvPr id="3" name="竖排文字占位符 2">
            <a:extLst xmlns:a="http://schemas.openxmlformats.org/drawingml/2006/main">
              <a:ext uri="{FF2B5EF4-FFF2-40B4-BE49-F238E27FC236}">
                <a16:creationId xmlns:a16="http://schemas.microsoft.com/office/drawing/2014/main" id="{23539DA3-0AD5-4872-BDE1-917A16310827}"/>
              </a:ext>
            </a:extLst>
          </p:cNvPr>
          <p:cNvSpPr/>
          <p:nvPr>
            <p:ph type="body" idx="1"/>
          </p:nvPr>
        </p:nvSpPr>
        <p:spPr>
          <a:xfrm xmlns:a="http://schemas.openxmlformats.org/drawingml/2006/main">
            <a:off x="838200" y="365125"/>
            <a:ext cx="77343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/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63AC4E60-1128-4DFA-86EB-E1FBF4ED6390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D5475826-7E35-4AD7-8C4E-778301FC91C6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7AD1073B-A181-4782-8FA8-69E82BF45238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9.xml><?xml version="1.0" encoding="utf-8"?>
<p:sldLayout xmlns:p="http://schemas.openxmlformats.org/presentationml/2006/main" type="twoTxTwoObj">
  <p:cSld name="比较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CD06C58D-B60B-46B1-940F-658824C89CE7}"/>
              </a:ext>
            </a:extLst>
          </p:cNvPr>
          <p:cNvSpPr/>
          <p:nvPr>
            <p:ph type="title" idx="0"/>
          </p:nvPr>
        </p:nvSpPr>
        <p:spPr>
          <a:xfrm xmlns:a="http://schemas.openxmlformats.org/drawingml/2006/main">
            <a:off x="839788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6A3A50D0-0CE3-4225-8575-B5965B67010D}"/>
              </a:ext>
            </a:extLst>
          </p:cNvPr>
          <p:cNvSpPr/>
          <p:nvPr>
            <p:ph type="body" idx="1"/>
          </p:nvPr>
        </p:nvSpPr>
        <p:spPr>
          <a:xfrm xmlns:a="http://schemas.openxmlformats.org/drawingml/2006/main">
            <a:off x="839788" y="1681163"/>
            <a:ext cx="5157787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/>
        </p:txBody>
      </p:sp>
      <p:sp>
        <p:nvSpPr>
          <p:cNvPr id="4" name="内容占位符 3">
            <a:extLst xmlns:a="http://schemas.openxmlformats.org/drawingml/2006/main">
              <a:ext uri="{FF2B5EF4-FFF2-40B4-BE49-F238E27FC236}">
                <a16:creationId xmlns:a16="http://schemas.microsoft.com/office/drawing/2014/main" id="{56C69E8E-4163-4A0C-BFBA-E057B91C5115}"/>
              </a:ext>
            </a:extLst>
          </p:cNvPr>
          <p:cNvSpPr/>
          <p:nvPr>
            <p:ph idx="2"/>
          </p:nvPr>
        </p:nvSpPr>
        <p:spPr>
          <a:xfrm xmlns:a="http://schemas.openxmlformats.org/drawingml/2006/main">
            <a:off x="839788" y="2505075"/>
            <a:ext cx="5157787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文本占位符 4">
            <a:extLst xmlns:a="http://schemas.openxmlformats.org/drawingml/2006/main">
              <a:ext uri="{FF2B5EF4-FFF2-40B4-BE49-F238E27FC236}">
                <a16:creationId xmlns:a16="http://schemas.microsoft.com/office/drawing/2014/main" id="{B2ABEA7B-3BFC-4C04-A0EF-516873D06636}"/>
              </a:ext>
            </a:extLst>
          </p:cNvPr>
          <p:cNvSpPr/>
          <p:nvPr>
            <p:ph type="body" idx="3"/>
          </p:nvPr>
        </p:nvSpPr>
        <p:spPr>
          <a:xfrm xmlns:a="http://schemas.openxmlformats.org/drawingml/2006/main">
            <a:off x="6172200" y="1681163"/>
            <a:ext cx="5183188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/>
        </p:txBody>
      </p:sp>
      <p:sp>
        <p:nvSpPr>
          <p:cNvPr id="6" name="内容占位符 5">
            <a:extLst xmlns:a="http://schemas.openxmlformats.org/drawingml/2006/main">
              <a:ext uri="{FF2B5EF4-FFF2-40B4-BE49-F238E27FC236}">
                <a16:creationId xmlns:a16="http://schemas.microsoft.com/office/drawing/2014/main" id="{B56D2CCC-5921-4AD5-BADC-D3E512DC1B6C}"/>
              </a:ext>
            </a:extLst>
          </p:cNvPr>
          <p:cNvSpPr/>
          <p:nvPr>
            <p:ph idx="4"/>
          </p:nvPr>
        </p:nvSpPr>
        <p:spPr>
          <a:xfrm xmlns:a="http://schemas.openxmlformats.org/drawingml/2006/main">
            <a:off x="6172200" y="2505075"/>
            <a:ext cx="5183188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日期占位符 6">
            <a:extLst xmlns:a="http://schemas.openxmlformats.org/drawingml/2006/main">
              <a:ext uri="{FF2B5EF4-FFF2-40B4-BE49-F238E27FC236}">
                <a16:creationId xmlns:a16="http://schemas.microsoft.com/office/drawing/2014/main" id="{374165C6-6E3C-40F9-8A07-B568BEC2384A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8" name="页脚占位符 7">
            <a:extLst xmlns:a="http://schemas.openxmlformats.org/drawingml/2006/main">
              <a:ext uri="{FF2B5EF4-FFF2-40B4-BE49-F238E27FC236}">
                <a16:creationId xmlns:a16="http://schemas.microsoft.com/office/drawing/2014/main" id="{8D9700A9-9E74-4A74-8450-49C4F5394B6C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灯片编号占位符 8">
            <a:extLst xmlns:a="http://schemas.openxmlformats.org/drawingml/2006/main">
              <a:ext uri="{FF2B5EF4-FFF2-40B4-BE49-F238E27FC236}">
                <a16:creationId xmlns:a16="http://schemas.microsoft.com/office/drawing/2014/main" id="{65EF7B12-BFBD-4E65-995D-B7DD8699B259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10.xml><?xml version="1.0" encoding="utf-8"?>
<p:sldLayout xmlns:p="http://schemas.openxmlformats.org/presentationml/2006/main" type="vertTx">
  <p:cSld name="标题和竖排文字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59E2B8F5-632F-4FE7-BAAF-9E9B0872A65A}"/>
              </a:ext>
            </a:extLst>
          </p:cNvPr>
          <p:cNvSpPr/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竖排文字占位符 2">
            <a:extLst xmlns:a="http://schemas.openxmlformats.org/drawingml/2006/main">
              <a:ext uri="{FF2B5EF4-FFF2-40B4-BE49-F238E27FC236}">
                <a16:creationId xmlns:a16="http://schemas.microsoft.com/office/drawing/2014/main" id="{F816D912-67DB-48F5-905A-AED250DAF696}"/>
              </a:ext>
            </a:extLst>
          </p:cNvPr>
          <p:cNvSpPr/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/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FEF29C8E-6B15-4DDF-908A-772224949079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3A04EAC4-6DFC-4E24-8CD3-15AA6E8B94E0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67D9960A-5224-431D-8D0F-C8A872A36298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11.xml><?xml version="1.0" encoding="utf-8"?>
<p:sldLayout xmlns:p="http://schemas.openxmlformats.org/presentationml/2006/main" type="twoObj">
  <p:cSld name="两栏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01B1D06A-5393-4764-8130-11F10C99C893}"/>
              </a:ext>
            </a:extLst>
          </p:cNvPr>
          <p:cNvSpPr/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1D23CC81-5C72-4866-A072-4E114BFB9D90}"/>
              </a:ext>
            </a:extLst>
          </p:cNvPr>
          <p:cNvSpPr/>
          <p:nvPr>
            <p:ph idx="1"/>
          </p:nvPr>
        </p:nvSpPr>
        <p:spPr>
          <a:xfrm xmlns:a="http://schemas.openxmlformats.org/drawingml/2006/main">
            <a:off x="838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内容占位符 3">
            <a:extLst xmlns:a="http://schemas.openxmlformats.org/drawingml/2006/main">
              <a:ext uri="{FF2B5EF4-FFF2-40B4-BE49-F238E27FC236}">
                <a16:creationId xmlns:a16="http://schemas.microsoft.com/office/drawing/2014/main" id="{41322F73-935A-4AB5-9D45-EB2724565552}"/>
              </a:ext>
            </a:extLst>
          </p:cNvPr>
          <p:cNvSpPr/>
          <p:nvPr>
            <p:ph idx="2"/>
          </p:nvPr>
        </p:nvSpPr>
        <p:spPr>
          <a:xfrm xmlns:a="http://schemas.openxmlformats.org/drawingml/2006/main">
            <a:off x="6172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4ABB10A3-54B1-4F19-83B7-AFEB9142D6D0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9B79EA4F-A556-4BCE-B0D0-94D524BB9CF3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62554723-71B4-48E8-A7B2-4834C541A6BE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12.xml><?xml version="1.0" encoding="utf-8"?>
<p:sldLayout xmlns:p="http://schemas.openxmlformats.org/presentationml/2006/main" type="picTx">
  <p:cSld name="图片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D1EF5C1E-A3D7-46BC-84A6-9D043E8DEAB2}"/>
              </a:ext>
            </a:extLst>
          </p:cNvPr>
          <p:cNvSpPr/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/>
        </p:txBody>
      </p:sp>
      <p:sp>
        <p:nvSpPr>
          <p:cNvPr id="3" name="图片占位符 2">
            <a:extLst xmlns:a="http://schemas.openxmlformats.org/drawingml/2006/main">
              <a:ext uri="{FF2B5EF4-FFF2-40B4-BE49-F238E27FC236}">
                <a16:creationId xmlns:a16="http://schemas.microsoft.com/office/drawing/2014/main" id="{5F184AF9-034D-4210-AD29-949027A2A115}"/>
              </a:ext>
            </a:extLst>
          </p:cNvPr>
          <p:cNvSpPr/>
          <p:nvPr>
            <p:ph type="pic"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/>
        </p:txBody>
      </p:sp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0B72CC5E-5177-48E4-9CCF-4C5B485B5129}"/>
              </a:ext>
            </a:extLst>
          </p:cNvPr>
          <p:cNvSpPr/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/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06E3B853-7CF5-4592-90DA-56FB384FA4BC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ADE515C5-3FFA-4F25-91DE-92DAC0617908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1F094B46-3548-4643-BBB1-BC856B748D07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5acb56d100054009" /><Relationship Type="http://schemas.openxmlformats.org/officeDocument/2006/relationships/slideLayout" Target="/ppt/slideLayouts/slideLayout2.xml" Id="Rf0c30229dfd449de" /><Relationship Type="http://schemas.openxmlformats.org/officeDocument/2006/relationships/slideLayout" Target="/ppt/slideLayouts/slideLayout3.xml" Id="R05ac486eedb44ccd" /><Relationship Type="http://schemas.openxmlformats.org/officeDocument/2006/relationships/slideLayout" Target="/ppt/slideLayouts/slideLayout4.xml" Id="R089d7fd36c8f408f" /><Relationship Type="http://schemas.openxmlformats.org/officeDocument/2006/relationships/slideLayout" Target="/ppt/slideLayouts/slideLayout5.xml" Id="Rd40a9ef0c94041a1" /><Relationship Type="http://schemas.openxmlformats.org/officeDocument/2006/relationships/slideLayout" Target="/ppt/slideLayouts/slideLayout6.xml" Id="R7b99e593846045ca" /><Relationship Type="http://schemas.openxmlformats.org/officeDocument/2006/relationships/slideLayout" Target="/ppt/slideLayouts/slideLayout7.xml" Id="R050a64c0022c4304" /><Relationship Type="http://schemas.openxmlformats.org/officeDocument/2006/relationships/slideLayout" Target="/ppt/slideLayouts/slideLayout8.xml" Id="R0ea52d405fa84047" /><Relationship Type="http://schemas.openxmlformats.org/officeDocument/2006/relationships/slideLayout" Target="/ppt/slideLayouts/slideLayout9.xml" Id="Rbe9fa381ef6448f4" /><Relationship Type="http://schemas.openxmlformats.org/officeDocument/2006/relationships/slideLayout" Target="/ppt/slideLayouts/slideLayout10.xml" Id="R53d14116e20e416e" /><Relationship Type="http://schemas.openxmlformats.org/officeDocument/2006/relationships/slideLayout" Target="/ppt/slideLayouts/slideLayout11.xml" Id="Rc859784588ac4ce2" /><Relationship Type="http://schemas.openxmlformats.org/officeDocument/2006/relationships/slideLayout" Target="/ppt/slideLayouts/slideLayout12.xml" Id="Rae7276fbb701458d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260851FD-6DAA-4D95-90B2-CCAE93D636B8}"/>
              </a:ext>
            </a:extLst>
          </p:cNvPr>
          <p:cNvSpPr/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457B427D-99CE-4777-B4D6-73A400A6961F}"/>
              </a:ext>
            </a:extLst>
          </p:cNvPr>
          <p:cNvSpPr/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2BF18D23-AB65-4357-B080-2ED76CBE928E}"/>
              </a:ext>
            </a:extLst>
          </p:cNvPr>
          <p:cNvSpPr/>
          <p:nvPr>
            <p:ph type="dt" idx="2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F16DD303-9416-48A3-ADC5-653A2A106938}"/>
              </a:ext>
            </a:extLst>
          </p:cNvPr>
          <p:cNvSpPr/>
          <p:nvPr>
            <p:ph type="ftr" idx="3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A7903E8B-4945-4223-9743-CDC9652C24C3}"/>
              </a:ext>
            </a:extLst>
          </p:cNvPr>
          <p:cNvSpPr/>
          <p:nvPr>
            <p:ph type="sldNum" idx="4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0c30229dfd449de"/>
    <p:sldLayoutId xmlns:r="http://schemas.openxmlformats.org/officeDocument/2006/relationships" id="2147483650" r:id="R05ac486eedb44ccd"/>
    <p:sldLayoutId xmlns:r="http://schemas.openxmlformats.org/officeDocument/2006/relationships" id="2147483651" r:id="R089d7fd36c8f408f"/>
    <p:sldLayoutId xmlns:r="http://schemas.openxmlformats.org/officeDocument/2006/relationships" id="2147483652" r:id="Rd40a9ef0c94041a1"/>
    <p:sldLayoutId xmlns:r="http://schemas.openxmlformats.org/officeDocument/2006/relationships" id="2147483653" r:id="R7b99e593846045ca"/>
    <p:sldLayoutId xmlns:r="http://schemas.openxmlformats.org/officeDocument/2006/relationships" id="2147483654" r:id="R050a64c0022c4304"/>
    <p:sldLayoutId xmlns:r="http://schemas.openxmlformats.org/officeDocument/2006/relationships" id="2147483655" r:id="R0ea52d405fa84047"/>
    <p:sldLayoutId xmlns:r="http://schemas.openxmlformats.org/officeDocument/2006/relationships" id="2147483656" r:id="Rbe9fa381ef6448f4"/>
    <p:sldLayoutId xmlns:r="http://schemas.openxmlformats.org/officeDocument/2006/relationships" id="2147483657" r:id="R53d14116e20e416e"/>
    <p:sldLayoutId xmlns:r="http://schemas.openxmlformats.org/officeDocument/2006/relationships" id="2147483658" r:id="Rc859784588ac4ce2"/>
    <p:sldLayoutId xmlns:r="http://schemas.openxmlformats.org/officeDocument/2006/relationships" id="2147483659" r:id="Rae7276fbb701458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484d9957006640df" /><Relationship Type="http://schemas.openxmlformats.org/officeDocument/2006/relationships/image" Target="/ppt/media/image.png" Id="R260ee455e6d54f6e" /><Relationship Type="http://schemas.openxmlformats.org/officeDocument/2006/relationships/image" Target="/ppt/media/image2.png" Id="R181db027e4ce435c" /><Relationship Type="http://schemas.openxmlformats.org/officeDocument/2006/relationships/notesSlide" Target="/ppt/notesSlides/notesSlide1.xml" Id="R977ba1e5b063473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9bb1528dfe54ed5" /><Relationship Type="http://schemas.openxmlformats.org/officeDocument/2006/relationships/image" Target="/ppt/media/image2.png" Id="Rfde12d9c15b04aa5" /><Relationship Type="http://schemas.openxmlformats.org/officeDocument/2006/relationships/notesSlide" Target="/ppt/notesSlides/notesSlide2.xml" Id="R1994b56e1cf64b0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00f47c9b64cf4e76" /><Relationship Type="http://schemas.openxmlformats.org/officeDocument/2006/relationships/image" Target="/ppt/media/image2.png" Id="R6293c7a3b7a648b3" /><Relationship Type="http://schemas.openxmlformats.org/officeDocument/2006/relationships/notesSlide" Target="/ppt/notesSlides/notesSlide3.xml" Id="Ref37bba247484f0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7af5373c48914ab0" /><Relationship Type="http://schemas.openxmlformats.org/officeDocument/2006/relationships/image" Target="/ppt/media/image3.png" Id="R19919b78f4c64bf7" /><Relationship Type="http://schemas.openxmlformats.org/officeDocument/2006/relationships/notesSlide" Target="/ppt/notesSlides/notesSlide4.xml" Id="R5090e510680542c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4139e255c9624402" /><Relationship Type="http://schemas.openxmlformats.org/officeDocument/2006/relationships/image" Target="/ppt/media/image3.png" Id="R1af86b7bd69d420e" /><Relationship Type="http://schemas.openxmlformats.org/officeDocument/2006/relationships/notesSlide" Target="/ppt/notesSlides/notesSlide5.xml" Id="R9398d6d5b14d44a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6981d032d9f74783" /><Relationship Type="http://schemas.openxmlformats.org/officeDocument/2006/relationships/image" Target="/ppt/media/image2.png" Id="Rd5966c18d7d947a2" /><Relationship Type="http://schemas.openxmlformats.org/officeDocument/2006/relationships/notesSlide" Target="/ppt/notesSlides/notesSlide6.xml" Id="Rd5ec696f110f4a5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1ad8d9ffd51e488b" /><Relationship Type="http://schemas.openxmlformats.org/officeDocument/2006/relationships/image" Target="/ppt/media/image3.png" Id="R0cfabf40f28b468a" /><Relationship Type="http://schemas.openxmlformats.org/officeDocument/2006/relationships/notesSlide" Target="/ppt/notesSlides/notesSlide7.xml" Id="Rd5e8fa5a7d42487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80d41a6f00454856" /><Relationship Type="http://schemas.openxmlformats.org/officeDocument/2006/relationships/image" Target="/ppt/media/image3.png" Id="Redfc6411850545f5" /><Relationship Type="http://schemas.openxmlformats.org/officeDocument/2006/relationships/notesSlide" Target="/ppt/notesSlides/notesSlide8.xml" Id="Rde18526d376c4c9f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cfab5875641c4cb4" /><Relationship Type="http://schemas.openxmlformats.org/officeDocument/2006/relationships/image" Target="/ppt/media/image3.png" Id="R7132fa97747c49d9" /><Relationship Type="http://schemas.openxmlformats.org/officeDocument/2006/relationships/notesSlide" Target="/ppt/notesSlides/notesSlide9.xml" Id="R4a3347b91f7744d2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e2bd7c03acfb4dc9" /><Relationship Type="http://schemas.openxmlformats.org/officeDocument/2006/relationships/image" Target="/ppt/media/image2.png" Id="Re2130f8bbfb9436d" /><Relationship Type="http://schemas.openxmlformats.org/officeDocument/2006/relationships/notesSlide" Target="/ppt/notesSlides/notesSlide10.xml" Id="Rce639055d5f2454a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923f14c934d94bc6" /><Relationship Type="http://schemas.openxmlformats.org/officeDocument/2006/relationships/image" Target="/ppt/media/image3.png" Id="Rd7cf0dcd79534c1b" /><Relationship Type="http://schemas.openxmlformats.org/officeDocument/2006/relationships/notesSlide" Target="/ppt/notesSlides/notesSlide11.xml" Id="Rb060f0b733624c7f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326bc5604b6649de" /><Relationship Type="http://schemas.openxmlformats.org/officeDocument/2006/relationships/image" Target="/ppt/media/image3.png" Id="Rd2e958ef62394727" /><Relationship Type="http://schemas.openxmlformats.org/officeDocument/2006/relationships/notesSlide" Target="/ppt/notesSlides/notesSlide12.xml" Id="Rdef4ea93ce414ec7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11b601d2dfa44eeb" /><Relationship Type="http://schemas.openxmlformats.org/officeDocument/2006/relationships/image" Target="/ppt/media/image3.png" Id="Ra508b0f2d3254ee3" /><Relationship Type="http://schemas.openxmlformats.org/officeDocument/2006/relationships/notesSlide" Target="/ppt/notesSlides/notesSlide13.xml" Id="R741b3525aea44d4d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caad7eef63a34dc3" /><Relationship Type="http://schemas.openxmlformats.org/officeDocument/2006/relationships/image" Target="/ppt/media/image3.png" Id="R00148fee4f044754" /><Relationship Type="http://schemas.openxmlformats.org/officeDocument/2006/relationships/notesSlide" Target="/ppt/notesSlides/notesSlide14.xml" Id="R07819949312843fe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55e94e82caf3484f" /><Relationship Type="http://schemas.openxmlformats.org/officeDocument/2006/relationships/image" Target="/ppt/media/image3.png" Id="R5304b7d13da14eec" /><Relationship Type="http://schemas.openxmlformats.org/officeDocument/2006/relationships/notesSlide" Target="/ppt/notesSlides/notesSlide15.xml" Id="R71073adb024742db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f20002b2c4e14f68" /><Relationship Type="http://schemas.openxmlformats.org/officeDocument/2006/relationships/image" Target="/ppt/media/image3.png" Id="R079455bc7dd648e0" /><Relationship Type="http://schemas.openxmlformats.org/officeDocument/2006/relationships/notesSlide" Target="/ppt/notesSlides/notesSlide16.xml" Id="Rbc247540cbb24fb8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6841da40f80f43d5" /><Relationship Type="http://schemas.openxmlformats.org/officeDocument/2006/relationships/image" Target="/ppt/media/image3.png" Id="Rf70627e77e794c2d" /><Relationship Type="http://schemas.openxmlformats.org/officeDocument/2006/relationships/notesSlide" Target="/ppt/notesSlides/notesSlide17.xml" Id="R39af18b7c5114c3d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cf32618c6c88469e" /><Relationship Type="http://schemas.openxmlformats.org/officeDocument/2006/relationships/image" Target="/ppt/media/image3.png" Id="Rbed2cfb7d5bd4e83" /><Relationship Type="http://schemas.openxmlformats.org/officeDocument/2006/relationships/notesSlide" Target="/ppt/notesSlides/notesSlide18.xml" Id="R3817d61b86514604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9d5d8e91228e4906" /><Relationship Type="http://schemas.openxmlformats.org/officeDocument/2006/relationships/image" Target="/ppt/media/image3.png" Id="R95875b41519647ce" /><Relationship Type="http://schemas.openxmlformats.org/officeDocument/2006/relationships/notesSlide" Target="/ppt/notesSlides/notesSlide19.xml" Id="R70144540360142c3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a3211c4cab4749c7" /><Relationship Type="http://schemas.openxmlformats.org/officeDocument/2006/relationships/image" Target="/ppt/media/image3.png" Id="Rec4da4c7fc644ee6" /><Relationship Type="http://schemas.openxmlformats.org/officeDocument/2006/relationships/notesSlide" Target="/ppt/notesSlides/notesSlide20.xml" Id="Rdec3159d002446d2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04192422866646cf" /><Relationship Type="http://schemas.openxmlformats.org/officeDocument/2006/relationships/image" Target="/ppt/media/image3.png" Id="R4709d7b8d7f84fd3" /><Relationship Type="http://schemas.openxmlformats.org/officeDocument/2006/relationships/notesSlide" Target="/ppt/notesSlides/notesSlide21.xml" Id="R79cf67bd04cb452e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ff8b36cb915449f5" /><Relationship Type="http://schemas.openxmlformats.org/officeDocument/2006/relationships/image" Target="/ppt/media/image3.png" Id="Raa0d9e0e2d5b482d" /><Relationship Type="http://schemas.openxmlformats.org/officeDocument/2006/relationships/notesSlide" Target="/ppt/notesSlides/notesSlide22.xml" Id="Re06223e2d8384bfe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b6eb949f6d1b4714" /><Relationship Type="http://schemas.openxmlformats.org/officeDocument/2006/relationships/image" Target="/ppt/media/image3.png" Id="R453ded31add54e93" /><Relationship Type="http://schemas.openxmlformats.org/officeDocument/2006/relationships/notesSlide" Target="/ppt/notesSlides/notesSlide23.xml" Id="R33cb0c2516854351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06e56ca43b0e4f35" /><Relationship Type="http://schemas.openxmlformats.org/officeDocument/2006/relationships/image" Target="/ppt/media/image3.png" Id="R081b4d42613a4425" /><Relationship Type="http://schemas.openxmlformats.org/officeDocument/2006/relationships/notesSlide" Target="/ppt/notesSlides/notesSlide24.xml" Id="Re3b8679d13154665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b1a37bdb09a14e86" /><Relationship Type="http://schemas.openxmlformats.org/officeDocument/2006/relationships/image" Target="/ppt/media/image2.png" Id="Rb85453c18f094a1c" /><Relationship Type="http://schemas.openxmlformats.org/officeDocument/2006/relationships/notesSlide" Target="/ppt/notesSlides/notesSlide25.xml" Id="R717badf5fc2c44fd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092da654bd434af6" /><Relationship Type="http://schemas.openxmlformats.org/officeDocument/2006/relationships/image" Target="/ppt/media/image3.png" Id="R355d69b823ed4d41" /><Relationship Type="http://schemas.openxmlformats.org/officeDocument/2006/relationships/notesSlide" Target="/ppt/notesSlides/notesSlide26.xml" Id="R276cbfe5519d432e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54d1e05c76ed4a46" /><Relationship Type="http://schemas.openxmlformats.org/officeDocument/2006/relationships/image" Target="/ppt/media/image3.png" Id="Rbfd0fa18c91b4445" /><Relationship Type="http://schemas.openxmlformats.org/officeDocument/2006/relationships/notesSlide" Target="/ppt/notesSlides/notesSlide27.xml" Id="R58694aef20d44627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3e29d2958a704645" /><Relationship Type="http://schemas.openxmlformats.org/officeDocument/2006/relationships/image" Target="/ppt/media/image3.png" Id="Raf8a2a87f1e54e29" /><Relationship Type="http://schemas.openxmlformats.org/officeDocument/2006/relationships/notesSlide" Target="/ppt/notesSlides/notesSlide28.xml" Id="Re677d55e8d6646bf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a230e988f6e0423c" /><Relationship Type="http://schemas.openxmlformats.org/officeDocument/2006/relationships/image" Target="/ppt/media/image2.png" Id="R8ece48a243c448cc" /><Relationship Type="http://schemas.openxmlformats.org/officeDocument/2006/relationships/notesSlide" Target="/ppt/notesSlides/notesSlide29.xml" Id="R7211036906754e11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图片 3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60ee455e6d54f6e"/>
          <a:srcRect xmlns:a="http://schemas.openxmlformats.org/drawingml/2006/main" l="49938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1" y="-2407"/>
            <a:ext cx="6103614" cy="6860407"/>
          </a:xfrm>
          <a:prstGeom xmlns:a="http://schemas.openxmlformats.org/drawingml/2006/main" prst="rect">
            <a:avLst/>
          </a:prstGeom>
        </p:spPr>
      </p:pic>
      <p:sp>
        <p:nvSpPr>
          <p:cNvPr id="31" name="直角三角形 30">
            <a:extLst xmlns:a="http://schemas.openxmlformats.org/drawingml/2006/main">
              <a:ext uri="{FF2B5EF4-FFF2-40B4-BE49-F238E27FC236}">
                <a16:creationId xmlns:a16="http://schemas.microsoft.com/office/drawing/2014/main" id="{FBDC6FBC-5B15-4B27-993E-4AF8EAC8B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439426"/>
            <a:ext cx="2129742" cy="3418574"/>
          </a:xfrm>
          <a:prstGeom xmlns:a="http://schemas.openxmlformats.org/drawingml/2006/main" prst="rtTriangle">
            <a:avLst/>
          </a:prstGeom>
          <a:solidFill xmlns:a="http://schemas.openxmlformats.org/drawingml/2006/main">
            <a:srgbClr val="6D9FE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0" name="直角三角形 29">
            <a:extLst xmlns:a="http://schemas.openxmlformats.org/drawingml/2006/main">
              <a:ext uri="{FF2B5EF4-FFF2-40B4-BE49-F238E27FC236}">
                <a16:creationId xmlns:a16="http://schemas.microsoft.com/office/drawing/2014/main" id="{20110538-D038-431A-B0C4-CECA9F1BE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900668"/>
            <a:ext cx="1842392" cy="2957332"/>
          </a:xfrm>
          <a:prstGeom xmlns:a="http://schemas.openxmlformats.org/drawingml/2006/main" prst="rt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5" name="直角三角形 34">
            <a:extLst xmlns:a="http://schemas.openxmlformats.org/drawingml/2006/main">
              <a:ext uri="{FF2B5EF4-FFF2-40B4-BE49-F238E27FC236}">
                <a16:creationId xmlns:a16="http://schemas.microsoft.com/office/drawing/2014/main" id="{277EC6E2-AA3C-42BF-B054-90ABA1A86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69783" y="-69784"/>
            <a:ext cx="1384433" cy="1524000"/>
          </a:xfrm>
          <a:prstGeom xmlns:a="http://schemas.openxmlformats.org/drawingml/2006/main" prst="rt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3" name="任意多边形: 形状 42">
            <a:extLst xmlns:a="http://schemas.openxmlformats.org/drawingml/2006/main">
              <a:ext uri="{FF2B5EF4-FFF2-40B4-BE49-F238E27FC236}">
                <a16:creationId xmlns:a16="http://schemas.microsoft.com/office/drawing/2014/main" id="{23212421-3CB9-4A6F-B6C5-B3393AE26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3927971" y="-8678"/>
            <a:ext cx="1012807" cy="2939977"/>
          </a:xfrm>
          <a:custGeom xmlns:a="http://schemas.openxmlformats.org/drawingml/2006/main">
            <a:rect l="l" t="t" r="r" b="b"/>
            <a:pathLst>
              <a:path w="1012807" h="2939977">
                <a:moveTo>
                  <a:pt x="1012807" y="0"/>
                </a:moveTo>
                <a:lnTo>
                  <a:pt x="930817" y="0"/>
                </a:lnTo>
                <a:lnTo>
                  <a:pt x="0" y="2939977"/>
                </a:lnTo>
                <a:lnTo>
                  <a:pt x="81990" y="2939977"/>
                </a:lnTo>
                <a:close/>
              </a:path>
            </a:pathLst>
          </a:custGeom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直角三角形 7">
            <a:extLst xmlns:a="http://schemas.openxmlformats.org/drawingml/2006/main">
              <a:ext uri="{FF2B5EF4-FFF2-40B4-BE49-F238E27FC236}">
                <a16:creationId xmlns:a16="http://schemas.microsoft.com/office/drawing/2014/main" id="{D8BFF7DE-2B79-4692-BE2E-B1CBA969A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1">
            <a:off x="10062258" y="-2407"/>
            <a:ext cx="2129742" cy="3418574"/>
          </a:xfrm>
          <a:prstGeom xmlns:a="http://schemas.openxmlformats.org/drawingml/2006/main" prst="rtTriangle">
            <a:avLst/>
          </a:prstGeom>
          <a:solidFill xmlns:a="http://schemas.openxmlformats.org/drawingml/2006/main">
            <a:srgbClr val="6D9FE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直角三角形 8">
            <a:extLst xmlns:a="http://schemas.openxmlformats.org/drawingml/2006/main">
              <a:ext uri="{FF2B5EF4-FFF2-40B4-BE49-F238E27FC236}">
                <a16:creationId xmlns:a16="http://schemas.microsoft.com/office/drawing/2014/main" id="{B9D108E0-DBE7-42E5-9538-1E6F13430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1">
            <a:off x="10349608" y="-8678"/>
            <a:ext cx="1842392" cy="2957332"/>
          </a:xfrm>
          <a:prstGeom xmlns:a="http://schemas.openxmlformats.org/drawingml/2006/main" prst="rt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文本框 3">
            <a:extLst xmlns:a="http://schemas.openxmlformats.org/drawingml/2006/main">
              <a:ext uri="{FF2B5EF4-FFF2-40B4-BE49-F238E27FC236}">
                <a16:creationId xmlns:a16="http://schemas.microsoft.com/office/drawing/2014/main" id="{D6EEEC42-9EA5-455A-A84E-6278B55AD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663" y="2107887"/>
            <a:ext cx="7966365" cy="132343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4000" b="1">
                <a:solidFill>
                  <a:schemeClr val="accent1">
                    <a:lumMod val="75000"/>
                  </a:schemeClr>
                </a:solidFill>
                <a:latin typeface="Times New Roman"/>
                <a:ea typeface="Times New Roman"/>
                <a:cs typeface="Times New Roman"/>
              </a:rPr>
              <a:t>基于大模型的测试场景生成</a:t>
            </a:r>
          </a:p>
          <a:p xmlns:a="http://schemas.openxmlformats.org/drawingml/2006/main">
            <a:pPr algn="r">
              <a:buNone/>
            </a:pPr>
            <a:r>
              <a:rPr sz="4000" b="1">
                <a:solidFill>
                  <a:schemeClr val="accent1">
                    <a:lumMod val="75000"/>
                  </a:schemeClr>
                </a:solidFill>
                <a:latin typeface="Times New Roman"/>
                <a:ea typeface="Times New Roman"/>
                <a:cs typeface="Times New Roman"/>
              </a:rPr>
              <a:t>与自主 Web 测试智能体</a:t>
            </a:r>
          </a:p>
        </p:txBody>
      </p:sp>
      <p:sp>
        <p:nvSpPr>
          <p:cNvPr id="6" name="直接连接符 5">
            <a:extLst xmlns:a="http://schemas.openxmlformats.org/drawingml/2006/main">
              <a:ext uri="{FF2B5EF4-FFF2-40B4-BE49-F238E27FC236}">
                <a16:creationId xmlns:a16="http://schemas.microsoft.com/office/drawing/2014/main" id="{F36C15F6-4A95-4F0F-A80F-A850FB658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7983" y="3538910"/>
            <a:ext cx="6042821" cy="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174994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0" name="文本框 9">
            <a:extLst xmlns:a="http://schemas.openxmlformats.org/drawingml/2006/main">
              <a:ext uri="{FF2B5EF4-FFF2-40B4-BE49-F238E27FC236}">
                <a16:creationId xmlns:a16="http://schemas.microsoft.com/office/drawing/2014/main" id="{17DBEDCC-1672-4670-8F72-9D9E15866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9596" y="3624437"/>
            <a:ext cx="4967368" cy="645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LLM-driven Test Scenario Generation &amp; Autonomous Web Testing Agent</a:t>
            </a:r>
          </a:p>
        </p:txBody>
      </p:sp>
      <p:sp>
        <p:nvSpPr>
          <p:cNvPr id="21" name="文本框 20">
            <a:extLst xmlns:a="http://schemas.openxmlformats.org/drawingml/2006/main">
              <a:ext uri="{FF2B5EF4-FFF2-40B4-BE49-F238E27FC236}">
                <a16:creationId xmlns:a16="http://schemas.microsoft.com/office/drawing/2014/main" id="{67BF95EB-F667-4E5B-A28F-E2ED49069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61587" y="4567221"/>
            <a:ext cx="1454244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小组：第</a:t>
            </a: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7</a:t>
            </a: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组</a:t>
            </a:r>
          </a:p>
        </p:txBody>
      </p:sp>
      <p:sp>
        <p:nvSpPr>
          <p:cNvPr id="29" name="矩形 28">
            <a:extLst xmlns:a="http://schemas.openxmlformats.org/drawingml/2006/main">
              <a:ext uri="{FF2B5EF4-FFF2-40B4-BE49-F238E27FC236}">
                <a16:creationId xmlns:a16="http://schemas.microsoft.com/office/drawing/2014/main" id="{AF1E8716-F2BA-4FBE-B4A1-ADD1598CE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9444" y="5234176"/>
            <a:ext cx="2191584" cy="46713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2" name="文本框 31">
            <a:extLst xmlns:a="http://schemas.openxmlformats.org/drawingml/2006/main">
              <a:ext uri="{FF2B5EF4-FFF2-40B4-BE49-F238E27FC236}">
                <a16:creationId xmlns:a16="http://schemas.microsoft.com/office/drawing/2014/main" id="{E7F860F4-B985-41EB-952D-80AA44360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61587" y="5283080"/>
            <a:ext cx="1685077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汇报人：第</a:t>
            </a: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7</a:t>
            </a: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组</a:t>
            </a:r>
          </a:p>
        </p:txBody>
      </p:sp>
      <p:sp>
        <p:nvSpPr>
          <p:cNvPr id="34" name="文本框 33">
            <a:extLst xmlns:a="http://schemas.openxmlformats.org/drawingml/2006/main">
              <a:ext uri="{FF2B5EF4-FFF2-40B4-BE49-F238E27FC236}">
                <a16:creationId xmlns:a16="http://schemas.microsoft.com/office/drawing/2014/main" id="{E8BC879B-757F-4BAD-BFCA-40E899F42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0073" y="6147784"/>
            <a:ext cx="1518364" cy="33855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600"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2026年5月26日</a:t>
            </a:r>
          </a:p>
        </p:txBody>
      </p:sp>
      <p:pic>
        <p:nvPicPr>
          <p:cNvPr id="53" name="图片 3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81db027e4ce435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695036" y="153223"/>
            <a:ext cx="2554357" cy="538993"/>
          </a:xfrm>
          <a:prstGeom xmlns:a="http://schemas.openxmlformats.org/drawingml/2006/main" prst="rect">
            <a:avLst/>
          </a:prstGeom>
        </p:spPr>
      </p:pic>
      <p:sp>
        <p:nvSpPr>
          <p:cNvPr id="20" name="任意多边形: 形状 19">
            <a:extLst xmlns:a="http://schemas.openxmlformats.org/drawingml/2006/main">
              <a:ext uri="{FF2B5EF4-FFF2-40B4-BE49-F238E27FC236}">
                <a16:creationId xmlns:a16="http://schemas.microsoft.com/office/drawing/2014/main" id="{51BCB211-765B-4881-ABBA-67F77D321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5319846" y="4401599"/>
            <a:ext cx="1112045" cy="2456401"/>
          </a:xfrm>
          <a:custGeom xmlns:a="http://schemas.openxmlformats.org/drawingml/2006/main">
            <a:rect l="l" t="t" r="r" b="b"/>
            <a:pathLst>
              <a:path w="1751" h="3868">
                <a:moveTo>
                  <a:pt x="1222" y="0"/>
                </a:moveTo>
                <a:lnTo>
                  <a:pt x="1751" y="0"/>
                </a:lnTo>
                <a:lnTo>
                  <a:pt x="527" y="3868"/>
                </a:lnTo>
                <a:lnTo>
                  <a:pt x="0" y="3868"/>
                </a:lnTo>
                <a:lnTo>
                  <a:pt x="1222" y="10"/>
                </a:lnTo>
                <a:lnTo>
                  <a:pt x="1219" y="10"/>
                </a:lnTo>
                <a:lnTo>
                  <a:pt x="1222" y="0"/>
                </a:lnTo>
                <a:close/>
              </a:path>
            </a:pathLst>
          </a:custGeom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</p:spTree>
    <p:extLst>
      <p:ext uri="{BB962C8B-B14F-4D97-AF65-F5344CB8AC3E}">
        <p14:creationId xmlns:p14="http://schemas.microsoft.com/office/powerpoint/2010/main" val="1079857689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流程图: 可选过程 25">
            <a:extLst xmlns:a="http://schemas.openxmlformats.org/drawingml/2006/main">
              <a:ext uri="{FF2B5EF4-FFF2-40B4-BE49-F238E27FC236}">
                <a16:creationId xmlns:a16="http://schemas.microsoft.com/office/drawing/2014/main" id="{E6FCCC0D-E720-45DE-904B-A797E02E1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7975" y="1232204"/>
            <a:ext cx="3804920" cy="637540"/>
          </a:xfrm>
          <a:prstGeom xmlns:a="http://schemas.openxmlformats.org/drawingml/2006/main" prst="flowChartAlternateProcess">
            <a:avLst/>
          </a:prstGeom>
          <a:solidFill xmlns:a="http://schemas.openxmlformats.org/drawingml/2006/main">
            <a:schemeClr val="bg1">
              <a:lumMod val="95000"/>
            </a:schemeClr>
          </a:solidFill>
          <a:ln xmlns:a="http://schemas.openxmlformats.org/drawingml/2006/main">
            <a:noFill/>
          </a:ln>
          <a:effectLst xmlns:a="http://schemas.openxmlformats.org/drawingml/2006/main">
            <a:outerShdw blurRad="228600" dist="38100" dir="2700000" algn="tl" rotWithShape="0">
              <a:prstClr val="black">
                <a:alpha val="40000"/>
              </a:prst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vert="horz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5" name="椭圆 14">
            <a:extLst xmlns:a="http://schemas.openxmlformats.org/drawingml/2006/main">
              <a:ext uri="{FF2B5EF4-FFF2-40B4-BE49-F238E27FC236}">
                <a16:creationId xmlns:a16="http://schemas.microsoft.com/office/drawing/2014/main" id="{43035C86-4A89-4F83-B8CF-C0BF38ADE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8650" y="1968500"/>
            <a:ext cx="3240000" cy="3240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A418D"/>
          </a:solidFill>
          <a:ln xmlns:a="http://schemas.openxmlformats.org/drawingml/2006/main">
            <a:solidFill>
              <a:srgbClr val="0A418D"/>
            </a:solidFill>
          </a:ln>
          <a:effectLst xmlns:a="http://schemas.openxmlformats.org/drawingml/2006/main">
            <a:outerShdw blurRad="228600" dist="38100" dir="2700000" algn="tl" rotWithShape="0">
              <a:prstClr val="black">
                <a:alpha val="40000"/>
              </a:prst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" name="文本框 12">
            <a:extLst xmlns:a="http://schemas.openxmlformats.org/drawingml/2006/main">
              <a:ext uri="{FF2B5EF4-FFF2-40B4-BE49-F238E27FC236}">
                <a16:creationId xmlns:a16="http://schemas.microsoft.com/office/drawing/2014/main" id="{DEAA8B84-074A-4B66-AA69-4611251F5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4610" y="3127375"/>
            <a:ext cx="1790065" cy="9220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rPr sz="5400" b="1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目录</a:t>
            </a:r>
          </a:p>
        </p:txBody>
      </p:sp>
      <p:sp>
        <p:nvSpPr>
          <p:cNvPr id="16" name="文本框 15">
            <a:extLst xmlns:a="http://schemas.openxmlformats.org/drawingml/2006/main">
              <a:ext uri="{FF2B5EF4-FFF2-40B4-BE49-F238E27FC236}">
                <a16:creationId xmlns:a16="http://schemas.microsoft.com/office/drawing/2014/main" id="{19F6F6DE-D3F1-42A9-AD32-449FC43C3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98410" y="1295704"/>
            <a:ext cx="2748915" cy="52197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rPr sz="2800" b="1">
                <a:solidFill>
                  <a:srgbClr val="0A418D"/>
                </a:solidFill>
                <a:latin typeface="微软雅黑"/>
                <a:ea typeface="微软雅黑"/>
                <a:cs typeface="微软雅黑"/>
              </a:rPr>
              <a:t>研究背景及意义</a:t>
            </a:r>
          </a:p>
        </p:txBody>
      </p:sp>
      <p:sp>
        <p:nvSpPr>
          <p:cNvPr id="27" name="椭圆 26">
            <a:extLst xmlns:a="http://schemas.openxmlformats.org/drawingml/2006/main">
              <a:ext uri="{FF2B5EF4-FFF2-40B4-BE49-F238E27FC236}">
                <a16:creationId xmlns:a16="http://schemas.microsoft.com/office/drawing/2014/main" id="{F450EE56-BD1B-43EC-B44E-773F2AEB3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9580" y="1299514"/>
            <a:ext cx="504000" cy="504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A418D"/>
          </a:solidFill>
          <a:ln xmlns:a="http://schemas.openxmlformats.org/drawingml/2006/main">
            <a:solidFill>
              <a:srgbClr val="0A418D"/>
            </a:solidFill>
          </a:ln>
          <a:effectLst xmlns:a="http://schemas.openxmlformats.org/drawingml/2006/main">
            <a:outerShdw blurRad="228600" dist="38100" dir="2700000" algn="tl" rotWithShape="0">
              <a:prstClr val="black">
                <a:alpha val="40000"/>
              </a:prst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vert="horz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8" name="文本框 27">
            <a:extLst xmlns:a="http://schemas.openxmlformats.org/drawingml/2006/main">
              <a:ext uri="{FF2B5EF4-FFF2-40B4-BE49-F238E27FC236}">
                <a16:creationId xmlns:a16="http://schemas.microsoft.com/office/drawing/2014/main" id="{ABE0A2E6-89EE-4219-9AC1-1CF69F151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1485" y="1325549"/>
            <a:ext cx="580390" cy="4603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 b="1">
                <a:solidFill>
                  <a:schemeClr val="bg1"/>
                </a:solidFill>
              </a:rPr>
              <a:t>01</a:t>
            </a:r>
          </a:p>
        </p:txBody>
      </p:sp>
      <p:sp>
        <p:nvSpPr>
          <p:cNvPr id="29" name="流程图: 可选过程 28">
            <a:extLst xmlns:a="http://schemas.openxmlformats.org/drawingml/2006/main">
              <a:ext uri="{FF2B5EF4-FFF2-40B4-BE49-F238E27FC236}">
                <a16:creationId xmlns:a16="http://schemas.microsoft.com/office/drawing/2014/main" id="{45259BEA-6F2B-4D4D-9330-BBAF6BCB8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7975" y="2187879"/>
            <a:ext cx="3804920" cy="637540"/>
          </a:xfrm>
          <a:prstGeom xmlns:a="http://schemas.openxmlformats.org/drawingml/2006/main" prst="flowChartAlternateProcess">
            <a:avLst/>
          </a:prstGeom>
          <a:solidFill xmlns:a="http://schemas.openxmlformats.org/drawingml/2006/main">
            <a:schemeClr val="bg1">
              <a:lumMod val="95000"/>
            </a:schemeClr>
          </a:solidFill>
          <a:ln xmlns:a="http://schemas.openxmlformats.org/drawingml/2006/main">
            <a:noFill/>
          </a:ln>
          <a:effectLst xmlns:a="http://schemas.openxmlformats.org/drawingml/2006/main">
            <a:outerShdw blurRad="228600" dist="38100" dir="2700000" algn="tl" rotWithShape="0">
              <a:prstClr val="black">
                <a:alpha val="40000"/>
              </a:prst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vert="horz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0" name="文本框 29">
            <a:extLst xmlns:a="http://schemas.openxmlformats.org/drawingml/2006/main">
              <a:ext uri="{FF2B5EF4-FFF2-40B4-BE49-F238E27FC236}">
                <a16:creationId xmlns:a16="http://schemas.microsoft.com/office/drawing/2014/main" id="{1A4E0E0A-36C9-40E9-B29A-996C8C2C8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98410" y="2251379"/>
            <a:ext cx="2694940" cy="5232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rPr sz="2800" b="1">
                <a:solidFill>
                  <a:srgbClr val="0A418D"/>
                </a:solidFill>
                <a:latin typeface="微软雅黑"/>
                <a:ea typeface="微软雅黑"/>
                <a:cs typeface="微软雅黑"/>
              </a:rPr>
              <a:t>研究目标与方案</a:t>
            </a:r>
          </a:p>
        </p:txBody>
      </p:sp>
      <p:sp>
        <p:nvSpPr>
          <p:cNvPr id="31" name="椭圆 30">
            <a:extLst xmlns:a="http://schemas.openxmlformats.org/drawingml/2006/main">
              <a:ext uri="{FF2B5EF4-FFF2-40B4-BE49-F238E27FC236}">
                <a16:creationId xmlns:a16="http://schemas.microsoft.com/office/drawing/2014/main" id="{A3003164-CE5B-40C6-8807-85A8E7B8D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9580" y="2255189"/>
            <a:ext cx="504000" cy="504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A418D"/>
          </a:solidFill>
          <a:ln xmlns:a="http://schemas.openxmlformats.org/drawingml/2006/main">
            <a:solidFill>
              <a:srgbClr val="0A418D"/>
            </a:solidFill>
          </a:ln>
          <a:effectLst xmlns:a="http://schemas.openxmlformats.org/drawingml/2006/main">
            <a:outerShdw blurRad="228600" dist="38100" dir="2700000" algn="tl" rotWithShape="0">
              <a:prstClr val="black">
                <a:alpha val="40000"/>
              </a:prst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vert="horz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2" name="文本框 31">
            <a:extLst xmlns:a="http://schemas.openxmlformats.org/drawingml/2006/main">
              <a:ext uri="{FF2B5EF4-FFF2-40B4-BE49-F238E27FC236}">
                <a16:creationId xmlns:a16="http://schemas.microsoft.com/office/drawing/2014/main" id="{B21867E7-A5A1-40D8-80D6-E8B193E23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1485" y="2281224"/>
            <a:ext cx="580390" cy="4603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 b="1">
                <a:solidFill>
                  <a:schemeClr val="bg1"/>
                </a:solidFill>
              </a:rPr>
              <a:t>02</a:t>
            </a:r>
          </a:p>
        </p:txBody>
      </p:sp>
      <p:sp>
        <p:nvSpPr>
          <p:cNvPr id="33" name="流程图: 可选过程 32">
            <a:extLst xmlns:a="http://schemas.openxmlformats.org/drawingml/2006/main">
              <a:ext uri="{FF2B5EF4-FFF2-40B4-BE49-F238E27FC236}">
                <a16:creationId xmlns:a16="http://schemas.microsoft.com/office/drawing/2014/main" id="{CB40E0FD-5F44-4828-99E9-C97F418BF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7975" y="3141649"/>
            <a:ext cx="3805555" cy="637540"/>
          </a:xfrm>
          <a:prstGeom xmlns:a="http://schemas.openxmlformats.org/drawingml/2006/main" prst="flowChartAlternateProcess">
            <a:avLst/>
          </a:prstGeom>
          <a:solidFill xmlns:a="http://schemas.openxmlformats.org/drawingml/2006/main">
            <a:schemeClr val="bg1">
              <a:lumMod val="95000"/>
            </a:schemeClr>
          </a:solidFill>
          <a:ln xmlns:a="http://schemas.openxmlformats.org/drawingml/2006/main">
            <a:noFill/>
          </a:ln>
          <a:effectLst xmlns:a="http://schemas.openxmlformats.org/drawingml/2006/main">
            <a:outerShdw blurRad="228600" dist="38100" dir="2700000" algn="tl" rotWithShape="0">
              <a:prstClr val="black">
                <a:alpha val="40000"/>
              </a:prst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vert="horz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4" name="文本框 33">
            <a:extLst xmlns:a="http://schemas.openxmlformats.org/drawingml/2006/main">
              <a:ext uri="{FF2B5EF4-FFF2-40B4-BE49-F238E27FC236}">
                <a16:creationId xmlns:a16="http://schemas.microsoft.com/office/drawing/2014/main" id="{E1E9B471-47C2-43BD-A24D-016D17628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98410" y="3205149"/>
            <a:ext cx="2694940" cy="5232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rPr sz="2800" b="1">
                <a:solidFill>
                  <a:srgbClr val="0A418D"/>
                </a:solidFill>
                <a:latin typeface="微软雅黑"/>
                <a:ea typeface="微软雅黑"/>
                <a:cs typeface="微软雅黑"/>
              </a:rPr>
              <a:t>研究框架介绍</a:t>
            </a:r>
          </a:p>
        </p:txBody>
      </p:sp>
      <p:sp>
        <p:nvSpPr>
          <p:cNvPr id="35" name="椭圆 34">
            <a:extLst xmlns:a="http://schemas.openxmlformats.org/drawingml/2006/main">
              <a:ext uri="{FF2B5EF4-FFF2-40B4-BE49-F238E27FC236}">
                <a16:creationId xmlns:a16="http://schemas.microsoft.com/office/drawing/2014/main" id="{B17F5E05-D170-44B6-BA4E-7A3862E06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9580" y="3208959"/>
            <a:ext cx="504000" cy="504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A418D"/>
          </a:solidFill>
          <a:ln xmlns:a="http://schemas.openxmlformats.org/drawingml/2006/main">
            <a:solidFill>
              <a:srgbClr val="0A418D"/>
            </a:solidFill>
          </a:ln>
          <a:effectLst xmlns:a="http://schemas.openxmlformats.org/drawingml/2006/main">
            <a:outerShdw blurRad="228600" dist="38100" dir="2700000" algn="tl" rotWithShape="0">
              <a:prstClr val="black">
                <a:alpha val="40000"/>
              </a:prst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vert="horz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6" name="文本框 35">
            <a:extLst xmlns:a="http://schemas.openxmlformats.org/drawingml/2006/main">
              <a:ext uri="{FF2B5EF4-FFF2-40B4-BE49-F238E27FC236}">
                <a16:creationId xmlns:a16="http://schemas.microsoft.com/office/drawing/2014/main" id="{4B07CFF6-85BC-461F-9B11-2FBFDAEFC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1485" y="3234994"/>
            <a:ext cx="580390" cy="4603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 b="1">
                <a:solidFill>
                  <a:schemeClr val="bg1"/>
                </a:solidFill>
              </a:rPr>
              <a:t>03</a:t>
            </a:r>
          </a:p>
        </p:txBody>
      </p:sp>
      <p:sp>
        <p:nvSpPr>
          <p:cNvPr id="37" name="流程图: 可选过程 36">
            <a:extLst xmlns:a="http://schemas.openxmlformats.org/drawingml/2006/main">
              <a:ext uri="{FF2B5EF4-FFF2-40B4-BE49-F238E27FC236}">
                <a16:creationId xmlns:a16="http://schemas.microsoft.com/office/drawing/2014/main" id="{081AC40C-2817-4E08-B5EF-F2B7F54A1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7975" y="4092244"/>
            <a:ext cx="3806190" cy="637540"/>
          </a:xfrm>
          <a:prstGeom xmlns:a="http://schemas.openxmlformats.org/drawingml/2006/main" prst="flowChartAlternateProcess">
            <a:avLst/>
          </a:prstGeom>
          <a:solidFill xmlns:a="http://schemas.openxmlformats.org/drawingml/2006/main">
            <a:schemeClr val="bg1">
              <a:lumMod val="95000"/>
            </a:schemeClr>
          </a:solidFill>
          <a:ln xmlns:a="http://schemas.openxmlformats.org/drawingml/2006/main">
            <a:noFill/>
          </a:ln>
          <a:effectLst xmlns:a="http://schemas.openxmlformats.org/drawingml/2006/main">
            <a:outerShdw blurRad="228600" dist="38100" dir="2700000" algn="tl" rotWithShape="0">
              <a:prstClr val="black">
                <a:alpha val="40000"/>
              </a:prst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vert="horz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8" name="文本框 37">
            <a:extLst xmlns:a="http://schemas.openxmlformats.org/drawingml/2006/main">
              <a:ext uri="{FF2B5EF4-FFF2-40B4-BE49-F238E27FC236}">
                <a16:creationId xmlns:a16="http://schemas.microsoft.com/office/drawing/2014/main" id="{5EBAD52D-FFE9-492C-BFA2-DDF59264C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98410" y="4155744"/>
            <a:ext cx="2748280" cy="52197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rPr sz="2800" b="1">
                <a:solidFill>
                  <a:srgbClr val="0A418D"/>
                </a:solidFill>
                <a:latin typeface="微软雅黑"/>
                <a:ea typeface="微软雅黑"/>
                <a:cs typeface="微软雅黑"/>
              </a:rPr>
              <a:t>研究进度安排</a:t>
            </a:r>
          </a:p>
        </p:txBody>
      </p:sp>
      <p:sp>
        <p:nvSpPr>
          <p:cNvPr id="39" name="椭圆 38">
            <a:extLst xmlns:a="http://schemas.openxmlformats.org/drawingml/2006/main">
              <a:ext uri="{FF2B5EF4-FFF2-40B4-BE49-F238E27FC236}">
                <a16:creationId xmlns:a16="http://schemas.microsoft.com/office/drawing/2014/main" id="{2F1E23AB-3E3F-4A6D-B85B-9BAE3719D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9580" y="4159554"/>
            <a:ext cx="504000" cy="504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A418D"/>
          </a:solidFill>
          <a:ln xmlns:a="http://schemas.openxmlformats.org/drawingml/2006/main">
            <a:solidFill>
              <a:srgbClr val="0A418D"/>
            </a:solidFill>
          </a:ln>
          <a:effectLst xmlns:a="http://schemas.openxmlformats.org/drawingml/2006/main">
            <a:outerShdw blurRad="228600" dist="38100" dir="2700000" algn="tl" rotWithShape="0">
              <a:prstClr val="black">
                <a:alpha val="40000"/>
              </a:prst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vert="horz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0" name="文本框 39">
            <a:extLst xmlns:a="http://schemas.openxmlformats.org/drawingml/2006/main">
              <a:ext uri="{FF2B5EF4-FFF2-40B4-BE49-F238E27FC236}">
                <a16:creationId xmlns:a16="http://schemas.microsoft.com/office/drawing/2014/main" id="{9042C2BE-59F2-4025-80AB-3D48CC256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1485" y="4185589"/>
            <a:ext cx="580390" cy="4603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 b="1">
                <a:solidFill>
                  <a:schemeClr val="bg1"/>
                </a:solidFill>
              </a:rPr>
              <a:t>04</a:t>
            </a:r>
          </a:p>
        </p:txBody>
      </p:sp>
      <p:sp>
        <p:nvSpPr>
          <p:cNvPr id="41" name="流程图: 可选过程 40">
            <a:extLst xmlns:a="http://schemas.openxmlformats.org/drawingml/2006/main">
              <a:ext uri="{FF2B5EF4-FFF2-40B4-BE49-F238E27FC236}">
                <a16:creationId xmlns:a16="http://schemas.microsoft.com/office/drawing/2014/main" id="{CFCBD5CC-0295-49A8-BC85-56198CF5D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7975" y="5048554"/>
            <a:ext cx="3804920" cy="637540"/>
          </a:xfrm>
          <a:prstGeom xmlns:a="http://schemas.openxmlformats.org/drawingml/2006/main" prst="flowChartAlternateProcess">
            <a:avLst/>
          </a:prstGeom>
          <a:solidFill xmlns:a="http://schemas.openxmlformats.org/drawingml/2006/main">
            <a:schemeClr val="bg1">
              <a:lumMod val="95000"/>
            </a:schemeClr>
          </a:solidFill>
          <a:ln xmlns:a="http://schemas.openxmlformats.org/drawingml/2006/main">
            <a:noFill/>
          </a:ln>
          <a:effectLst xmlns:a="http://schemas.openxmlformats.org/drawingml/2006/main">
            <a:outerShdw blurRad="228600" dist="38100" dir="2700000" algn="tl" rotWithShape="0">
              <a:prstClr val="black">
                <a:alpha val="40000"/>
              </a:prst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vert="horz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2" name="文本框 41">
            <a:extLst xmlns:a="http://schemas.openxmlformats.org/drawingml/2006/main">
              <a:ext uri="{FF2B5EF4-FFF2-40B4-BE49-F238E27FC236}">
                <a16:creationId xmlns:a16="http://schemas.microsoft.com/office/drawing/2014/main" id="{34785A9E-51FF-4CF5-91C8-2ACF997A9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98410" y="5112054"/>
            <a:ext cx="2125345" cy="5232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rPr sz="2800" b="1">
                <a:solidFill>
                  <a:srgbClr val="0A418D"/>
                </a:solidFill>
                <a:latin typeface="微软雅黑"/>
                <a:ea typeface="微软雅黑"/>
                <a:cs typeface="微软雅黑"/>
              </a:rPr>
              <a:t>小组分工</a:t>
            </a:r>
          </a:p>
        </p:txBody>
      </p:sp>
      <p:sp>
        <p:nvSpPr>
          <p:cNvPr id="43" name="椭圆 42">
            <a:extLst xmlns:a="http://schemas.openxmlformats.org/drawingml/2006/main">
              <a:ext uri="{FF2B5EF4-FFF2-40B4-BE49-F238E27FC236}">
                <a16:creationId xmlns:a16="http://schemas.microsoft.com/office/drawing/2014/main" id="{38F727AF-092B-45EA-851D-0572CD8C3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9580" y="5115864"/>
            <a:ext cx="504000" cy="504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A418D"/>
          </a:solidFill>
          <a:ln xmlns:a="http://schemas.openxmlformats.org/drawingml/2006/main">
            <a:solidFill>
              <a:srgbClr val="0A418D"/>
            </a:solidFill>
          </a:ln>
          <a:effectLst xmlns:a="http://schemas.openxmlformats.org/drawingml/2006/main">
            <a:outerShdw blurRad="228600" dist="38100" dir="2700000" algn="tl" rotWithShape="0">
              <a:prstClr val="black">
                <a:alpha val="40000"/>
              </a:prst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vert="horz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4" name="文本框 43">
            <a:extLst xmlns:a="http://schemas.openxmlformats.org/drawingml/2006/main">
              <a:ext uri="{FF2B5EF4-FFF2-40B4-BE49-F238E27FC236}">
                <a16:creationId xmlns:a16="http://schemas.microsoft.com/office/drawing/2014/main" id="{6980DEC6-7196-49C2-9CF3-FE339FE47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1485" y="5141899"/>
            <a:ext cx="580390" cy="4603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 b="1">
                <a:solidFill>
                  <a:schemeClr val="bg1"/>
                </a:solidFill>
              </a:rPr>
              <a:t>05</a:t>
            </a:r>
          </a:p>
        </p:txBody>
      </p:sp>
      <p:pic>
        <p:nvPicPr>
          <p:cNvPr id="48" name="图片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de12d9c15b04aa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31832" y="351944"/>
            <a:ext cx="3267572" cy="68948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5499599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直角三角形 4">
            <a:extLst xmlns:a="http://schemas.openxmlformats.org/drawingml/2006/main">
              <a:ext uri="{FF2B5EF4-FFF2-40B4-BE49-F238E27FC236}">
                <a16:creationId xmlns:a16="http://schemas.microsoft.com/office/drawing/2014/main" id="{2EEF5748-A1BE-45B4-843B-EA94B4B01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039139"/>
            <a:ext cx="1818861" cy="1818861"/>
          </a:xfrm>
          <a:prstGeom xmlns:a="http://schemas.openxmlformats.org/drawingml/2006/main" prst="rt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直角三角形 5">
            <a:extLst xmlns:a="http://schemas.openxmlformats.org/drawingml/2006/main">
              <a:ext uri="{FF2B5EF4-FFF2-40B4-BE49-F238E27FC236}">
                <a16:creationId xmlns:a16="http://schemas.microsoft.com/office/drawing/2014/main" id="{FB8BC298-0524-4D8D-8535-479387CEF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1">
            <a:off x="9786082" y="-1"/>
            <a:ext cx="2405917" cy="2405917"/>
          </a:xfrm>
          <a:prstGeom xmlns:a="http://schemas.openxmlformats.org/drawingml/2006/main" prst="rt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D268123A-7C8F-48FC-8B19-AD3F5270D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6592" y="1694838"/>
            <a:ext cx="1446530" cy="31534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9900" b="1">
                <a:solidFill>
                  <a:srgbClr val="174994">
                    <a:alpha val="38000"/>
                  </a:srgbClr>
                </a:solidFill>
                <a:latin typeface="Times New Roman"/>
                <a:ea typeface="Times New Roman"/>
                <a:cs typeface="Times New Roman"/>
              </a:rPr>
              <a:t>1</a:t>
            </a:r>
          </a:p>
        </p:txBody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E343A0A1-3CC0-4083-AB0C-CA694AADD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2229" y="2782669"/>
            <a:ext cx="3387725" cy="645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600" b="1">
                <a:latin typeface="Times New Roman"/>
                <a:ea typeface="Times New Roman"/>
                <a:cs typeface="Times New Roman"/>
              </a:rPr>
              <a:t>研究背景及意义</a:t>
            </a:r>
          </a:p>
        </p:txBody>
      </p:sp>
      <p:sp>
        <p:nvSpPr>
          <p:cNvPr id="10" name="文本框 9">
            <a:extLst xmlns:a="http://schemas.openxmlformats.org/drawingml/2006/main">
              <a:ext uri="{FF2B5EF4-FFF2-40B4-BE49-F238E27FC236}">
                <a16:creationId xmlns:a16="http://schemas.microsoft.com/office/drawing/2014/main" id="{B77E53CA-5C65-4106-A7AD-CAD404572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2505" y="3606757"/>
            <a:ext cx="2586990" cy="33718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600">
                <a:latin typeface="Times New Roman"/>
                <a:ea typeface="Times New Roman"/>
                <a:cs typeface="Times New Roman"/>
              </a:rPr>
              <a:t>Background and Significance</a:t>
            </a:r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0D9385D7-63EB-4B96-A059-21268544C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3476690" y="3512166"/>
            <a:ext cx="5238619" cy="4571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12" name="图片 1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293c7a3b7a648b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9513" y="78833"/>
            <a:ext cx="2554357" cy="538993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4271057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B74A6671-D989-4460-8AC1-77728FF7D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-1"/>
            <a:ext cx="12192000" cy="12037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3" name="矩形 32">
            <a:extLst xmlns:a="http://schemas.openxmlformats.org/drawingml/2006/main">
              <a:ext uri="{FF2B5EF4-FFF2-40B4-BE49-F238E27FC236}">
                <a16:creationId xmlns:a16="http://schemas.microsoft.com/office/drawing/2014/main" id="{B02C34EA-4DCD-4F53-9074-FD041DF59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038" y="0"/>
            <a:ext cx="2011817" cy="120376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文本框 7">
            <a:extLst xmlns:a="http://schemas.openxmlformats.org/drawingml/2006/main">
              <a:ext uri="{FF2B5EF4-FFF2-40B4-BE49-F238E27FC236}">
                <a16:creationId xmlns:a16="http://schemas.microsoft.com/office/drawing/2014/main" id="{1355836C-A950-4A2B-A32B-6363CFE89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7216"/>
            <a:ext cx="2316627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研究背景及意义</a:t>
            </a:r>
          </a:p>
        </p:txBody>
      </p:sp>
      <p:sp>
        <p:nvSpPr>
          <p:cNvPr id="12" name="文本框 11">
            <a:extLst xmlns:a="http://schemas.openxmlformats.org/drawingml/2006/main">
              <a:ext uri="{FF2B5EF4-FFF2-40B4-BE49-F238E27FC236}">
                <a16:creationId xmlns:a16="http://schemas.microsoft.com/office/drawing/2014/main" id="{27C7E32B-A3CF-4666-86A5-5657E6AEE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7873" y="417216"/>
            <a:ext cx="295465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研究目标与方案</a:t>
            </a:r>
          </a:p>
        </p:txBody>
      </p:sp>
      <p:sp>
        <p:nvSpPr>
          <p:cNvPr id="16" name="文本框 15">
            <a:extLst xmlns:a="http://schemas.openxmlformats.org/drawingml/2006/main">
              <a:ext uri="{FF2B5EF4-FFF2-40B4-BE49-F238E27FC236}">
                <a16:creationId xmlns:a16="http://schemas.microsoft.com/office/drawing/2014/main" id="{90BC898A-C73D-4520-9BBC-F05395EAA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373" y="427155"/>
            <a:ext cx="2954655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研究框架介绍</a:t>
            </a:r>
          </a:p>
        </p:txBody>
      </p:sp>
      <p:sp>
        <p:nvSpPr>
          <p:cNvPr id="20" name="文本框 19">
            <a:extLst xmlns:a="http://schemas.openxmlformats.org/drawingml/2006/main">
              <a:ext uri="{FF2B5EF4-FFF2-40B4-BE49-F238E27FC236}">
                <a16:creationId xmlns:a16="http://schemas.microsoft.com/office/drawing/2014/main" id="{023CB556-E9C7-4976-9AE4-BDE2D4ACA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0874" y="417215"/>
            <a:ext cx="2316628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研究进度安排</a:t>
            </a:r>
          </a:p>
        </p:txBody>
      </p:sp>
      <p:sp>
        <p:nvSpPr>
          <p:cNvPr id="24" name="文本框 23">
            <a:extLst xmlns:a="http://schemas.openxmlformats.org/drawingml/2006/main">
              <a:ext uri="{FF2B5EF4-FFF2-40B4-BE49-F238E27FC236}">
                <a16:creationId xmlns:a16="http://schemas.microsoft.com/office/drawing/2014/main" id="{3583B483-B7A7-4629-A9F7-9A868AA24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4348" y="427155"/>
            <a:ext cx="176368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小组分工</a:t>
            </a:r>
          </a:p>
        </p:txBody>
      </p:sp>
      <p:pic>
        <p:nvPicPr>
          <p:cNvPr id="39" name="图片 2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9919b78f4c64bf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5963" y="168319"/>
            <a:ext cx="867126" cy="867126"/>
          </a:xfrm>
          <a:prstGeom xmlns:a="http://schemas.openxmlformats.org/drawingml/2006/main" prst="rect">
            <a:avLst/>
          </a:prstGeom>
        </p:spPr>
      </p:pic>
      <p:sp>
        <p:nvSpPr>
          <p:cNvPr id="28" name="直接连接符 27">
            <a:extLst xmlns:a="http://schemas.openxmlformats.org/drawingml/2006/main">
              <a:ext uri="{FF2B5EF4-FFF2-40B4-BE49-F238E27FC236}">
                <a16:creationId xmlns:a16="http://schemas.microsoft.com/office/drawing/2014/main" id="{48D3EC0F-DB7B-48DD-A354-7069A9D87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6855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30" name="直接连接符 29">
            <a:extLst xmlns:a="http://schemas.openxmlformats.org/drawingml/2006/main">
              <a:ext uri="{FF2B5EF4-FFF2-40B4-BE49-F238E27FC236}">
                <a16:creationId xmlns:a16="http://schemas.microsoft.com/office/drawing/2014/main" id="{257E2E7D-C342-491F-B11E-F3D2A0D80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31" name="直接连接符 30">
            <a:extLst xmlns:a="http://schemas.openxmlformats.org/drawingml/2006/main">
              <a:ext uri="{FF2B5EF4-FFF2-40B4-BE49-F238E27FC236}">
                <a16:creationId xmlns:a16="http://schemas.microsoft.com/office/drawing/2014/main" id="{808C51AC-3886-4E1B-84C1-F3702CEEB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2774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32" name="直接连接符 31">
            <a:extLst xmlns:a="http://schemas.openxmlformats.org/drawingml/2006/main">
              <a:ext uri="{FF2B5EF4-FFF2-40B4-BE49-F238E27FC236}">
                <a16:creationId xmlns:a16="http://schemas.microsoft.com/office/drawing/2014/main" id="{C48649A8-C9B5-4E39-89C0-EA2B58A61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3068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34" name="等腰三角形 33">
            <a:extLst xmlns:a="http://schemas.openxmlformats.org/drawingml/2006/main">
              <a:ext uri="{FF2B5EF4-FFF2-40B4-BE49-F238E27FC236}">
                <a16:creationId xmlns:a16="http://schemas.microsoft.com/office/drawing/2014/main" id="{1CB34D15-A6F0-40AB-B46A-723E71B1E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0617" y="986817"/>
            <a:ext cx="664192" cy="213744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5" name="文本框 34">
            <a:extLst xmlns:a="http://schemas.openxmlformats.org/drawingml/2006/main">
              <a:ext uri="{FF2B5EF4-FFF2-40B4-BE49-F238E27FC236}">
                <a16:creationId xmlns:a16="http://schemas.microsoft.com/office/drawing/2014/main" id="{8C999504-BE27-4AB4-8610-1F5A39B81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507" y="1470061"/>
            <a:ext cx="2814320" cy="645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600"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1.1  研究背景</a:t>
            </a:r>
          </a:p>
        </p:txBody>
      </p:sp>
      <p:sp>
        <p:nvSpPr>
          <p:cNvPr id="47" name="矩形 46">
            <a:extLst xmlns:a="http://schemas.openxmlformats.org/drawingml/2006/main">
              <a:ext uri="{FF2B5EF4-FFF2-40B4-BE49-F238E27FC236}">
                <a16:creationId xmlns:a16="http://schemas.microsoft.com/office/drawing/2014/main" id="{BF70E048-6BEB-4AA8-9032-DA0789AD2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6759" y="6130925"/>
            <a:ext cx="508000" cy="50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solidFill>
              <a:srgbClr val="174994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lt1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795EBD2E-41E5-4C72-8FB7-86E47B53C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81250"/>
            <a:ext cx="3286125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6E2F3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E0D49249-185B-4FEA-A944-C6A0B9F02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81250"/>
            <a:ext cx="66675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4C9A"/>
          </a:solidFill>
          <a:ln xmlns:a="http://schemas.openxmlformats.org/drawingml/2006/main" w="0">
            <a:solidFill>
              <a:srgbClr val="0F4C9A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844E3FC1-DF5B-4B94-BA7E-CC6155B8B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24125"/>
            <a:ext cx="296227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4C9A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0F4C9A"/>
                </a:solidFill>
                <a:latin typeface="微软雅黑"/>
                <a:ea typeface="微软雅黑"/>
                <a:cs typeface="微软雅黑"/>
              </a:rPr>
              <a:t>真实 Web 流程复杂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67744CED-E915-4EF8-88EC-340D1F09F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838450"/>
            <a:ext cx="29622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页面动态、权限状态、弹窗与异步加载交织，传统脚本维护成本高。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DC19640D-0409-40E4-B583-81923B014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381250"/>
            <a:ext cx="3286125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6E2F3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DDF74D48-646A-4237-8787-EEB1A2F7C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381250"/>
            <a:ext cx="66675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B8D7"/>
          </a:solidFill>
          <a:ln xmlns:a="http://schemas.openxmlformats.org/drawingml/2006/main" w="0">
            <a:solidFill>
              <a:srgbClr val="11B8D7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2492015B-E0E9-42C5-9FEF-286C56FE3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2524125"/>
            <a:ext cx="296227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B8D7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11B8D7"/>
                </a:solidFill>
                <a:latin typeface="微软雅黑"/>
                <a:ea typeface="微软雅黑"/>
                <a:cs typeface="微软雅黑"/>
              </a:rPr>
              <a:t>LLM Agent 仍易失败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E72A51AE-1872-4F4D-B4EC-FA56E7E0D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2838450"/>
            <a:ext cx="29622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缺少待测系统领域知识时，容易输出与手册或 UI 不一致的操作。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9EB33797-5D8D-4028-95AA-A7F6C2D3D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381250"/>
            <a:ext cx="3286125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6E2F3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942405B1-EB13-4F39-82F2-59B99BC49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381250"/>
            <a:ext cx="66675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A6A6"/>
          </a:solidFill>
          <a:ln xmlns:a="http://schemas.openxmlformats.org/drawingml/2006/main" w="0">
            <a:solidFill>
              <a:srgbClr val="10A6A6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76F04964-C056-4C59-9B71-FD0A5F80E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524125"/>
            <a:ext cx="296227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A6A6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10A6A6"/>
                </a:solidFill>
                <a:latin typeface="微软雅黑"/>
                <a:ea typeface="微软雅黑"/>
                <a:cs typeface="微软雅黑"/>
              </a:rPr>
              <a:t>完成后难以判定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89C99DCA-5857-438C-89E4-268BE6B56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838450"/>
            <a:ext cx="29622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Agent 自报成功不等于功能正确，需要 Trace、截图和验证器复核。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55B457FA-A848-4CD7-A6F7-D3E6D2788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905250"/>
            <a:ext cx="10001250" cy="1095375"/>
          </a:xfrm>
          <a:prstGeom xmlns:a="http://schemas.openxmlformats.org/drawingml/2006/main" prst="roundRect">
            <a:avLst>
              <a:gd name="adj" fmla="val 6957"/>
            </a:avLst>
          </a:prstGeom>
          <a:solidFill xmlns:a="http://schemas.openxmlformats.org/drawingml/2006/main">
            <a:srgbClr val="F6FAFF"/>
          </a:solidFill>
          <a:ln xmlns:a="http://schemas.openxmlformats.org/drawingml/2006/main" w="12383">
            <a:solidFill>
              <a:srgbClr val="C9DAF0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AAB11F81-91A1-4DE8-BA89-155AB9236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248150"/>
            <a:ext cx="1143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F4C9A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1">
                <a:solidFill>
                  <a:srgbClr val="0F4C9A"/>
                </a:solidFill>
                <a:latin typeface="微软雅黑"/>
                <a:ea typeface="微软雅黑"/>
                <a:cs typeface="微软雅黑"/>
              </a:rPr>
              <a:t>核心问题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076B54C2-8F35-4AA4-81EC-B687B05B9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143375"/>
            <a:ext cx="7429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如何把 4ga Boards 手册中的功能描述，变成可执行、可验证、可追溯的 Web 测试任务？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4ABD58DF-4D03-48D4-8FF4-9755F63F6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4619625"/>
            <a:ext cx="7334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SpecPilot 的回答：手册证据约束生成，零 locator 保持意图表达，browser-use 自主执行，验证器给出可复查结论。</a:t>
            </a:r>
          </a:p>
        </p:txBody>
      </p:sp>
    </p:spTree>
    <p:extLst>
      <p:ext uri="{BB962C8B-B14F-4D97-AF65-F5344CB8AC3E}">
        <p14:creationId xmlns:p14="http://schemas.microsoft.com/office/powerpoint/2010/main" val="999033381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B74A6671-D989-4460-8AC1-77728FF7D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-1"/>
            <a:ext cx="12192000" cy="12037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3" name="矩形 32">
            <a:extLst xmlns:a="http://schemas.openxmlformats.org/drawingml/2006/main">
              <a:ext uri="{FF2B5EF4-FFF2-40B4-BE49-F238E27FC236}">
                <a16:creationId xmlns:a16="http://schemas.microsoft.com/office/drawing/2014/main" id="{B02C34EA-4DCD-4F53-9074-FD041DF59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038" y="0"/>
            <a:ext cx="2011817" cy="120376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文本框 7">
            <a:extLst xmlns:a="http://schemas.openxmlformats.org/drawingml/2006/main">
              <a:ext uri="{FF2B5EF4-FFF2-40B4-BE49-F238E27FC236}">
                <a16:creationId xmlns:a16="http://schemas.microsoft.com/office/drawing/2014/main" id="{1355836C-A950-4A2B-A32B-6363CFE89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7216"/>
            <a:ext cx="2316627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研究背景及意义</a:t>
            </a:r>
          </a:p>
        </p:txBody>
      </p:sp>
      <p:sp>
        <p:nvSpPr>
          <p:cNvPr id="12" name="文本框 11">
            <a:extLst xmlns:a="http://schemas.openxmlformats.org/drawingml/2006/main">
              <a:ext uri="{FF2B5EF4-FFF2-40B4-BE49-F238E27FC236}">
                <a16:creationId xmlns:a16="http://schemas.microsoft.com/office/drawing/2014/main" id="{27C7E32B-A3CF-4666-86A5-5657E6AEE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7873" y="417216"/>
            <a:ext cx="295465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研究目标与方案</a:t>
            </a:r>
          </a:p>
        </p:txBody>
      </p:sp>
      <p:sp>
        <p:nvSpPr>
          <p:cNvPr id="16" name="文本框 15">
            <a:extLst xmlns:a="http://schemas.openxmlformats.org/drawingml/2006/main">
              <a:ext uri="{FF2B5EF4-FFF2-40B4-BE49-F238E27FC236}">
                <a16:creationId xmlns:a16="http://schemas.microsoft.com/office/drawing/2014/main" id="{90BC898A-C73D-4520-9BBC-F05395EAA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373" y="427155"/>
            <a:ext cx="2954655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研究框架介绍</a:t>
            </a:r>
          </a:p>
        </p:txBody>
      </p:sp>
      <p:sp>
        <p:nvSpPr>
          <p:cNvPr id="20" name="文本框 19">
            <a:extLst xmlns:a="http://schemas.openxmlformats.org/drawingml/2006/main">
              <a:ext uri="{FF2B5EF4-FFF2-40B4-BE49-F238E27FC236}">
                <a16:creationId xmlns:a16="http://schemas.microsoft.com/office/drawing/2014/main" id="{023CB556-E9C7-4976-9AE4-BDE2D4ACA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0874" y="417215"/>
            <a:ext cx="2316628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研究进度安排</a:t>
            </a:r>
          </a:p>
        </p:txBody>
      </p:sp>
      <p:sp>
        <p:nvSpPr>
          <p:cNvPr id="24" name="文本框 23">
            <a:extLst xmlns:a="http://schemas.openxmlformats.org/drawingml/2006/main">
              <a:ext uri="{FF2B5EF4-FFF2-40B4-BE49-F238E27FC236}">
                <a16:creationId xmlns:a16="http://schemas.microsoft.com/office/drawing/2014/main" id="{3583B483-B7A7-4629-A9F7-9A868AA24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4348" y="427155"/>
            <a:ext cx="176368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小组分工</a:t>
            </a:r>
          </a:p>
        </p:txBody>
      </p:sp>
      <p:pic>
        <p:nvPicPr>
          <p:cNvPr id="39" name="图片 2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af86b7bd69d420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5963" y="168319"/>
            <a:ext cx="867126" cy="867126"/>
          </a:xfrm>
          <a:prstGeom xmlns:a="http://schemas.openxmlformats.org/drawingml/2006/main" prst="rect">
            <a:avLst/>
          </a:prstGeom>
        </p:spPr>
      </p:pic>
      <p:sp>
        <p:nvSpPr>
          <p:cNvPr id="28" name="直接连接符 27">
            <a:extLst xmlns:a="http://schemas.openxmlformats.org/drawingml/2006/main">
              <a:ext uri="{FF2B5EF4-FFF2-40B4-BE49-F238E27FC236}">
                <a16:creationId xmlns:a16="http://schemas.microsoft.com/office/drawing/2014/main" id="{48D3EC0F-DB7B-48DD-A354-7069A9D87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6855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30" name="直接连接符 29">
            <a:extLst xmlns:a="http://schemas.openxmlformats.org/drawingml/2006/main">
              <a:ext uri="{FF2B5EF4-FFF2-40B4-BE49-F238E27FC236}">
                <a16:creationId xmlns:a16="http://schemas.microsoft.com/office/drawing/2014/main" id="{257E2E7D-C342-491F-B11E-F3D2A0D80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31" name="直接连接符 30">
            <a:extLst xmlns:a="http://schemas.openxmlformats.org/drawingml/2006/main">
              <a:ext uri="{FF2B5EF4-FFF2-40B4-BE49-F238E27FC236}">
                <a16:creationId xmlns:a16="http://schemas.microsoft.com/office/drawing/2014/main" id="{808C51AC-3886-4E1B-84C1-F3702CEEB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2774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32" name="直接连接符 31">
            <a:extLst xmlns:a="http://schemas.openxmlformats.org/drawingml/2006/main">
              <a:ext uri="{FF2B5EF4-FFF2-40B4-BE49-F238E27FC236}">
                <a16:creationId xmlns:a16="http://schemas.microsoft.com/office/drawing/2014/main" id="{C48649A8-C9B5-4E39-89C0-EA2B58A61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3068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34" name="等腰三角形 33">
            <a:extLst xmlns:a="http://schemas.openxmlformats.org/drawingml/2006/main">
              <a:ext uri="{FF2B5EF4-FFF2-40B4-BE49-F238E27FC236}">
                <a16:creationId xmlns:a16="http://schemas.microsoft.com/office/drawing/2014/main" id="{1CB34D15-A6F0-40AB-B46A-723E71B1E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0617" y="986817"/>
            <a:ext cx="664192" cy="213744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5" name="文本框 34">
            <a:extLst xmlns:a="http://schemas.openxmlformats.org/drawingml/2006/main">
              <a:ext uri="{FF2B5EF4-FFF2-40B4-BE49-F238E27FC236}">
                <a16:creationId xmlns:a16="http://schemas.microsoft.com/office/drawing/2014/main" id="{8C999504-BE27-4AB4-8610-1F5A39B81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507" y="1470061"/>
            <a:ext cx="2814320" cy="645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600"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1.2  研究意义</a:t>
            </a:r>
          </a:p>
        </p:txBody>
      </p:sp>
      <p:sp>
        <p:nvSpPr>
          <p:cNvPr id="47" name="矩形 46">
            <a:extLst xmlns:a="http://schemas.openxmlformats.org/drawingml/2006/main">
              <a:ext uri="{FF2B5EF4-FFF2-40B4-BE49-F238E27FC236}">
                <a16:creationId xmlns:a16="http://schemas.microsoft.com/office/drawing/2014/main" id="{BF70E048-6BEB-4AA8-9032-DA0789AD2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6759" y="6130925"/>
            <a:ext cx="508000" cy="50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solidFill>
              <a:srgbClr val="174994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lt1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B8A74259-1421-4EE4-B763-B7472C0AF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4003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4C9A"/>
          </a:solidFill>
          <a:ln xmlns:a="http://schemas.openxmlformats.org/drawingml/2006/main" w="12383">
            <a:solidFill>
              <a:srgbClr val="0F4C9A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6C72EC5B-AE08-4486-98B6-DD28269D1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495550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F7B1B44E-8903-4641-9A59-2B339F255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990850"/>
            <a:ext cx="1371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手册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8EB60263-2CC7-4B6C-8348-35054D764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33750"/>
            <a:ext cx="16764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软件手册转为结构化测试知识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A8712D44-01D7-49E6-ABC4-D79924117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2476500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80CE974F-CE57-4808-9B55-10172849F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4003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B8D7"/>
          </a:solidFill>
          <a:ln xmlns:a="http://schemas.openxmlformats.org/drawingml/2006/main" w="12383">
            <a:solidFill>
              <a:srgbClr val="11B8D7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7DEA3033-6033-4161-81E4-D7562DA7B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495550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D39AE4A5-A739-4699-8498-55B70298A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2990850"/>
            <a:ext cx="1371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场景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54451132-3E8D-4A40-8A82-AE17BD108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3333750"/>
            <a:ext cx="16764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自然语言步骤，不绑定 DOM locator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98A09416-DD71-4CF5-B334-08FA5C0AF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476500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1E1E4A84-B3C3-4862-B730-1C14F6728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24003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A6A6"/>
          </a:solidFill>
          <a:ln xmlns:a="http://schemas.openxmlformats.org/drawingml/2006/main" w="12383">
            <a:solidFill>
              <a:srgbClr val="10A6A6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3DABDF18-08FE-42AE-A688-3C69BD7DC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2495550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6E64A3EE-4C2B-40B5-80E2-3E0FACA57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990850"/>
            <a:ext cx="1371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执行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079516F4-AF60-4225-8551-D68EE1384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3333750"/>
            <a:ext cx="16764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Web Agent 自主完成页面操作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5FF0DCB3-573B-4513-86D0-5060BF198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2476500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DDBFEA29-0102-425A-9755-5439B4619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4003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AE60"/>
          </a:solidFill>
          <a:ln xmlns:a="http://schemas.openxmlformats.org/drawingml/2006/main" w="12383">
            <a:solidFill>
              <a:srgbClr val="27AE60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638A624F-0664-4D63-B402-DC3D675E4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495550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6A60F34C-D4BE-458B-B2A8-A46AF149E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990850"/>
            <a:ext cx="1371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验证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D52EE3A5-722C-4677-AF2D-49306FC39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3333750"/>
            <a:ext cx="16764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确定性验证 + 视觉验证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22D2BD4A-B1D0-494F-8D56-A15C8CFC0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476500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9564ECE3-DB73-4538-A701-2822751AB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24003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A623"/>
          </a:solidFill>
          <a:ln xmlns:a="http://schemas.openxmlformats.org/drawingml/2006/main" w="12383">
            <a:solidFill>
              <a:srgbClr val="F5A623"/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77C85BC7-0DB6-44BE-B686-79343BA03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2495550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C23B0454-7318-46FE-AACF-6075FA405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990850"/>
            <a:ext cx="1371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诊断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1145791F-50A9-493F-A6CB-FCFCB2B81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3333750"/>
            <a:ext cx="16764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失败分类与报告归档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008DBAD2-BB24-4F74-A2DA-447C95BFD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4381500"/>
            <a:ext cx="962025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9EF"/>
          </a:solidFill>
          <a:ln xmlns:a="http://schemas.openxmlformats.org/drawingml/2006/main" w="12383">
            <a:solidFill>
              <a:srgbClr val="F3D6A2"/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4D4FAEA8-AF73-42C6-B41D-0F9A80C65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629150"/>
            <a:ext cx="8953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8A5700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1">
                <a:solidFill>
                  <a:srgbClr val="8A5700"/>
                </a:solidFill>
                <a:latin typeface="微软雅黑"/>
                <a:ea typeface="微软雅黑"/>
                <a:cs typeface="微软雅黑"/>
              </a:rPr>
              <a:t>形成“手册证据 → 测试场景 → 智能体执行 → 结果验证 → 失败分析”的闭环，而不是只让大模型写测试用例。</a:t>
            </a:r>
          </a:p>
        </p:txBody>
      </p:sp>
    </p:spTree>
    <p:extLst>
      <p:ext uri="{BB962C8B-B14F-4D97-AF65-F5344CB8AC3E}">
        <p14:creationId xmlns:p14="http://schemas.microsoft.com/office/powerpoint/2010/main" val="999033381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直角三角形 4">
            <a:extLst xmlns:a="http://schemas.openxmlformats.org/drawingml/2006/main">
              <a:ext uri="{FF2B5EF4-FFF2-40B4-BE49-F238E27FC236}">
                <a16:creationId xmlns:a16="http://schemas.microsoft.com/office/drawing/2014/main" id="{C53D25DD-8F22-4F68-9717-D555EFF2C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039139"/>
            <a:ext cx="1818861" cy="1818861"/>
          </a:xfrm>
          <a:prstGeom xmlns:a="http://schemas.openxmlformats.org/drawingml/2006/main" prst="rt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直角三角形 5">
            <a:extLst xmlns:a="http://schemas.openxmlformats.org/drawingml/2006/main">
              <a:ext uri="{FF2B5EF4-FFF2-40B4-BE49-F238E27FC236}">
                <a16:creationId xmlns:a16="http://schemas.microsoft.com/office/drawing/2014/main" id="{ADC7355D-A963-4EF5-A54D-94BD284E9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1">
            <a:off x="9786082" y="-1"/>
            <a:ext cx="2405917" cy="2405917"/>
          </a:xfrm>
          <a:prstGeom xmlns:a="http://schemas.openxmlformats.org/drawingml/2006/main" prst="rt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1CDF316-1371-4DD2-8047-DD78F3FF0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7091" y="1694838"/>
            <a:ext cx="1446530" cy="31534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9900" b="1">
                <a:solidFill>
                  <a:srgbClr val="174994">
                    <a:alpha val="38000"/>
                  </a:srgbClr>
                </a:solidFill>
                <a:latin typeface="Times New Roman"/>
                <a:ea typeface="Times New Roman"/>
                <a:cs typeface="Times New Roman"/>
              </a:rPr>
              <a:t>2</a:t>
            </a:r>
          </a:p>
        </p:txBody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ADFE3324-AB82-4283-A144-831DD98F9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7840" y="2816963"/>
            <a:ext cx="3416320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600" b="1">
                <a:latin typeface="Times New Roman"/>
                <a:ea typeface="Times New Roman"/>
                <a:cs typeface="Times New Roman"/>
              </a:rPr>
              <a:t>研究目标与方案</a:t>
            </a:r>
          </a:p>
        </p:txBody>
      </p:sp>
      <p:sp>
        <p:nvSpPr>
          <p:cNvPr id="10" name="文本框 9">
            <a:extLst xmlns:a="http://schemas.openxmlformats.org/drawingml/2006/main">
              <a:ext uri="{FF2B5EF4-FFF2-40B4-BE49-F238E27FC236}">
                <a16:creationId xmlns:a16="http://schemas.microsoft.com/office/drawing/2014/main" id="{7A87E50E-1656-4AF9-900E-068E0B99D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8376" y="3606757"/>
            <a:ext cx="3376244" cy="33855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600">
                <a:latin typeface="Times New Roman"/>
                <a:ea typeface="Times New Roman"/>
                <a:cs typeface="Times New Roman"/>
              </a:rPr>
              <a:t>Research Objectives and Methodology</a:t>
            </a:r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27A1EA1C-2086-40E7-BDCD-768E9DE10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3487189" y="3512166"/>
            <a:ext cx="5238619" cy="4571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12" name="图片 1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5966c18d7d947a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9513" y="78833"/>
            <a:ext cx="2554357" cy="538993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6416247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ADC4B7F6-BF62-4E53-B146-01F852D6E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-1"/>
            <a:ext cx="12192000" cy="12037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3" name="矩形 32">
            <a:extLst xmlns:a="http://schemas.openxmlformats.org/drawingml/2006/main">
              <a:ext uri="{FF2B5EF4-FFF2-40B4-BE49-F238E27FC236}">
                <a16:creationId xmlns:a16="http://schemas.microsoft.com/office/drawing/2014/main" id="{A051C895-FBF6-4A5A-BC63-BF84752C8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6856" y="0"/>
            <a:ext cx="2615316" cy="120376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文本框 7">
            <a:extLst xmlns:a="http://schemas.openxmlformats.org/drawingml/2006/main">
              <a:ext uri="{FF2B5EF4-FFF2-40B4-BE49-F238E27FC236}">
                <a16:creationId xmlns:a16="http://schemas.microsoft.com/office/drawing/2014/main" id="{89B0B3E7-7DD8-45DE-939C-F9A8FB310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7216"/>
            <a:ext cx="2316627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研究背景及意义</a:t>
            </a:r>
          </a:p>
        </p:txBody>
      </p:sp>
      <p:sp>
        <p:nvSpPr>
          <p:cNvPr id="12" name="文本框 11">
            <a:extLst xmlns:a="http://schemas.openxmlformats.org/drawingml/2006/main">
              <a:ext uri="{FF2B5EF4-FFF2-40B4-BE49-F238E27FC236}">
                <a16:creationId xmlns:a16="http://schemas.microsoft.com/office/drawing/2014/main" id="{F2445862-16EA-4A7B-819F-88AA98D22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7873" y="417216"/>
            <a:ext cx="295465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研究目标与方案</a:t>
            </a:r>
          </a:p>
        </p:txBody>
      </p:sp>
      <p:sp>
        <p:nvSpPr>
          <p:cNvPr id="16" name="文本框 15">
            <a:extLst xmlns:a="http://schemas.openxmlformats.org/drawingml/2006/main">
              <a:ext uri="{FF2B5EF4-FFF2-40B4-BE49-F238E27FC236}">
                <a16:creationId xmlns:a16="http://schemas.microsoft.com/office/drawing/2014/main" id="{B3F42468-B0D9-4785-A6E3-C45E4487C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373" y="427155"/>
            <a:ext cx="2954655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研究框架介绍</a:t>
            </a:r>
          </a:p>
        </p:txBody>
      </p:sp>
      <p:sp>
        <p:nvSpPr>
          <p:cNvPr id="20" name="文本框 19">
            <a:extLst xmlns:a="http://schemas.openxmlformats.org/drawingml/2006/main">
              <a:ext uri="{FF2B5EF4-FFF2-40B4-BE49-F238E27FC236}">
                <a16:creationId xmlns:a16="http://schemas.microsoft.com/office/drawing/2014/main" id="{48820B60-34E7-4E08-AA74-87AE879AA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0874" y="417215"/>
            <a:ext cx="2316628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研究进度安排</a:t>
            </a:r>
          </a:p>
        </p:txBody>
      </p:sp>
      <p:sp>
        <p:nvSpPr>
          <p:cNvPr id="24" name="文本框 23">
            <a:extLst xmlns:a="http://schemas.openxmlformats.org/drawingml/2006/main">
              <a:ext uri="{FF2B5EF4-FFF2-40B4-BE49-F238E27FC236}">
                <a16:creationId xmlns:a16="http://schemas.microsoft.com/office/drawing/2014/main" id="{9296B7C1-6589-4D9E-B954-249E6FCAF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4348" y="427155"/>
            <a:ext cx="176368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小组分工</a:t>
            </a:r>
          </a:p>
        </p:txBody>
      </p:sp>
      <p:pic>
        <p:nvPicPr>
          <p:cNvPr id="39" name="图片 2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cfabf40f28b468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5963" y="168319"/>
            <a:ext cx="867126" cy="867126"/>
          </a:xfrm>
          <a:prstGeom xmlns:a="http://schemas.openxmlformats.org/drawingml/2006/main" prst="rect">
            <a:avLst/>
          </a:prstGeom>
        </p:spPr>
      </p:pic>
      <p:sp>
        <p:nvSpPr>
          <p:cNvPr id="28" name="直接连接符 27">
            <a:extLst xmlns:a="http://schemas.openxmlformats.org/drawingml/2006/main">
              <a:ext uri="{FF2B5EF4-FFF2-40B4-BE49-F238E27FC236}">
                <a16:creationId xmlns:a16="http://schemas.microsoft.com/office/drawing/2014/main" id="{50FE17C1-9624-4A9F-9B57-784B471CC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6855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30" name="直接连接符 29">
            <a:extLst xmlns:a="http://schemas.openxmlformats.org/drawingml/2006/main">
              <a:ext uri="{FF2B5EF4-FFF2-40B4-BE49-F238E27FC236}">
                <a16:creationId xmlns:a16="http://schemas.microsoft.com/office/drawing/2014/main" id="{CD71BD3E-851B-4639-9ACA-3D4E4AE92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31" name="直接连接符 30">
            <a:extLst xmlns:a="http://schemas.openxmlformats.org/drawingml/2006/main">
              <a:ext uri="{FF2B5EF4-FFF2-40B4-BE49-F238E27FC236}">
                <a16:creationId xmlns:a16="http://schemas.microsoft.com/office/drawing/2014/main" id="{8D892374-7818-4381-B65B-28BA4F095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2774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32" name="直接连接符 31">
            <a:extLst xmlns:a="http://schemas.openxmlformats.org/drawingml/2006/main">
              <a:ext uri="{FF2B5EF4-FFF2-40B4-BE49-F238E27FC236}">
                <a16:creationId xmlns:a16="http://schemas.microsoft.com/office/drawing/2014/main" id="{7C97C541-360D-4782-8469-E7B26CBD6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3068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34" name="等腰三角形 33">
            <a:extLst xmlns:a="http://schemas.openxmlformats.org/drawingml/2006/main">
              <a:ext uri="{FF2B5EF4-FFF2-40B4-BE49-F238E27FC236}">
                <a16:creationId xmlns:a16="http://schemas.microsoft.com/office/drawing/2014/main" id="{C6D0E936-EFA9-40A4-BDDA-02749B0C7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097" y="986817"/>
            <a:ext cx="664192" cy="213744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5" name="文本框 34">
            <a:extLst xmlns:a="http://schemas.openxmlformats.org/drawingml/2006/main">
              <a:ext uri="{FF2B5EF4-FFF2-40B4-BE49-F238E27FC236}">
                <a16:creationId xmlns:a16="http://schemas.microsoft.com/office/drawing/2014/main" id="{8B89FB35-04FF-43FB-9AC5-472301A1F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507" y="1470061"/>
            <a:ext cx="2839239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600"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2.1  总体流程</a:t>
            </a:r>
          </a:p>
        </p:txBody>
      </p:sp>
      <p:sp>
        <p:nvSpPr>
          <p:cNvPr id="47" name="矩形 46">
            <a:extLst xmlns:a="http://schemas.openxmlformats.org/drawingml/2006/main">
              <a:ext uri="{FF2B5EF4-FFF2-40B4-BE49-F238E27FC236}">
                <a16:creationId xmlns:a16="http://schemas.microsoft.com/office/drawing/2014/main" id="{847CDFFF-8A37-44E4-9E15-9D0F90F8E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6759" y="6130925"/>
            <a:ext cx="508000" cy="50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solidFill>
              <a:srgbClr val="174994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lt1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3A723B36-39B2-4B57-B4DE-FFA3ED259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333625"/>
            <a:ext cx="15240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2383">
            <a:solidFill>
              <a:srgbClr val="B9D5F5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273FB9A9-B078-402E-AFC5-82969D74B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2486025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4C9A"/>
          </a:solidFill>
          <a:ln xmlns:a="http://schemas.openxmlformats.org/drawingml/2006/main" w="12383">
            <a:solidFill>
              <a:srgbClr val="0F4C9A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027A1341-2C38-433B-815C-2B332C7D1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2581275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D0E03020-C902-4477-A885-EC8B6DFD0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" y="2486025"/>
            <a:ext cx="76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4ga 手册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08896EE1-8129-45A7-A934-CEEB1E485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" y="2762250"/>
            <a:ext cx="762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英文 user/admin manual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40D584EE-D340-4709-A817-32315C8C3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2619375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E86AA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6E86AA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A9FC48AE-E238-4D83-8C21-B47288A06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333625"/>
            <a:ext cx="15240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2383">
            <a:solidFill>
              <a:srgbClr val="B9D5F5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5217D0FB-F5F7-48ED-B7EA-9BB67EF31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2486025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B8D7"/>
          </a:solidFill>
          <a:ln xmlns:a="http://schemas.openxmlformats.org/drawingml/2006/main" w="12383">
            <a:solidFill>
              <a:srgbClr val="11B8D7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B6079B4E-5982-490B-99E9-7878B25A3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2581275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6B5D446E-C2B0-4305-B48E-C5EFF7218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2486025"/>
            <a:ext cx="76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清洗切片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4A7E16C9-39EC-4F26-9605-385DE1D7B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2762250"/>
            <a:ext cx="762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Markdown + heading path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CEC740A2-D106-45DF-92D0-D6EDE654C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29075" y="2619375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E86AA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6E86AA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C837D01B-04E8-4CC6-A8BA-30CE50773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2333625"/>
            <a:ext cx="15240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2383">
            <a:solidFill>
              <a:srgbClr val="B9D5F5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E4B2CBCA-03A9-4CC1-817E-D6C703BD0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2486025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A6A6"/>
          </a:solidFill>
          <a:ln xmlns:a="http://schemas.openxmlformats.org/drawingml/2006/main" w="12383">
            <a:solidFill>
              <a:srgbClr val="10A6A6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0DB1D589-7F51-44F5-BCA4-4C6E65BFE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2581275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1ABB74A5-472F-4AB0-85AA-17F4294A4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2525" y="2486025"/>
            <a:ext cx="76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向量索引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A5F2A956-D401-4C70-8F9E-5845C2109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2525" y="2762250"/>
            <a:ext cx="762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ChromaDB evidence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F62F92AC-50E8-4B24-AEF2-8629B4A09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2619375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E86AA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6E86AA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8F7A92E5-D77A-4921-B768-1BBAF18F7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333625"/>
            <a:ext cx="15240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2383">
            <a:solidFill>
              <a:srgbClr val="B9D5F5"/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B90FF0A6-8375-4B66-BC25-F039D5892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486025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AE60"/>
          </a:solidFill>
          <a:ln xmlns:a="http://schemas.openxmlformats.org/drawingml/2006/main" w="12383">
            <a:solidFill>
              <a:srgbClr val="27AE60"/>
            </a:solidFill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3B421C0C-BE6D-49B7-AA6C-9FE38219D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581275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47E4639C-963F-4B8E-866C-E4910C53D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2486025"/>
            <a:ext cx="76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场景生成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F7950D54-EDEA-46F4-8F73-54C756D28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2762250"/>
            <a:ext cx="762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Feature + Scenario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5D6BEE7D-A662-4DFD-B0F7-7DFE7A706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3825" y="2619375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E86AA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6E86AA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B86FA49E-40F8-47AA-A24C-0236100AC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2333625"/>
            <a:ext cx="15240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2383">
            <a:solidFill>
              <a:srgbClr val="B9D5F5"/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ABA31CFA-79D2-4CFA-8A27-B14A436F6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2925" y="2486025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A623"/>
          </a:solidFill>
          <a:ln xmlns:a="http://schemas.openxmlformats.org/drawingml/2006/main" w="12383">
            <a:solidFill>
              <a:srgbClr val="F5A623"/>
            </a:solidFill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06D5167B-4074-496B-8D2A-CE67F7622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2925" y="2581275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EA4ECFE0-95AE-48B3-9DC1-3DCBFE1AD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77275" y="2486025"/>
            <a:ext cx="76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自主执行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1AC94C2C-BED5-4424-BEBE-FFE489A5B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77275" y="2762250"/>
            <a:ext cx="762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browser-use Agent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E60C6D5B-5109-45F5-9496-AA1555252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2619375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E86AA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6E86AA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9CD8ADFB-7146-48FB-AB59-512B07946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2333625"/>
            <a:ext cx="15240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2383">
            <a:solidFill>
              <a:srgbClr val="B9D5F5"/>
            </a:solidFill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C20533D4-A0E7-4681-A895-2A80069C0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2486025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74C3C"/>
          </a:solidFill>
          <a:ln xmlns:a="http://schemas.openxmlformats.org/drawingml/2006/main" w="12383">
            <a:solidFill>
              <a:srgbClr val="E74C3C"/>
            </a:solidFill>
            <a:prstDash val="solid"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CB7F94FB-C58C-4CA6-BAAB-0382B5AFA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2581275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6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30C1E4AF-C391-48CD-A0DD-C92F99115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4650" y="2486025"/>
            <a:ext cx="76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验证报告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BA7B28FE-B273-420C-A6DD-684A98CA9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4650" y="2762250"/>
            <a:ext cx="762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DOM/视觉/分类</a:t>
            </a:r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C4782111-DE7B-49BB-AE6D-DEF1CA196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905250"/>
            <a:ext cx="314325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6E2F3"/>
            </a:solidFill>
            <a:prstDash val="solid"/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0B16D30D-A2CE-4121-9089-D088840B6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905250"/>
            <a:ext cx="66675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B8D7"/>
          </a:solidFill>
          <a:ln xmlns:a="http://schemas.openxmlformats.org/drawingml/2006/main" w="0">
            <a:solidFill>
              <a:srgbClr val="11B8D7"/>
            </a:solidFill>
            <a:prstDash val="solid"/>
          </a:ln>
        </p:spPr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2EE9B684-AF02-454D-A6EE-53149C1E2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4048125"/>
            <a:ext cx="28194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B8D7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11B8D7"/>
                </a:solidFill>
                <a:latin typeface="微软雅黑"/>
                <a:ea typeface="微软雅黑"/>
                <a:cs typeface="微软雅黑"/>
              </a:rPr>
              <a:t>边界 1：零 locator</a:t>
            </a:r>
          </a:p>
        </p:txBody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1C7ED0C2-19C1-4D01-9441-CE275821C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4362450"/>
            <a:ext cx="28194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场景只表达用户意图，不写 selector、xpath、DOM id 或 element index。</a:t>
            </a:r>
          </a:p>
        </p:txBody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639E9818-15BB-457E-A144-EBFCA6C54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3905250"/>
            <a:ext cx="314325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6E2F3"/>
            </a:solidFill>
            <a:prstDash val="solid"/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0EB93F23-32E4-4CEF-9B2B-FBEE4E946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3905250"/>
            <a:ext cx="66675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4C9A"/>
          </a:solidFill>
          <a:ln xmlns:a="http://schemas.openxmlformats.org/drawingml/2006/main" w="0">
            <a:solidFill>
              <a:srgbClr val="0F4C9A"/>
            </a:solidFill>
            <a:prstDash val="solid"/>
          </a:ln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45C2FC21-43F9-4BD2-A81B-DA74C0C68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4048125"/>
            <a:ext cx="28194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4C9A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0F4C9A"/>
                </a:solidFill>
                <a:latin typeface="微软雅黑"/>
                <a:ea typeface="微软雅黑"/>
                <a:cs typeface="微软雅黑"/>
              </a:rPr>
              <a:t>边界 2：browser-use 唯一执行器</a:t>
            </a:r>
          </a:p>
        </p:txBody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D7CA0573-089D-4A45-9ED5-4938E3523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4362450"/>
            <a:ext cx="28194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不使用 Playwright fallback，保持自然语言任务到 Agent 自主执行的路线。</a:t>
            </a:r>
          </a:p>
        </p:txBody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188B70AB-69F8-43E8-9833-0D208BC49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3905250"/>
            <a:ext cx="314325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6E2F3"/>
            </a:solidFill>
            <a:prstDash val="solid"/>
          </a:ln>
        </p:spPr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77F904D0-A892-4FE9-8CFC-3310355F6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3905250"/>
            <a:ext cx="66675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A6A6"/>
          </a:solidFill>
          <a:ln xmlns:a="http://schemas.openxmlformats.org/drawingml/2006/main" w="0">
            <a:solidFill>
              <a:srgbClr val="10A6A6"/>
            </a:solidFill>
            <a:prstDash val="solid"/>
          </a:ln>
        </p:spPr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07C429B6-C147-4A6E-84CA-39EF9B834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0575" y="4048125"/>
            <a:ext cx="28194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A6A6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10A6A6"/>
                </a:solidFill>
                <a:latin typeface="微软雅黑"/>
                <a:ea typeface="微软雅黑"/>
                <a:cs typeface="微软雅黑"/>
              </a:rPr>
              <a:t>边界 3：本地可追溯</a:t>
            </a:r>
          </a:p>
        </p:txBody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C73F9AAD-8210-4C9C-9F56-B396ABAB6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0575" y="4362450"/>
            <a:ext cx="28194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Trace、截图、验证结果和报告统一归档到 data/runs/{run_id}/。</a:t>
            </a:r>
          </a:p>
        </p:txBody>
      </p:sp>
    </p:spTree>
    <p:extLst>
      <p:ext uri="{BB962C8B-B14F-4D97-AF65-F5344CB8AC3E}">
        <p14:creationId xmlns:p14="http://schemas.microsoft.com/office/powerpoint/2010/main" val="4101920307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文本框 34">
            <a:extLst xmlns:a="http://schemas.openxmlformats.org/drawingml/2006/main">
              <a:ext uri="{FF2B5EF4-FFF2-40B4-BE49-F238E27FC236}">
                <a16:creationId xmlns:a16="http://schemas.microsoft.com/office/drawing/2014/main" id="{3F5AD5A7-F10F-48AD-9516-B0900162B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507" y="1470061"/>
            <a:ext cx="2839239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600"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2.2  研究目标</a:t>
            </a:r>
          </a:p>
        </p:txBody>
      </p:sp>
      <p:sp>
        <p:nvSpPr>
          <p:cNvPr id="47" name="矩形 46">
            <a:extLst xmlns:a="http://schemas.openxmlformats.org/drawingml/2006/main">
              <a:ext uri="{FF2B5EF4-FFF2-40B4-BE49-F238E27FC236}">
                <a16:creationId xmlns:a16="http://schemas.microsoft.com/office/drawing/2014/main" id="{1515B250-3F65-47D0-A517-C1F5DB30D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6759" y="6130925"/>
            <a:ext cx="508000" cy="50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solidFill>
              <a:srgbClr val="174994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lt1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  <p:sp>
        <p:nvSpPr>
          <p:cNvPr id="118" name="矩形 117">
            <a:extLst xmlns:a="http://schemas.openxmlformats.org/drawingml/2006/main">
              <a:ext uri="{FF2B5EF4-FFF2-40B4-BE49-F238E27FC236}">
                <a16:creationId xmlns:a16="http://schemas.microsoft.com/office/drawing/2014/main" id="{E10E5026-9769-4FDA-A3C2-689FB4FFE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-1"/>
            <a:ext cx="12192000" cy="12037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9" name="矩形 118">
            <a:extLst xmlns:a="http://schemas.openxmlformats.org/drawingml/2006/main">
              <a:ext uri="{FF2B5EF4-FFF2-40B4-BE49-F238E27FC236}">
                <a16:creationId xmlns:a16="http://schemas.microsoft.com/office/drawing/2014/main" id="{651D5F33-4A49-48C5-A33C-ABFDF222B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6856" y="0"/>
            <a:ext cx="2615316" cy="120376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20" name="文本框 119">
            <a:extLst xmlns:a="http://schemas.openxmlformats.org/drawingml/2006/main">
              <a:ext uri="{FF2B5EF4-FFF2-40B4-BE49-F238E27FC236}">
                <a16:creationId xmlns:a16="http://schemas.microsoft.com/office/drawing/2014/main" id="{CCE41962-D964-415D-8B26-F787AF6B7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7216"/>
            <a:ext cx="2316627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研究背景及意义</a:t>
            </a:r>
          </a:p>
        </p:txBody>
      </p:sp>
      <p:sp>
        <p:nvSpPr>
          <p:cNvPr id="124" name="文本框 123">
            <a:extLst xmlns:a="http://schemas.openxmlformats.org/drawingml/2006/main">
              <a:ext uri="{FF2B5EF4-FFF2-40B4-BE49-F238E27FC236}">
                <a16:creationId xmlns:a16="http://schemas.microsoft.com/office/drawing/2014/main" id="{AF17376A-7459-49B5-8BB1-B818CD00B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7873" y="417216"/>
            <a:ext cx="295465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研究目标与方案</a:t>
            </a:r>
          </a:p>
        </p:txBody>
      </p:sp>
      <p:sp>
        <p:nvSpPr>
          <p:cNvPr id="130" name="文本框 129">
            <a:extLst xmlns:a="http://schemas.openxmlformats.org/drawingml/2006/main">
              <a:ext uri="{FF2B5EF4-FFF2-40B4-BE49-F238E27FC236}">
                <a16:creationId xmlns:a16="http://schemas.microsoft.com/office/drawing/2014/main" id="{599D3835-85B7-47C1-A1A6-FA9C570DC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373" y="427155"/>
            <a:ext cx="2954655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研究框架介绍</a:t>
            </a:r>
          </a:p>
        </p:txBody>
      </p:sp>
      <p:sp>
        <p:nvSpPr>
          <p:cNvPr id="131" name="文本框 130">
            <a:extLst xmlns:a="http://schemas.openxmlformats.org/drawingml/2006/main">
              <a:ext uri="{FF2B5EF4-FFF2-40B4-BE49-F238E27FC236}">
                <a16:creationId xmlns:a16="http://schemas.microsoft.com/office/drawing/2014/main" id="{FC780630-B8AC-4195-898D-6F8978079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0874" y="417215"/>
            <a:ext cx="2316628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研究进度安排</a:t>
            </a:r>
          </a:p>
        </p:txBody>
      </p:sp>
      <p:sp>
        <p:nvSpPr>
          <p:cNvPr id="132" name="文本框 131">
            <a:extLst xmlns:a="http://schemas.openxmlformats.org/drawingml/2006/main">
              <a:ext uri="{FF2B5EF4-FFF2-40B4-BE49-F238E27FC236}">
                <a16:creationId xmlns:a16="http://schemas.microsoft.com/office/drawing/2014/main" id="{E921E35E-305E-4103-9911-931745661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4348" y="427155"/>
            <a:ext cx="176368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小组分工</a:t>
            </a:r>
          </a:p>
        </p:txBody>
      </p:sp>
      <p:pic>
        <p:nvPicPr>
          <p:cNvPr id="133" name="图片 13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dfc6411850545f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5963" y="168319"/>
            <a:ext cx="867126" cy="867126"/>
          </a:xfrm>
          <a:prstGeom xmlns:a="http://schemas.openxmlformats.org/drawingml/2006/main" prst="rect">
            <a:avLst/>
          </a:prstGeom>
        </p:spPr>
      </p:pic>
      <p:sp>
        <p:nvSpPr>
          <p:cNvPr id="134" name="直接连接符 133">
            <a:extLst xmlns:a="http://schemas.openxmlformats.org/drawingml/2006/main">
              <a:ext uri="{FF2B5EF4-FFF2-40B4-BE49-F238E27FC236}">
                <a16:creationId xmlns:a16="http://schemas.microsoft.com/office/drawing/2014/main" id="{4AA1076A-267F-432B-BDC2-E686E3C72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6855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35" name="直接连接符 134">
            <a:extLst xmlns:a="http://schemas.openxmlformats.org/drawingml/2006/main">
              <a:ext uri="{FF2B5EF4-FFF2-40B4-BE49-F238E27FC236}">
                <a16:creationId xmlns:a16="http://schemas.microsoft.com/office/drawing/2014/main" id="{D4DF99EB-20A1-447A-8A73-DDECF5215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36" name="直接连接符 135">
            <a:extLst xmlns:a="http://schemas.openxmlformats.org/drawingml/2006/main">
              <a:ext uri="{FF2B5EF4-FFF2-40B4-BE49-F238E27FC236}">
                <a16:creationId xmlns:a16="http://schemas.microsoft.com/office/drawing/2014/main" id="{50870E47-F85E-4953-9B7F-757B3AF8D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2774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37" name="直接连接符 136">
            <a:extLst xmlns:a="http://schemas.openxmlformats.org/drawingml/2006/main">
              <a:ext uri="{FF2B5EF4-FFF2-40B4-BE49-F238E27FC236}">
                <a16:creationId xmlns:a16="http://schemas.microsoft.com/office/drawing/2014/main" id="{8089A8E7-8F7B-4127-B817-9C735EC32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3068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38" name="等腰三角形 137">
            <a:extLst xmlns:a="http://schemas.openxmlformats.org/drawingml/2006/main">
              <a:ext uri="{FF2B5EF4-FFF2-40B4-BE49-F238E27FC236}">
                <a16:creationId xmlns:a16="http://schemas.microsoft.com/office/drawing/2014/main" id="{4A263288-6E46-4B9E-817D-3C7EB473F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097" y="986817"/>
            <a:ext cx="664192" cy="213744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40" name="">
            <a:extLst xmlns:a="http://schemas.openxmlformats.org/drawingml/2006/main">
              <a:ext uri="{FF2B5EF4-FFF2-40B4-BE49-F238E27FC236}">
                <a16:creationId xmlns:a16="http://schemas.microsoft.com/office/drawing/2014/main" id="{C1ECEB18-89A6-49AC-9ED5-66B9AC5FD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428875"/>
            <a:ext cx="16192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2383">
            <a:solidFill>
              <a:srgbClr val="D6E6F7"/>
            </a:solidFill>
            <a:prstDash val="solid"/>
          </a:ln>
        </p:spPr>
      </p:sp>
      <p:sp>
        <p:nvSpPr>
          <p:cNvPr id="141" name="">
            <a:extLst xmlns:a="http://schemas.openxmlformats.org/drawingml/2006/main">
              <a:ext uri="{FF2B5EF4-FFF2-40B4-BE49-F238E27FC236}">
                <a16:creationId xmlns:a16="http://schemas.microsoft.com/office/drawing/2014/main" id="{DAFBC665-6DE8-48FC-82BE-047634074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2571750"/>
            <a:ext cx="6191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0F4C9A"/>
                </a:solidFill>
                <a:latin typeface="微软雅黑"/>
                <a:ea typeface="微软雅黑"/>
                <a:cs typeface="微软雅黑"/>
              </a:defRPr>
            </a:pPr>
            <a:r>
              <a:rPr sz="2175" b="1">
                <a:solidFill>
                  <a:srgbClr val="0F4C9A"/>
                </a:solidFill>
                <a:latin typeface="微软雅黑"/>
                <a:ea typeface="微软雅黑"/>
                <a:cs typeface="微软雅黑"/>
              </a:rPr>
              <a:t>48</a:t>
            </a:r>
          </a:p>
        </p:txBody>
      </p:sp>
      <p:sp>
        <p:nvSpPr>
          <p:cNvPr id="142" name="">
            <a:extLst xmlns:a="http://schemas.openxmlformats.org/drawingml/2006/main">
              <a:ext uri="{FF2B5EF4-FFF2-40B4-BE49-F238E27FC236}">
                <a16:creationId xmlns:a16="http://schemas.microsoft.com/office/drawing/2014/main" id="{F22A2F9E-DA5B-4AF2-9578-DC97FA270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4025" y="2619375"/>
            <a:ext cx="6477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已抽取功能点</a:t>
            </a:r>
          </a:p>
        </p:txBody>
      </p:sp>
      <p:sp>
        <p:nvSpPr>
          <p:cNvPr id="143" name="">
            <a:extLst xmlns:a="http://schemas.openxmlformats.org/drawingml/2006/main">
              <a:ext uri="{FF2B5EF4-FFF2-40B4-BE49-F238E27FC236}">
                <a16:creationId xmlns:a16="http://schemas.microsoft.com/office/drawing/2014/main" id="{2FA324B4-2B25-4A25-90A1-F5F3B4ED2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2428875"/>
            <a:ext cx="16192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2383">
            <a:solidFill>
              <a:srgbClr val="D6E6F7"/>
            </a:solidFill>
            <a:prstDash val="solid"/>
          </a:ln>
        </p:spPr>
      </p:sp>
      <p:sp>
        <p:nvSpPr>
          <p:cNvPr id="144" name="">
            <a:extLst xmlns:a="http://schemas.openxmlformats.org/drawingml/2006/main">
              <a:ext uri="{FF2B5EF4-FFF2-40B4-BE49-F238E27FC236}">
                <a16:creationId xmlns:a16="http://schemas.microsoft.com/office/drawing/2014/main" id="{FE08EA9B-ADBD-4B25-848F-B127B7CC2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1825" y="2571750"/>
            <a:ext cx="6191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1B8D7"/>
                </a:solidFill>
                <a:latin typeface="微软雅黑"/>
                <a:ea typeface="微软雅黑"/>
                <a:cs typeface="微软雅黑"/>
              </a:defRPr>
            </a:pPr>
            <a:r>
              <a:rPr sz="2175" b="1">
                <a:solidFill>
                  <a:srgbClr val="11B8D7"/>
                </a:solidFill>
                <a:latin typeface="微软雅黑"/>
                <a:ea typeface="微软雅黑"/>
                <a:cs typeface="微软雅黑"/>
              </a:rPr>
              <a:t>62</a:t>
            </a:r>
          </a:p>
        </p:txBody>
      </p:sp>
      <p:sp>
        <p:nvSpPr>
          <p:cNvPr id="145" name="">
            <a:extLst xmlns:a="http://schemas.openxmlformats.org/drawingml/2006/main">
              <a:ext uri="{FF2B5EF4-FFF2-40B4-BE49-F238E27FC236}">
                <a16:creationId xmlns:a16="http://schemas.microsoft.com/office/drawing/2014/main" id="{BD4D73CE-01FA-41F7-B190-556302624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9525" y="2619375"/>
            <a:ext cx="6477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已生成测试场景</a:t>
            </a:r>
          </a:p>
        </p:txBody>
      </p:sp>
      <p:sp>
        <p:nvSpPr>
          <p:cNvPr id="146" name="">
            <a:extLst xmlns:a="http://schemas.openxmlformats.org/drawingml/2006/main">
              <a:ext uri="{FF2B5EF4-FFF2-40B4-BE49-F238E27FC236}">
                <a16:creationId xmlns:a16="http://schemas.microsoft.com/office/drawing/2014/main" id="{D7AF9652-A7D2-4276-89C8-7FAD970F8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2428875"/>
            <a:ext cx="16192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2383">
            <a:solidFill>
              <a:srgbClr val="D6E6F7"/>
            </a:solidFill>
            <a:prstDash val="solid"/>
          </a:ln>
        </p:spPr>
      </p:sp>
      <p:sp>
        <p:nvSpPr>
          <p:cNvPr id="147" name="">
            <a:extLst xmlns:a="http://schemas.openxmlformats.org/drawingml/2006/main">
              <a:ext uri="{FF2B5EF4-FFF2-40B4-BE49-F238E27FC236}">
                <a16:creationId xmlns:a16="http://schemas.microsoft.com/office/drawing/2014/main" id="{07343500-A0E0-4846-A0E0-7A4791003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7325" y="2571750"/>
            <a:ext cx="6191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27AE60"/>
                </a:solidFill>
                <a:latin typeface="微软雅黑"/>
                <a:ea typeface="微软雅黑"/>
                <a:cs typeface="微软雅黑"/>
              </a:defRPr>
            </a:pPr>
            <a:r>
              <a:rPr sz="2175" b="1">
                <a:solidFill>
                  <a:srgbClr val="27AE60"/>
                </a:solidFill>
                <a:latin typeface="微软雅黑"/>
                <a:ea typeface="微软雅黑"/>
                <a:cs typeface="微软雅黑"/>
              </a:rPr>
              <a:t>17</a:t>
            </a:r>
          </a:p>
        </p:txBody>
      </p:sp>
      <p:sp>
        <p:nvSpPr>
          <p:cNvPr id="148" name="">
            <a:extLst xmlns:a="http://schemas.openxmlformats.org/drawingml/2006/main">
              <a:ext uri="{FF2B5EF4-FFF2-40B4-BE49-F238E27FC236}">
                <a16:creationId xmlns:a16="http://schemas.microsoft.com/office/drawing/2014/main" id="{AB08692F-ABAF-4B8E-8A6E-EC4AE7E3B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5025" y="2619375"/>
            <a:ext cx="6477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本地运行记录</a:t>
            </a:r>
          </a:p>
        </p:txBody>
      </p:sp>
      <p:sp>
        <p:nvSpPr>
          <p:cNvPr id="149" name="">
            <a:extLst xmlns:a="http://schemas.openxmlformats.org/drawingml/2006/main">
              <a:ext uri="{FF2B5EF4-FFF2-40B4-BE49-F238E27FC236}">
                <a16:creationId xmlns:a16="http://schemas.microsoft.com/office/drawing/2014/main" id="{8EE7C23F-3B4A-42C8-96BC-3999932A6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362200"/>
            <a:ext cx="3381375" cy="904875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F3FAFF"/>
          </a:solidFill>
          <a:ln xmlns:a="http://schemas.openxmlformats.org/drawingml/2006/main" w="12383">
            <a:solidFill>
              <a:srgbClr val="BBD9F4"/>
            </a:solidFill>
            <a:prstDash val="solid"/>
          </a:ln>
        </p:spPr>
      </p:sp>
      <p:sp>
        <p:nvSpPr>
          <p:cNvPr id="150" name="">
            <a:extLst xmlns:a="http://schemas.openxmlformats.org/drawingml/2006/main">
              <a:ext uri="{FF2B5EF4-FFF2-40B4-BE49-F238E27FC236}">
                <a16:creationId xmlns:a16="http://schemas.microsoft.com/office/drawing/2014/main" id="{0249E096-45AC-43B5-86D7-FE8614FCF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2609850"/>
            <a:ext cx="2571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F4C9A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0F4C9A"/>
                </a:solidFill>
                <a:latin typeface="微软雅黑"/>
                <a:ea typeface="微软雅黑"/>
                <a:cs typeface="微软雅黑"/>
              </a:rPr>
              <a:t>可运行本地闭环</a:t>
            </a:r>
          </a:p>
        </p:txBody>
      </p:sp>
      <p:sp>
        <p:nvSpPr>
          <p:cNvPr id="151" name="">
            <a:extLst xmlns:a="http://schemas.openxmlformats.org/drawingml/2006/main">
              <a:ext uri="{FF2B5EF4-FFF2-40B4-BE49-F238E27FC236}">
                <a16:creationId xmlns:a16="http://schemas.microsoft.com/office/drawing/2014/main" id="{084AFC58-3F7E-46DB-8022-3433A2206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933700"/>
            <a:ext cx="2571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从手册到执行记录，已形成端到端系统形态</a:t>
            </a:r>
          </a:p>
        </p:txBody>
      </p:sp>
      <p:sp>
        <p:nvSpPr>
          <p:cNvPr id="152" name="">
            <a:extLst xmlns:a="http://schemas.openxmlformats.org/drawingml/2006/main">
              <a:ext uri="{FF2B5EF4-FFF2-40B4-BE49-F238E27FC236}">
                <a16:creationId xmlns:a16="http://schemas.microsoft.com/office/drawing/2014/main" id="{D0B0FF5D-48BB-4A59-A9A9-25049EBD4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857625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4C9A"/>
          </a:solidFill>
          <a:ln xmlns:a="http://schemas.openxmlformats.org/drawingml/2006/main" w="12383">
            <a:solidFill>
              <a:srgbClr val="0F4C9A"/>
            </a:solidFill>
            <a:prstDash val="solid"/>
          </a:ln>
        </p:spPr>
      </p:sp>
      <p:sp>
        <p:nvSpPr>
          <p:cNvPr id="153" name="">
            <a:extLst xmlns:a="http://schemas.openxmlformats.org/drawingml/2006/main">
              <a:ext uri="{FF2B5EF4-FFF2-40B4-BE49-F238E27FC236}">
                <a16:creationId xmlns:a16="http://schemas.microsoft.com/office/drawing/2014/main" id="{E51405AF-39A4-4A43-9602-8FDD3D27C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952875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154" name="">
            <a:extLst xmlns:a="http://schemas.openxmlformats.org/drawingml/2006/main">
              <a:ext uri="{FF2B5EF4-FFF2-40B4-BE49-F238E27FC236}">
                <a16:creationId xmlns:a16="http://schemas.microsoft.com/office/drawing/2014/main" id="{F2E10D14-51AE-41F5-9C1D-97A9F96D0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3905250"/>
            <a:ext cx="90106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自动抽取 4ga Boards 主要功能点</a:t>
            </a:r>
          </a:p>
        </p:txBody>
      </p:sp>
      <p:sp>
        <p:nvSpPr>
          <p:cNvPr id="155" name="">
            <a:extLst xmlns:a="http://schemas.openxmlformats.org/drawingml/2006/main">
              <a:ext uri="{FF2B5EF4-FFF2-40B4-BE49-F238E27FC236}">
                <a16:creationId xmlns:a16="http://schemas.microsoft.com/office/drawing/2014/main" id="{F9A6F2EC-D46F-4770-8B36-6D651FEC4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276725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B8D7"/>
          </a:solidFill>
          <a:ln xmlns:a="http://schemas.openxmlformats.org/drawingml/2006/main" w="12383">
            <a:solidFill>
              <a:srgbClr val="11B8D7"/>
            </a:solidFill>
            <a:prstDash val="solid"/>
          </a:ln>
        </p:spPr>
      </p:sp>
      <p:sp>
        <p:nvSpPr>
          <p:cNvPr id="156" name="">
            <a:extLst xmlns:a="http://schemas.openxmlformats.org/drawingml/2006/main">
              <a:ext uri="{FF2B5EF4-FFF2-40B4-BE49-F238E27FC236}">
                <a16:creationId xmlns:a16="http://schemas.microsoft.com/office/drawing/2014/main" id="{F6D387C2-E574-4192-82AF-F7EB7F65B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371975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57" name="">
            <a:extLst xmlns:a="http://schemas.openxmlformats.org/drawingml/2006/main">
              <a:ext uri="{FF2B5EF4-FFF2-40B4-BE49-F238E27FC236}">
                <a16:creationId xmlns:a16="http://schemas.microsoft.com/office/drawing/2014/main" id="{428567B7-2666-45ED-88D1-332042F88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4324350"/>
            <a:ext cx="90106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生成结构化、可执行、带证据的测试场景</a:t>
            </a:r>
          </a:p>
        </p:txBody>
      </p:sp>
      <p:sp>
        <p:nvSpPr>
          <p:cNvPr id="158" name="">
            <a:extLst xmlns:a="http://schemas.openxmlformats.org/drawingml/2006/main">
              <a:ext uri="{FF2B5EF4-FFF2-40B4-BE49-F238E27FC236}">
                <a16:creationId xmlns:a16="http://schemas.microsoft.com/office/drawing/2014/main" id="{2779A894-0C78-4C6A-907E-B5E7A35F0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695825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4C9A"/>
          </a:solidFill>
          <a:ln xmlns:a="http://schemas.openxmlformats.org/drawingml/2006/main" w="12383">
            <a:solidFill>
              <a:srgbClr val="0F4C9A"/>
            </a:solidFill>
            <a:prstDash val="solid"/>
          </a:ln>
        </p:spPr>
      </p:sp>
      <p:sp>
        <p:nvSpPr>
          <p:cNvPr id="159" name="">
            <a:extLst xmlns:a="http://schemas.openxmlformats.org/drawingml/2006/main">
              <a:ext uri="{FF2B5EF4-FFF2-40B4-BE49-F238E27FC236}">
                <a16:creationId xmlns:a16="http://schemas.microsoft.com/office/drawing/2014/main" id="{DFE412E2-12E3-4BEF-B038-3CD5E57EB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791075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60" name="">
            <a:extLst xmlns:a="http://schemas.openxmlformats.org/drawingml/2006/main">
              <a:ext uri="{FF2B5EF4-FFF2-40B4-BE49-F238E27FC236}">
                <a16:creationId xmlns:a16="http://schemas.microsoft.com/office/drawing/2014/main" id="{EE63443C-0391-4307-83B9-9F2F19EA8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4743450"/>
            <a:ext cx="90106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实时展示 Agent 节点状态、动作、截图与事件流</a:t>
            </a:r>
          </a:p>
        </p:txBody>
      </p:sp>
      <p:sp>
        <p:nvSpPr>
          <p:cNvPr id="161" name="">
            <a:extLst xmlns:a="http://schemas.openxmlformats.org/drawingml/2006/main">
              <a:ext uri="{FF2B5EF4-FFF2-40B4-BE49-F238E27FC236}">
                <a16:creationId xmlns:a16="http://schemas.microsoft.com/office/drawing/2014/main" id="{EA95DC9F-C6BF-4325-9ABC-2B3049539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114925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B8D7"/>
          </a:solidFill>
          <a:ln xmlns:a="http://schemas.openxmlformats.org/drawingml/2006/main" w="12383">
            <a:solidFill>
              <a:srgbClr val="11B8D7"/>
            </a:solidFill>
            <a:prstDash val="solid"/>
          </a:ln>
        </p:spPr>
      </p:sp>
      <p:sp>
        <p:nvSpPr>
          <p:cNvPr id="162" name="">
            <a:extLst xmlns:a="http://schemas.openxmlformats.org/drawingml/2006/main">
              <a:ext uri="{FF2B5EF4-FFF2-40B4-BE49-F238E27FC236}">
                <a16:creationId xmlns:a16="http://schemas.microsoft.com/office/drawing/2014/main" id="{C4D925FD-7002-440B-96A0-377DABFB6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210175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163" name="">
            <a:extLst xmlns:a="http://schemas.openxmlformats.org/drawingml/2006/main">
              <a:ext uri="{FF2B5EF4-FFF2-40B4-BE49-F238E27FC236}">
                <a16:creationId xmlns:a16="http://schemas.microsoft.com/office/drawing/2014/main" id="{0D9AEAA6-4142-4F02-90BD-32CED91C7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5162550"/>
            <a:ext cx="90106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对执行结果进行验证、失败分类和报告归档</a:t>
            </a:r>
          </a:p>
        </p:txBody>
      </p:sp>
    </p:spTree>
    <p:extLst>
      <p:ext uri="{BB962C8B-B14F-4D97-AF65-F5344CB8AC3E}">
        <p14:creationId xmlns:p14="http://schemas.microsoft.com/office/powerpoint/2010/main" val="1048615677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文本框 34">
            <a:extLst xmlns:a="http://schemas.openxmlformats.org/drawingml/2006/main">
              <a:ext uri="{FF2B5EF4-FFF2-40B4-BE49-F238E27FC236}">
                <a16:creationId xmlns:a16="http://schemas.microsoft.com/office/drawing/2014/main" id="{C5DA7CA1-70B9-4E2A-ACCE-A2B0364CA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507" y="1470061"/>
            <a:ext cx="2839239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600"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2.3  总体架构</a:t>
            </a:r>
          </a:p>
        </p:txBody>
      </p:sp>
      <p:sp>
        <p:nvSpPr>
          <p:cNvPr id="47" name="矩形 46">
            <a:extLst xmlns:a="http://schemas.openxmlformats.org/drawingml/2006/main">
              <a:ext uri="{FF2B5EF4-FFF2-40B4-BE49-F238E27FC236}">
                <a16:creationId xmlns:a16="http://schemas.microsoft.com/office/drawing/2014/main" id="{27FAC13A-C4B2-4A07-B247-B6FC609DD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6759" y="6130925"/>
            <a:ext cx="508000" cy="50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solidFill>
              <a:srgbClr val="174994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lt1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  <p:sp>
        <p:nvSpPr>
          <p:cNvPr id="100" name="矩形 99">
            <a:extLst xmlns:a="http://schemas.openxmlformats.org/drawingml/2006/main">
              <a:ext uri="{FF2B5EF4-FFF2-40B4-BE49-F238E27FC236}">
                <a16:creationId xmlns:a16="http://schemas.microsoft.com/office/drawing/2014/main" id="{F352DA87-3D00-4C14-AB17-254EA311B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-1"/>
            <a:ext cx="12192000" cy="12037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1" name="矩形 100">
            <a:extLst xmlns:a="http://schemas.openxmlformats.org/drawingml/2006/main">
              <a:ext uri="{FF2B5EF4-FFF2-40B4-BE49-F238E27FC236}">
                <a16:creationId xmlns:a16="http://schemas.microsoft.com/office/drawing/2014/main" id="{73B58A2F-2613-4675-91B4-F5E927591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6856" y="0"/>
            <a:ext cx="2615316" cy="120376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2" name="文本框 101">
            <a:extLst xmlns:a="http://schemas.openxmlformats.org/drawingml/2006/main">
              <a:ext uri="{FF2B5EF4-FFF2-40B4-BE49-F238E27FC236}">
                <a16:creationId xmlns:a16="http://schemas.microsoft.com/office/drawing/2014/main" id="{E4E5C484-F627-4B59-AD16-6479AC5B9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7216"/>
            <a:ext cx="2316627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研究背景及意义</a:t>
            </a:r>
          </a:p>
        </p:txBody>
      </p:sp>
      <p:sp>
        <p:nvSpPr>
          <p:cNvPr id="103" name="文本框 102">
            <a:extLst xmlns:a="http://schemas.openxmlformats.org/drawingml/2006/main">
              <a:ext uri="{FF2B5EF4-FFF2-40B4-BE49-F238E27FC236}">
                <a16:creationId xmlns:a16="http://schemas.microsoft.com/office/drawing/2014/main" id="{68569EF0-A4A4-4B56-B77A-6F56F2FA0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7873" y="417216"/>
            <a:ext cx="295465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研究目标与方案</a:t>
            </a:r>
          </a:p>
        </p:txBody>
      </p:sp>
      <p:sp>
        <p:nvSpPr>
          <p:cNvPr id="104" name="文本框 103">
            <a:extLst xmlns:a="http://schemas.openxmlformats.org/drawingml/2006/main">
              <a:ext uri="{FF2B5EF4-FFF2-40B4-BE49-F238E27FC236}">
                <a16:creationId xmlns:a16="http://schemas.microsoft.com/office/drawing/2014/main" id="{27BB5293-4B48-4EB3-82A0-C3EEE4BA8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373" y="427155"/>
            <a:ext cx="2954655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研究框架介绍</a:t>
            </a:r>
          </a:p>
        </p:txBody>
      </p:sp>
      <p:sp>
        <p:nvSpPr>
          <p:cNvPr id="105" name="文本框 104">
            <a:extLst xmlns:a="http://schemas.openxmlformats.org/drawingml/2006/main">
              <a:ext uri="{FF2B5EF4-FFF2-40B4-BE49-F238E27FC236}">
                <a16:creationId xmlns:a16="http://schemas.microsoft.com/office/drawing/2014/main" id="{8EC6E344-EBC5-475B-A47E-1A6F08365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0874" y="417215"/>
            <a:ext cx="2316628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研究进度安排</a:t>
            </a:r>
          </a:p>
        </p:txBody>
      </p:sp>
      <p:sp>
        <p:nvSpPr>
          <p:cNvPr id="106" name="文本框 105">
            <a:extLst xmlns:a="http://schemas.openxmlformats.org/drawingml/2006/main">
              <a:ext uri="{FF2B5EF4-FFF2-40B4-BE49-F238E27FC236}">
                <a16:creationId xmlns:a16="http://schemas.microsoft.com/office/drawing/2014/main" id="{98566DDC-D397-4A51-A9F8-B89FDBECD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4348" y="427155"/>
            <a:ext cx="176368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小组分工</a:t>
            </a:r>
          </a:p>
        </p:txBody>
      </p:sp>
      <p:pic>
        <p:nvPicPr>
          <p:cNvPr id="107" name="图片 10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132fa97747c49d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5963" y="168319"/>
            <a:ext cx="867126" cy="867126"/>
          </a:xfrm>
          <a:prstGeom xmlns:a="http://schemas.openxmlformats.org/drawingml/2006/main" prst="rect">
            <a:avLst/>
          </a:prstGeom>
        </p:spPr>
      </p:pic>
      <p:sp>
        <p:nvSpPr>
          <p:cNvPr id="108" name="直接连接符 107">
            <a:extLst xmlns:a="http://schemas.openxmlformats.org/drawingml/2006/main">
              <a:ext uri="{FF2B5EF4-FFF2-40B4-BE49-F238E27FC236}">
                <a16:creationId xmlns:a16="http://schemas.microsoft.com/office/drawing/2014/main" id="{86C1ED2F-F6CB-41FD-8287-03980FA3A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6855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09" name="直接连接符 108">
            <a:extLst xmlns:a="http://schemas.openxmlformats.org/drawingml/2006/main">
              <a:ext uri="{FF2B5EF4-FFF2-40B4-BE49-F238E27FC236}">
                <a16:creationId xmlns:a16="http://schemas.microsoft.com/office/drawing/2014/main" id="{B7050A9C-5873-4754-8D9D-B127A3FB2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10" name="直接连接符 109">
            <a:extLst xmlns:a="http://schemas.openxmlformats.org/drawingml/2006/main">
              <a:ext uri="{FF2B5EF4-FFF2-40B4-BE49-F238E27FC236}">
                <a16:creationId xmlns:a16="http://schemas.microsoft.com/office/drawing/2014/main" id="{1DDF999B-915D-4CD2-999C-FAA9327E3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2774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11" name="直接连接符 110">
            <a:extLst xmlns:a="http://schemas.openxmlformats.org/drawingml/2006/main">
              <a:ext uri="{FF2B5EF4-FFF2-40B4-BE49-F238E27FC236}">
                <a16:creationId xmlns:a16="http://schemas.microsoft.com/office/drawing/2014/main" id="{4EE3BF20-BD17-4CC5-BA20-DD86AC12A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3068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12" name="等腰三角形 111">
            <a:extLst xmlns:a="http://schemas.openxmlformats.org/drawingml/2006/main">
              <a:ext uri="{FF2B5EF4-FFF2-40B4-BE49-F238E27FC236}">
                <a16:creationId xmlns:a16="http://schemas.microsoft.com/office/drawing/2014/main" id="{8B64758C-5507-40E3-90A1-72C6F587B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097" y="986817"/>
            <a:ext cx="664192" cy="213744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00158163-E4A9-4028-B2F2-4425F06B8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143125"/>
            <a:ext cx="93345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8FAFF"/>
          </a:solidFill>
          <a:ln xmlns:a="http://schemas.openxmlformats.org/drawingml/2006/main" w="12383">
            <a:solidFill>
              <a:srgbClr val="B9D1EC"/>
            </a:solidFill>
            <a:prstDash val="solid"/>
          </a:ln>
        </p:spPr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794223D2-C05B-4322-BDA3-8295F5B7B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2257425"/>
            <a:ext cx="214312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F4C9A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0F4C9A"/>
                </a:solidFill>
                <a:latin typeface="微软雅黑"/>
                <a:ea typeface="微软雅黑"/>
                <a:cs typeface="微软雅黑"/>
              </a:rPr>
              <a:t>Next.js 中文控制台</a:t>
            </a:r>
          </a:p>
        </p:txBody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93874616-9A1D-405A-8E68-9D261C9F6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276475"/>
            <a:ext cx="5715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Dashboard / Features / Scenarios / Live Run / Reports</a:t>
            </a:r>
          </a:p>
        </p:txBody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C602EE43-C944-4AD3-86AF-2BAC64984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2733675"/>
            <a:ext cx="89916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4FBFF"/>
          </a:solidFill>
          <a:ln xmlns:a="http://schemas.openxmlformats.org/drawingml/2006/main" w="12383">
            <a:solidFill>
              <a:srgbClr val="B9D1EC"/>
            </a:solidFill>
            <a:prstDash val="solid"/>
          </a:ln>
        </p:spPr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31BC4FB0-3D57-4ACB-B046-74CE6A2C6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3575" y="2847975"/>
            <a:ext cx="214312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F4C9A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0F4C9A"/>
                </a:solidFill>
                <a:latin typeface="微软雅黑"/>
                <a:ea typeface="微软雅黑"/>
                <a:cs typeface="微软雅黑"/>
              </a:rPr>
              <a:t>REST API + SSE</a:t>
            </a:r>
          </a:p>
        </p:txBody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D72870A7-FE6D-4702-AC6F-581E6BE99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867025"/>
            <a:ext cx="5334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运行创建、事件推送、报告导出</a:t>
            </a:r>
          </a:p>
        </p:txBody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4E6BEBAA-2078-4E87-BA41-CFD83FEE4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3324225"/>
            <a:ext cx="86487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8FAFF"/>
          </a:solidFill>
          <a:ln xmlns:a="http://schemas.openxmlformats.org/drawingml/2006/main" w="12383">
            <a:solidFill>
              <a:srgbClr val="B9D1EC"/>
            </a:solidFill>
            <a:prstDash val="solid"/>
          </a:ln>
        </p:spPr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F1C47C2C-1A55-412D-92FF-2AC06720B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5025" y="3438525"/>
            <a:ext cx="214312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F4C9A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0F4C9A"/>
                </a:solidFill>
                <a:latin typeface="微软雅黑"/>
                <a:ea typeface="微软雅黑"/>
                <a:cs typeface="微软雅黑"/>
              </a:rPr>
              <a:t>FastAPI 后端</a:t>
            </a:r>
          </a:p>
        </p:txBody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32A80D52-0659-4253-9007-C67826499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457575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SQLModel / SQLite / ChromaDB / Artifact storage</a:t>
            </a:r>
          </a:p>
        </p:txBody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FF80B807-6176-483A-ACBF-C619A397B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3914775"/>
            <a:ext cx="83058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4FBFF"/>
          </a:solidFill>
          <a:ln xmlns:a="http://schemas.openxmlformats.org/drawingml/2006/main" w="12383">
            <a:solidFill>
              <a:srgbClr val="B9D1EC"/>
            </a:solidFill>
            <a:prstDash val="solid"/>
          </a:ln>
        </p:spPr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288C4934-4407-4AC9-B463-72AD63334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6475" y="4029075"/>
            <a:ext cx="214312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F4C9A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0F4C9A"/>
                </a:solidFill>
                <a:latin typeface="微软雅黑"/>
                <a:ea typeface="微软雅黑"/>
                <a:cs typeface="微软雅黑"/>
              </a:rPr>
              <a:t>LangGraph Workflow</a:t>
            </a:r>
          </a:p>
        </p:txBody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C1B9B304-8CBE-403D-9502-285043E57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4048125"/>
            <a:ext cx="457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ScenarioLoader → BrowserUseRun → Verifier → Reporter</a:t>
            </a:r>
          </a:p>
        </p:txBody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98EEB1DA-D53C-478A-B0A2-C29A4BE52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4505325"/>
            <a:ext cx="79629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8FAFF"/>
          </a:solidFill>
          <a:ln xmlns:a="http://schemas.openxmlformats.org/drawingml/2006/main" w="12383">
            <a:solidFill>
              <a:srgbClr val="B9D1EC"/>
            </a:solidFill>
            <a:prstDash val="solid"/>
          </a:ln>
        </p:spPr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B4D1D728-F6D4-46C9-9EAA-BBB2EE2F0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7925" y="4619625"/>
            <a:ext cx="214312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F4C9A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0F4C9A"/>
                </a:solidFill>
                <a:latin typeface="微软雅黑"/>
                <a:ea typeface="微软雅黑"/>
                <a:cs typeface="微软雅黑"/>
              </a:rPr>
              <a:t>browser-use Agent</a:t>
            </a:r>
          </a:p>
        </p:txBody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0C873ACC-17EA-429E-BB91-7D5283906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4638675"/>
            <a:ext cx="4191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DeepSeek / OpenAI-compatible / Browser Use hosted LLM</a:t>
            </a:r>
          </a:p>
        </p:txBody>
      </p: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5865D329-A90F-41DE-A11A-7726203B1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5095875"/>
            <a:ext cx="76200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4FBFF"/>
          </a:solidFill>
          <a:ln xmlns:a="http://schemas.openxmlformats.org/drawingml/2006/main" w="12383">
            <a:solidFill>
              <a:srgbClr val="B9D1EC"/>
            </a:solidFill>
            <a:prstDash val="solid"/>
          </a:ln>
        </p:spPr>
      </p:sp>
      <p:sp>
        <p:nvSpPr>
          <p:cNvPr id="130" name="">
            <a:extLst xmlns:a="http://schemas.openxmlformats.org/drawingml/2006/main">
              <a:ext uri="{FF2B5EF4-FFF2-40B4-BE49-F238E27FC236}">
                <a16:creationId xmlns:a16="http://schemas.microsoft.com/office/drawing/2014/main" id="{DDD7C6EC-BE92-4992-BEEF-DE686F1AE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5210175"/>
            <a:ext cx="214312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F4C9A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0F4C9A"/>
                </a:solidFill>
                <a:latin typeface="微软雅黑"/>
                <a:ea typeface="微软雅黑"/>
                <a:cs typeface="微软雅黑"/>
              </a:rPr>
              <a:t>验证与报告</a:t>
            </a:r>
          </a:p>
        </p:txBody>
      </p:sp>
      <p:sp>
        <p:nvSpPr>
          <p:cNvPr id="131" name="">
            <a:extLst xmlns:a="http://schemas.openxmlformats.org/drawingml/2006/main">
              <a:ext uri="{FF2B5EF4-FFF2-40B4-BE49-F238E27FC236}">
                <a16:creationId xmlns:a16="http://schemas.microsoft.com/office/drawing/2014/main" id="{29DC2288-9DC5-461E-BB25-5CA515BBB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29225"/>
            <a:ext cx="3810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Deterministic Verifier + GLM-4.6V + FailureClassifier</a:t>
            </a:r>
          </a:p>
        </p:txBody>
      </p:sp>
    </p:spTree>
    <p:extLst>
      <p:ext uri="{BB962C8B-B14F-4D97-AF65-F5344CB8AC3E}">
        <p14:creationId xmlns:p14="http://schemas.microsoft.com/office/powerpoint/2010/main" val="71849164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直角三角形 4">
            <a:extLst xmlns:a="http://schemas.openxmlformats.org/drawingml/2006/main">
              <a:ext uri="{FF2B5EF4-FFF2-40B4-BE49-F238E27FC236}">
                <a16:creationId xmlns:a16="http://schemas.microsoft.com/office/drawing/2014/main" id="{0A7C0DCB-7EEF-4038-B0F9-818B301C4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039139"/>
            <a:ext cx="1818861" cy="1818861"/>
          </a:xfrm>
          <a:prstGeom xmlns:a="http://schemas.openxmlformats.org/drawingml/2006/main" prst="rt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直角三角形 5">
            <a:extLst xmlns:a="http://schemas.openxmlformats.org/drawingml/2006/main">
              <a:ext uri="{FF2B5EF4-FFF2-40B4-BE49-F238E27FC236}">
                <a16:creationId xmlns:a16="http://schemas.microsoft.com/office/drawing/2014/main" id="{DD40740B-FE96-4EF6-86AD-CF918FD93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1">
            <a:off x="9786082" y="-1"/>
            <a:ext cx="2405917" cy="2405917"/>
          </a:xfrm>
          <a:prstGeom xmlns:a="http://schemas.openxmlformats.org/drawingml/2006/main" prst="rt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07EA6693-60B7-4D50-B21C-80AEA1D91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7091" y="1694838"/>
            <a:ext cx="1446530" cy="31534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9900" b="1">
                <a:solidFill>
                  <a:srgbClr val="174994">
                    <a:alpha val="38000"/>
                  </a:srgbClr>
                </a:solidFill>
                <a:latin typeface="Times New Roman"/>
                <a:ea typeface="Times New Roman"/>
                <a:cs typeface="Times New Roman"/>
              </a:rPr>
              <a:t>3</a:t>
            </a:r>
          </a:p>
        </p:txBody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326ABAB6-7A09-46C0-A59D-4BA7229D1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3028" y="2753201"/>
            <a:ext cx="2954655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600" b="1">
                <a:latin typeface="Times New Roman"/>
                <a:ea typeface="Times New Roman"/>
                <a:cs typeface="Times New Roman"/>
              </a:rPr>
              <a:t>研究框架介绍</a:t>
            </a:r>
          </a:p>
        </p:txBody>
      </p:sp>
      <p:sp>
        <p:nvSpPr>
          <p:cNvPr id="10" name="文本框 9">
            <a:extLst xmlns:a="http://schemas.openxmlformats.org/drawingml/2006/main">
              <a:ext uri="{FF2B5EF4-FFF2-40B4-BE49-F238E27FC236}">
                <a16:creationId xmlns:a16="http://schemas.microsoft.com/office/drawing/2014/main" id="{B176D3F8-51CC-4A58-AF83-F49915A18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3024" y="3612894"/>
            <a:ext cx="3005951" cy="33855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600">
                <a:latin typeface="Times New Roman"/>
                <a:ea typeface="Times New Roman"/>
                <a:cs typeface="Times New Roman"/>
              </a:rPr>
              <a:t>Research Framework Introduction</a:t>
            </a:r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D28486A4-1558-4BFD-A981-FF400CBF6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3487189" y="3512166"/>
            <a:ext cx="5238619" cy="4571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12" name="图片 1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2130f8bbfb9436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9513" y="78833"/>
            <a:ext cx="2554357" cy="538993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2956045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文本框 34">
            <a:extLst xmlns:a="http://schemas.openxmlformats.org/drawingml/2006/main">
              <a:ext uri="{FF2B5EF4-FFF2-40B4-BE49-F238E27FC236}">
                <a16:creationId xmlns:a16="http://schemas.microsoft.com/office/drawing/2014/main" id="{B4FBA366-54D4-4BA9-B42C-1177675AF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507" y="1470061"/>
            <a:ext cx="3300904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600"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3.1  整体技术栈</a:t>
            </a:r>
          </a:p>
        </p:txBody>
      </p:sp>
      <p:sp>
        <p:nvSpPr>
          <p:cNvPr id="47" name="矩形 46">
            <a:extLst xmlns:a="http://schemas.openxmlformats.org/drawingml/2006/main">
              <a:ext uri="{FF2B5EF4-FFF2-40B4-BE49-F238E27FC236}">
                <a16:creationId xmlns:a16="http://schemas.microsoft.com/office/drawing/2014/main" id="{B452C0D7-B37F-43A2-B486-58A1E2746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6759" y="6130925"/>
            <a:ext cx="508000" cy="50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solidFill>
              <a:srgbClr val="174994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lt1"/>
                </a:solidFill>
                <a:latin typeface="微软雅黑"/>
                <a:ea typeface="微软雅黑"/>
                <a:cs typeface="微软雅黑"/>
              </a:rPr>
              <a:t>11</a:t>
            </a:r>
          </a:p>
        </p:txBody>
      </p:sp>
      <p:sp>
        <p:nvSpPr>
          <p:cNvPr id="81" name="矩形 80">
            <a:extLst xmlns:a="http://schemas.openxmlformats.org/drawingml/2006/main">
              <a:ext uri="{FF2B5EF4-FFF2-40B4-BE49-F238E27FC236}">
                <a16:creationId xmlns:a16="http://schemas.microsoft.com/office/drawing/2014/main" id="{48B67799-EAB8-4038-8133-7AA3CC348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-1"/>
            <a:ext cx="12192000" cy="12037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2" name="矩形 81">
            <a:extLst xmlns:a="http://schemas.openxmlformats.org/drawingml/2006/main">
              <a:ext uri="{FF2B5EF4-FFF2-40B4-BE49-F238E27FC236}">
                <a16:creationId xmlns:a16="http://schemas.microsoft.com/office/drawing/2014/main" id="{7618DFB8-9A5A-456E-B964-39FCCC1C4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0"/>
            <a:ext cx="2650603" cy="120376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3" name="文本框 82">
            <a:extLst xmlns:a="http://schemas.openxmlformats.org/drawingml/2006/main">
              <a:ext uri="{FF2B5EF4-FFF2-40B4-BE49-F238E27FC236}">
                <a16:creationId xmlns:a16="http://schemas.microsoft.com/office/drawing/2014/main" id="{EE8BAED2-0ED5-4BBE-89F5-3C9830933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7216"/>
            <a:ext cx="2316627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研究背景及意义</a:t>
            </a:r>
          </a:p>
        </p:txBody>
      </p:sp>
      <p:sp>
        <p:nvSpPr>
          <p:cNvPr id="84" name="文本框 83">
            <a:extLst xmlns:a="http://schemas.openxmlformats.org/drawingml/2006/main">
              <a:ext uri="{FF2B5EF4-FFF2-40B4-BE49-F238E27FC236}">
                <a16:creationId xmlns:a16="http://schemas.microsoft.com/office/drawing/2014/main" id="{F0916D0F-A50A-4E89-979A-0657F8E39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7873" y="417216"/>
            <a:ext cx="295465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研究目标与方案</a:t>
            </a:r>
          </a:p>
        </p:txBody>
      </p:sp>
      <p:sp>
        <p:nvSpPr>
          <p:cNvPr id="85" name="文本框 84">
            <a:extLst xmlns:a="http://schemas.openxmlformats.org/drawingml/2006/main">
              <a:ext uri="{FF2B5EF4-FFF2-40B4-BE49-F238E27FC236}">
                <a16:creationId xmlns:a16="http://schemas.microsoft.com/office/drawing/2014/main" id="{D60737E1-A6B8-41C4-A7A8-7A1BAEF6D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373" y="427155"/>
            <a:ext cx="2954655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研究框架介绍</a:t>
            </a:r>
          </a:p>
        </p:txBody>
      </p:sp>
      <p:sp>
        <p:nvSpPr>
          <p:cNvPr id="86" name="文本框 85">
            <a:extLst xmlns:a="http://schemas.openxmlformats.org/drawingml/2006/main">
              <a:ext uri="{FF2B5EF4-FFF2-40B4-BE49-F238E27FC236}">
                <a16:creationId xmlns:a16="http://schemas.microsoft.com/office/drawing/2014/main" id="{66297B84-6EFF-40AB-A53D-3C70859BC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0874" y="417215"/>
            <a:ext cx="2316628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研究进度安排</a:t>
            </a:r>
          </a:p>
        </p:txBody>
      </p:sp>
      <p:sp>
        <p:nvSpPr>
          <p:cNvPr id="87" name="文本框 86">
            <a:extLst xmlns:a="http://schemas.openxmlformats.org/drawingml/2006/main">
              <a:ext uri="{FF2B5EF4-FFF2-40B4-BE49-F238E27FC236}">
                <a16:creationId xmlns:a16="http://schemas.microsoft.com/office/drawing/2014/main" id="{75DC209D-EBD6-48A3-A875-278F50EE2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4348" y="427155"/>
            <a:ext cx="176368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小组分工</a:t>
            </a:r>
          </a:p>
        </p:txBody>
      </p:sp>
      <p:pic>
        <p:nvPicPr>
          <p:cNvPr id="88" name="图片 8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7cf0dcd79534c1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5963" y="168319"/>
            <a:ext cx="867126" cy="867126"/>
          </a:xfrm>
          <a:prstGeom xmlns:a="http://schemas.openxmlformats.org/drawingml/2006/main" prst="rect">
            <a:avLst/>
          </a:prstGeom>
        </p:spPr>
      </p:pic>
      <p:sp>
        <p:nvSpPr>
          <p:cNvPr id="89" name="直接连接符 88">
            <a:extLst xmlns:a="http://schemas.openxmlformats.org/drawingml/2006/main">
              <a:ext uri="{FF2B5EF4-FFF2-40B4-BE49-F238E27FC236}">
                <a16:creationId xmlns:a16="http://schemas.microsoft.com/office/drawing/2014/main" id="{AEC731C6-3A93-48EC-9740-0B376D106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6855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0" name="直接连接符 89">
            <a:extLst xmlns:a="http://schemas.openxmlformats.org/drawingml/2006/main">
              <a:ext uri="{FF2B5EF4-FFF2-40B4-BE49-F238E27FC236}">
                <a16:creationId xmlns:a16="http://schemas.microsoft.com/office/drawing/2014/main" id="{F4DDAE19-5915-4940-B7E9-3DE0F34D6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1" name="直接连接符 90">
            <a:extLst xmlns:a="http://schemas.openxmlformats.org/drawingml/2006/main">
              <a:ext uri="{FF2B5EF4-FFF2-40B4-BE49-F238E27FC236}">
                <a16:creationId xmlns:a16="http://schemas.microsoft.com/office/drawing/2014/main" id="{864E3B89-389B-49AF-AAD1-09CADE7DA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2774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2" name="直接连接符 91">
            <a:extLst xmlns:a="http://schemas.openxmlformats.org/drawingml/2006/main">
              <a:ext uri="{FF2B5EF4-FFF2-40B4-BE49-F238E27FC236}">
                <a16:creationId xmlns:a16="http://schemas.microsoft.com/office/drawing/2014/main" id="{017FED8B-64D0-4756-B26A-A577B7463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3068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3" name="等腰三角形 92">
            <a:extLst xmlns:a="http://schemas.openxmlformats.org/drawingml/2006/main">
              <a:ext uri="{FF2B5EF4-FFF2-40B4-BE49-F238E27FC236}">
                <a16:creationId xmlns:a16="http://schemas.microsoft.com/office/drawing/2014/main" id="{D51AB20F-761E-45F5-B030-75D3E3FC8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4604" y="986817"/>
            <a:ext cx="664192" cy="213744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53010EAE-4B9E-4A8F-9E66-8D970EA4B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238375"/>
            <a:ext cx="4762500" cy="1285875"/>
          </a:xfrm>
          <a:prstGeom xmlns:a="http://schemas.openxmlformats.org/drawingml/2006/main" prst="roundRect">
            <a:avLst>
              <a:gd name="adj" fmla="val 59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6E2F3"/>
            </a:solidFill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82F54216-0132-4CFB-86AA-5ED8EDD58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238375"/>
            <a:ext cx="66675" cy="1285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4C9A"/>
          </a:solidFill>
          <a:ln xmlns:a="http://schemas.openxmlformats.org/drawingml/2006/main" w="0">
            <a:solidFill>
              <a:srgbClr val="0F4C9A"/>
            </a:solidFill>
            <a:prstDash val="solid"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D0CC0AA7-90C9-4B81-AACC-61A37FDE2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381250"/>
            <a:ext cx="4438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4C9A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0F4C9A"/>
                </a:solidFill>
                <a:latin typeface="微软雅黑"/>
                <a:ea typeface="微软雅黑"/>
                <a:cs typeface="微软雅黑"/>
              </a:rPr>
              <a:t>前端展示层</a:t>
            </a:r>
          </a:p>
        </p:txBody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E19D4E38-1651-409C-AEEB-F7631C604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695575"/>
            <a:ext cx="443865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Next.js App Router</a:t>
            </a:r>
          </a:p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TypeScript / Tailwind CSS</a:t>
            </a:r>
          </a:p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Radix UI / Lucide Icons</a:t>
            </a:r>
          </a:p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React Flow / TanStack Query / Recharts</a:t>
            </a:r>
          </a:p>
        </p:txBody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80E1B101-1873-46CA-84FD-CC5A7B18C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238375"/>
            <a:ext cx="4762500" cy="1285875"/>
          </a:xfrm>
          <a:prstGeom xmlns:a="http://schemas.openxmlformats.org/drawingml/2006/main" prst="roundRect">
            <a:avLst>
              <a:gd name="adj" fmla="val 59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6E2F3"/>
            </a:solidFill>
            <a:prstDash val="solid"/>
          </a:ln>
        </p:spPr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2FCD607C-3CF0-4636-AE1E-78BB6ED1E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238375"/>
            <a:ext cx="66675" cy="1285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B8D7"/>
          </a:solidFill>
          <a:ln xmlns:a="http://schemas.openxmlformats.org/drawingml/2006/main" w="0">
            <a:solidFill>
              <a:srgbClr val="11B8D7"/>
            </a:solidFill>
            <a:prstDash val="solid"/>
          </a:ln>
        </p:spPr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6424DF73-94DE-4127-AFF2-5758BAEC7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381250"/>
            <a:ext cx="4438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B8D7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11B8D7"/>
                </a:solidFill>
                <a:latin typeface="微软雅黑"/>
                <a:ea typeface="微软雅黑"/>
                <a:cs typeface="微软雅黑"/>
              </a:rPr>
              <a:t>后端服务层</a:t>
            </a:r>
          </a:p>
        </p:txBody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0B2A966A-412E-4049-94A9-DA6D09618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695575"/>
            <a:ext cx="443865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FastAPI / SQLModel</a:t>
            </a:r>
          </a:p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SQLite / ChromaDB</a:t>
            </a:r>
          </a:p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sse-starlette</a:t>
            </a:r>
          </a:p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persistence + artifacts</a:t>
            </a:r>
          </a:p>
        </p:txBody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F9111116-F0DC-4A3A-A79B-3A2A819C6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971925"/>
            <a:ext cx="4762500" cy="1285875"/>
          </a:xfrm>
          <a:prstGeom xmlns:a="http://schemas.openxmlformats.org/drawingml/2006/main" prst="roundRect">
            <a:avLst>
              <a:gd name="adj" fmla="val 59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6E2F3"/>
            </a:solidFill>
            <a:prstDash val="solid"/>
          </a:ln>
        </p:spPr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268B669B-759E-44AE-9B0D-9C6833EDD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971925"/>
            <a:ext cx="66675" cy="1285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4C9A"/>
          </a:solidFill>
          <a:ln xmlns:a="http://schemas.openxmlformats.org/drawingml/2006/main" w="0">
            <a:solidFill>
              <a:srgbClr val="0F4C9A"/>
            </a:solidFill>
            <a:prstDash val="solid"/>
          </a:ln>
        </p:spPr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F4F2E486-9846-4A47-9CEA-4F00757A9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114800"/>
            <a:ext cx="4438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4C9A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0F4C9A"/>
                </a:solidFill>
                <a:latin typeface="微软雅黑"/>
                <a:ea typeface="微软雅黑"/>
                <a:cs typeface="微软雅黑"/>
              </a:rPr>
              <a:t>智能体层</a:t>
            </a:r>
          </a:p>
        </p:txBody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22934D49-DA86-4304-9E09-50384941B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429125"/>
            <a:ext cx="443865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LangGraph workflow</a:t>
            </a:r>
          </a:p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browser-use Agent</a:t>
            </a:r>
          </a:p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OpenAI-compatible adapter</a:t>
            </a:r>
          </a:p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langchain-deepseek adapter</a:t>
            </a:r>
          </a:p>
        </p:txBody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82CECA05-922C-4554-969E-F9B44E92D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971925"/>
            <a:ext cx="4762500" cy="1285875"/>
          </a:xfrm>
          <a:prstGeom xmlns:a="http://schemas.openxmlformats.org/drawingml/2006/main" prst="roundRect">
            <a:avLst>
              <a:gd name="adj" fmla="val 59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6E2F3"/>
            </a:solidFill>
            <a:prstDash val="solid"/>
          </a:ln>
        </p:spPr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BFDF514B-5404-44E5-BEF2-E9A9D6F9F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971925"/>
            <a:ext cx="66675" cy="1285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B8D7"/>
          </a:solidFill>
          <a:ln xmlns:a="http://schemas.openxmlformats.org/drawingml/2006/main" w="0">
            <a:solidFill>
              <a:srgbClr val="11B8D7"/>
            </a:solidFill>
            <a:prstDash val="solid"/>
          </a:ln>
        </p:spPr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2610DD01-A634-495B-91CF-CAB4A5E60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114800"/>
            <a:ext cx="4438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B8D7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11B8D7"/>
                </a:solidFill>
                <a:latin typeface="微软雅黑"/>
                <a:ea typeface="微软雅黑"/>
                <a:cs typeface="微软雅黑"/>
              </a:rPr>
              <a:t>验证与存储</a:t>
            </a:r>
          </a:p>
        </p:txBody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3DF3DC9B-4933-4AF8-858E-ED1ACC727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429125"/>
            <a:ext cx="443865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Deterministic Verifier</a:t>
            </a:r>
          </a:p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GLM-4.6V adapter</a:t>
            </a:r>
          </a:p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FailureClassifier</a:t>
            </a:r>
          </a:p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data/runs/{run_id}/</a:t>
            </a:r>
          </a:p>
        </p:txBody>
      </p:sp>
    </p:spTree>
    <p:extLst>
      <p:ext uri="{BB962C8B-B14F-4D97-AF65-F5344CB8AC3E}">
        <p14:creationId xmlns:p14="http://schemas.microsoft.com/office/powerpoint/2010/main" val="1361452389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文本框 34">
            <a:extLst xmlns:a="http://schemas.openxmlformats.org/drawingml/2006/main">
              <a:ext uri="{FF2B5EF4-FFF2-40B4-BE49-F238E27FC236}">
                <a16:creationId xmlns:a16="http://schemas.microsoft.com/office/drawing/2014/main" id="{B4FBA366-54D4-4BA9-B42C-1177675AF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507" y="1470061"/>
            <a:ext cx="3300904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600"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3.2  系统模块划分</a:t>
            </a:r>
          </a:p>
        </p:txBody>
      </p:sp>
      <p:sp>
        <p:nvSpPr>
          <p:cNvPr id="47" name="矩形 46">
            <a:extLst xmlns:a="http://schemas.openxmlformats.org/drawingml/2006/main">
              <a:ext uri="{FF2B5EF4-FFF2-40B4-BE49-F238E27FC236}">
                <a16:creationId xmlns:a16="http://schemas.microsoft.com/office/drawing/2014/main" id="{B452C0D7-B37F-43A2-B486-58A1E2746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6759" y="6130925"/>
            <a:ext cx="508000" cy="50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solidFill>
              <a:srgbClr val="174994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lt1"/>
                </a:solidFill>
                <a:latin typeface="微软雅黑"/>
                <a:ea typeface="微软雅黑"/>
                <a:cs typeface="微软雅黑"/>
              </a:rPr>
              <a:t>12</a:t>
            </a:r>
          </a:p>
        </p:txBody>
      </p:sp>
      <p:sp>
        <p:nvSpPr>
          <p:cNvPr id="81" name="矩形 80">
            <a:extLst xmlns:a="http://schemas.openxmlformats.org/drawingml/2006/main">
              <a:ext uri="{FF2B5EF4-FFF2-40B4-BE49-F238E27FC236}">
                <a16:creationId xmlns:a16="http://schemas.microsoft.com/office/drawing/2014/main" id="{48B67799-EAB8-4038-8133-7AA3CC348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-1"/>
            <a:ext cx="12192000" cy="12037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2" name="矩形 81">
            <a:extLst xmlns:a="http://schemas.openxmlformats.org/drawingml/2006/main">
              <a:ext uri="{FF2B5EF4-FFF2-40B4-BE49-F238E27FC236}">
                <a16:creationId xmlns:a16="http://schemas.microsoft.com/office/drawing/2014/main" id="{7618DFB8-9A5A-456E-B964-39FCCC1C4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0"/>
            <a:ext cx="2650603" cy="120376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3" name="文本框 82">
            <a:extLst xmlns:a="http://schemas.openxmlformats.org/drawingml/2006/main">
              <a:ext uri="{FF2B5EF4-FFF2-40B4-BE49-F238E27FC236}">
                <a16:creationId xmlns:a16="http://schemas.microsoft.com/office/drawing/2014/main" id="{EE8BAED2-0ED5-4BBE-89F5-3C9830933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7216"/>
            <a:ext cx="2316627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研究背景及意义</a:t>
            </a:r>
          </a:p>
        </p:txBody>
      </p:sp>
      <p:sp>
        <p:nvSpPr>
          <p:cNvPr id="84" name="文本框 83">
            <a:extLst xmlns:a="http://schemas.openxmlformats.org/drawingml/2006/main">
              <a:ext uri="{FF2B5EF4-FFF2-40B4-BE49-F238E27FC236}">
                <a16:creationId xmlns:a16="http://schemas.microsoft.com/office/drawing/2014/main" id="{F0916D0F-A50A-4E89-979A-0657F8E39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7873" y="417216"/>
            <a:ext cx="295465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研究目标与方案</a:t>
            </a:r>
          </a:p>
        </p:txBody>
      </p:sp>
      <p:sp>
        <p:nvSpPr>
          <p:cNvPr id="85" name="文本框 84">
            <a:extLst xmlns:a="http://schemas.openxmlformats.org/drawingml/2006/main">
              <a:ext uri="{FF2B5EF4-FFF2-40B4-BE49-F238E27FC236}">
                <a16:creationId xmlns:a16="http://schemas.microsoft.com/office/drawing/2014/main" id="{D60737E1-A6B8-41C4-A7A8-7A1BAEF6D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373" y="427155"/>
            <a:ext cx="2954655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研究框架介绍</a:t>
            </a:r>
          </a:p>
        </p:txBody>
      </p:sp>
      <p:sp>
        <p:nvSpPr>
          <p:cNvPr id="86" name="文本框 85">
            <a:extLst xmlns:a="http://schemas.openxmlformats.org/drawingml/2006/main">
              <a:ext uri="{FF2B5EF4-FFF2-40B4-BE49-F238E27FC236}">
                <a16:creationId xmlns:a16="http://schemas.microsoft.com/office/drawing/2014/main" id="{66297B84-6EFF-40AB-A53D-3C70859BC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0874" y="417215"/>
            <a:ext cx="2316628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研究进度安排</a:t>
            </a:r>
          </a:p>
        </p:txBody>
      </p:sp>
      <p:sp>
        <p:nvSpPr>
          <p:cNvPr id="87" name="文本框 86">
            <a:extLst xmlns:a="http://schemas.openxmlformats.org/drawingml/2006/main">
              <a:ext uri="{FF2B5EF4-FFF2-40B4-BE49-F238E27FC236}">
                <a16:creationId xmlns:a16="http://schemas.microsoft.com/office/drawing/2014/main" id="{75DC209D-EBD6-48A3-A875-278F50EE2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4348" y="427155"/>
            <a:ext cx="176368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小组分工</a:t>
            </a:r>
          </a:p>
        </p:txBody>
      </p:sp>
      <p:pic>
        <p:nvPicPr>
          <p:cNvPr id="88" name="图片 8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2e958ef623947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5963" y="168319"/>
            <a:ext cx="867126" cy="867126"/>
          </a:xfrm>
          <a:prstGeom xmlns:a="http://schemas.openxmlformats.org/drawingml/2006/main" prst="rect">
            <a:avLst/>
          </a:prstGeom>
        </p:spPr>
      </p:pic>
      <p:sp>
        <p:nvSpPr>
          <p:cNvPr id="89" name="直接连接符 88">
            <a:extLst xmlns:a="http://schemas.openxmlformats.org/drawingml/2006/main">
              <a:ext uri="{FF2B5EF4-FFF2-40B4-BE49-F238E27FC236}">
                <a16:creationId xmlns:a16="http://schemas.microsoft.com/office/drawing/2014/main" id="{AEC731C6-3A93-48EC-9740-0B376D106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6855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0" name="直接连接符 89">
            <a:extLst xmlns:a="http://schemas.openxmlformats.org/drawingml/2006/main">
              <a:ext uri="{FF2B5EF4-FFF2-40B4-BE49-F238E27FC236}">
                <a16:creationId xmlns:a16="http://schemas.microsoft.com/office/drawing/2014/main" id="{F4DDAE19-5915-4940-B7E9-3DE0F34D6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1" name="直接连接符 90">
            <a:extLst xmlns:a="http://schemas.openxmlformats.org/drawingml/2006/main">
              <a:ext uri="{FF2B5EF4-FFF2-40B4-BE49-F238E27FC236}">
                <a16:creationId xmlns:a16="http://schemas.microsoft.com/office/drawing/2014/main" id="{864E3B89-389B-49AF-AAD1-09CADE7DA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2774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2" name="直接连接符 91">
            <a:extLst xmlns:a="http://schemas.openxmlformats.org/drawingml/2006/main">
              <a:ext uri="{FF2B5EF4-FFF2-40B4-BE49-F238E27FC236}">
                <a16:creationId xmlns:a16="http://schemas.microsoft.com/office/drawing/2014/main" id="{017FED8B-64D0-4756-B26A-A577B7463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3068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3" name="等腰三角形 92">
            <a:extLst xmlns:a="http://schemas.openxmlformats.org/drawingml/2006/main">
              <a:ext uri="{FF2B5EF4-FFF2-40B4-BE49-F238E27FC236}">
                <a16:creationId xmlns:a16="http://schemas.microsoft.com/office/drawing/2014/main" id="{D51AB20F-761E-45F5-B030-75D3E3FC8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4604" y="986817"/>
            <a:ext cx="664192" cy="213744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08E54760-0789-4A92-A5F2-49F9DFFB6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2669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4C9A"/>
          </a:solidFill>
          <a:ln xmlns:a="http://schemas.openxmlformats.org/drawingml/2006/main" w="12383">
            <a:solidFill>
              <a:srgbClr val="0F4C9A"/>
            </a:solidFill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A5DBAE84-FF26-4B99-9671-A749BA95E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362200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DOC</a:t>
            </a:r>
          </a:p>
        </p:txBody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D279FAEC-C313-4DB6-A498-7D6ED2CE4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2190750"/>
            <a:ext cx="83820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9FCFF"/>
          </a:solidFill>
          <a:ln xmlns:a="http://schemas.openxmlformats.org/drawingml/2006/main" w="12383">
            <a:solidFill>
              <a:srgbClr val="BFD5EF"/>
            </a:solidFill>
            <a:prstDash val="solid"/>
          </a:ln>
        </p:spPr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F95B7F70-4A5E-488F-AF2B-3DC1E8417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2324100"/>
            <a:ext cx="1809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手册知识层</a:t>
            </a:r>
          </a:p>
        </p:txBody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CF7369DC-D3D0-4191-83BE-DC100098A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343150"/>
            <a:ext cx="4095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爬取 / 清洗 / 切片 / 索引</a:t>
            </a:r>
          </a:p>
        </p:txBody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180FEE81-73F1-4BE1-88B9-1604E6E1A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286000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D38F85A4-1C67-4757-B964-E1B596828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276475"/>
            <a:ext cx="95250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EF7FF"/>
          </a:solidFill>
          <a:ln xmlns:a="http://schemas.openxmlformats.org/drawingml/2006/main" w="12383">
            <a:solidFill>
              <a:srgbClr val="BFD5EF"/>
            </a:solidFill>
            <a:prstDash val="solid"/>
          </a:ln>
        </p:spPr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E052114B-46B2-4C98-9CB0-9724B2CE2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9527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B8D7"/>
          </a:solidFill>
          <a:ln xmlns:a="http://schemas.openxmlformats.org/drawingml/2006/main" w="12383">
            <a:solidFill>
              <a:srgbClr val="11B8D7"/>
            </a:solidFill>
            <a:prstDash val="solid"/>
          </a:ln>
        </p:spPr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EE05F6AC-DEC0-4B7C-B9FF-B4341C591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048000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SCN</a:t>
            </a:r>
          </a:p>
        </p:txBody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EB142E1F-0C7E-406E-838A-1D1D8DC23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2876550"/>
            <a:ext cx="83820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9FCFF"/>
          </a:solidFill>
          <a:ln xmlns:a="http://schemas.openxmlformats.org/drawingml/2006/main" w="12383">
            <a:solidFill>
              <a:srgbClr val="BFD5EF"/>
            </a:solidFill>
            <a:prstDash val="solid"/>
          </a:ln>
        </p:spPr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5457AF70-5CEF-432B-B771-3FB674765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3009900"/>
            <a:ext cx="1809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场景生成层</a:t>
            </a:r>
          </a:p>
        </p:txBody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867378FC-7EEE-4932-9951-D60E1A4AA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028950"/>
            <a:ext cx="4095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功能点抽取 / 零 locator 场景</a:t>
            </a:r>
          </a:p>
        </p:txBody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7FB3C820-EFF8-41B6-9765-6EA11F20C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971800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82A2E02E-68D0-4882-89AF-F34C3EE5A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962275"/>
            <a:ext cx="95250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EF7FF"/>
          </a:solidFill>
          <a:ln xmlns:a="http://schemas.openxmlformats.org/drawingml/2006/main" w="12383">
            <a:solidFill>
              <a:srgbClr val="BFD5EF"/>
            </a:solidFill>
            <a:prstDash val="solid"/>
          </a:ln>
        </p:spPr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EDE6325A-3028-4608-80C6-E290606A1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6385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A6A6"/>
          </a:solidFill>
          <a:ln xmlns:a="http://schemas.openxmlformats.org/drawingml/2006/main" w="12383">
            <a:solidFill>
              <a:srgbClr val="10A6A6"/>
            </a:solidFill>
            <a:prstDash val="solid"/>
          </a:ln>
        </p:spPr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330D6EFE-DAAE-4703-AF71-CEC5C1D39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733800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AGT</a:t>
            </a:r>
          </a:p>
        </p:txBody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F03DB9E9-45B5-4455-B989-5285BC985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3562350"/>
            <a:ext cx="83820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9FCFF"/>
          </a:solidFill>
          <a:ln xmlns:a="http://schemas.openxmlformats.org/drawingml/2006/main" w="12383">
            <a:solidFill>
              <a:srgbClr val="BFD5EF"/>
            </a:solidFill>
            <a:prstDash val="solid"/>
          </a:ln>
        </p:spPr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FE891731-DF0D-48D2-9E25-99FC3ABB3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3695700"/>
            <a:ext cx="1809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智能体执行层</a:t>
            </a:r>
          </a:p>
        </p:txBody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3D012E21-32B4-44DC-B23F-1625578FD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714750"/>
            <a:ext cx="4095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任务构造 / browser-use 执行</a:t>
            </a:r>
          </a:p>
        </p:txBody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EF64A7E1-743F-4A1D-836E-8015EA3BD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657600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044F6062-45AD-4BFA-A98F-56F3681F7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648075"/>
            <a:ext cx="95250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EF7FF"/>
          </a:solidFill>
          <a:ln xmlns:a="http://schemas.openxmlformats.org/drawingml/2006/main" w="12383">
            <a:solidFill>
              <a:srgbClr val="BFD5EF"/>
            </a:solidFill>
            <a:prstDash val="solid"/>
          </a:ln>
        </p:spPr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7E4D5EB1-59A7-488C-9921-40C7914FC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3243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AE60"/>
          </a:solidFill>
          <a:ln xmlns:a="http://schemas.openxmlformats.org/drawingml/2006/main" w="12383">
            <a:solidFill>
              <a:srgbClr val="27AE60"/>
            </a:solidFill>
            <a:prstDash val="solid"/>
          </a:ln>
        </p:spPr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DC052547-DC71-4DBC-A1A7-373408CD3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419600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CHK</a:t>
            </a:r>
          </a:p>
        </p:txBody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696985CE-93F0-4E2F-B86E-AACAAC814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4248150"/>
            <a:ext cx="83820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9FCFF"/>
          </a:solidFill>
          <a:ln xmlns:a="http://schemas.openxmlformats.org/drawingml/2006/main" w="12383">
            <a:solidFill>
              <a:srgbClr val="BFD5EF"/>
            </a:solidFill>
            <a:prstDash val="solid"/>
          </a:ln>
        </p:spPr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D26400D6-5482-4B8B-B2DD-DD5D6D395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4381500"/>
            <a:ext cx="1809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验证与诊断层</a:t>
            </a:r>
          </a:p>
        </p:txBody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04D3E0B0-D3AA-4A74-99D0-42505E878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400550"/>
            <a:ext cx="4095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确定性验证 / GLM 视觉 / 分类</a:t>
            </a:r>
          </a:p>
        </p:txBody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3463AA5A-A129-4990-95F1-392073D19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4343400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D13D573A-7F03-4C43-BF33-8613F2557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4333875"/>
            <a:ext cx="95250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EF7FF"/>
          </a:solidFill>
          <a:ln xmlns:a="http://schemas.openxmlformats.org/drawingml/2006/main" w="12383">
            <a:solidFill>
              <a:srgbClr val="BFD5EF"/>
            </a:solidFill>
            <a:prstDash val="solid"/>
          </a:ln>
        </p:spPr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F9F43C9C-4CB8-446B-BAF7-447ED1C05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0101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A623"/>
          </a:solidFill>
          <a:ln xmlns:a="http://schemas.openxmlformats.org/drawingml/2006/main" w="12383">
            <a:solidFill>
              <a:srgbClr val="F5A623"/>
            </a:solidFill>
            <a:prstDash val="solid"/>
          </a:ln>
        </p:spPr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E4650429-1A2C-4FD0-BABB-398A8BBF0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105400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UI</a:t>
            </a:r>
          </a:p>
        </p:txBody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DABC6C14-785F-40E7-9DB3-5B672157A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4933950"/>
            <a:ext cx="83820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9FCFF"/>
          </a:solidFill>
          <a:ln xmlns:a="http://schemas.openxmlformats.org/drawingml/2006/main" w="12383">
            <a:solidFill>
              <a:srgbClr val="BFD5EF"/>
            </a:solidFill>
            <a:prstDash val="solid"/>
          </a:ln>
        </p:spPr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0EFA9D2F-96A9-44BE-A02D-C127F1646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5067300"/>
            <a:ext cx="1809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前端控制台层</a:t>
            </a:r>
          </a:p>
        </p:txBody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2F32A4BB-AEA3-4BF9-A1E6-9560F330B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5086350"/>
            <a:ext cx="4095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状态可视化 / 报告 / 运行历史</a:t>
            </a:r>
          </a:p>
        </p:txBody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4CE7E111-18B1-4485-BDEE-4D67794AE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5029200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C31A9907-2958-4C67-8DA7-8444FF9FB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5019675"/>
            <a:ext cx="95250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EF7FF"/>
          </a:solidFill>
          <a:ln xmlns:a="http://schemas.openxmlformats.org/drawingml/2006/main" w="12383">
            <a:solidFill>
              <a:srgbClr val="BFD5EF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361452389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文本框 34">
            <a:extLst xmlns:a="http://schemas.openxmlformats.org/drawingml/2006/main">
              <a:ext uri="{FF2B5EF4-FFF2-40B4-BE49-F238E27FC236}">
                <a16:creationId xmlns:a16="http://schemas.microsoft.com/office/drawing/2014/main" id="{B4FBA366-54D4-4BA9-B42C-1177675AF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507" y="1470061"/>
            <a:ext cx="3300904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600"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3.3  手册知识层与场景生成层</a:t>
            </a:r>
          </a:p>
        </p:txBody>
      </p:sp>
      <p:sp>
        <p:nvSpPr>
          <p:cNvPr id="47" name="矩形 46">
            <a:extLst xmlns:a="http://schemas.openxmlformats.org/drawingml/2006/main">
              <a:ext uri="{FF2B5EF4-FFF2-40B4-BE49-F238E27FC236}">
                <a16:creationId xmlns:a16="http://schemas.microsoft.com/office/drawing/2014/main" id="{B452C0D7-B37F-43A2-B486-58A1E2746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6759" y="6130925"/>
            <a:ext cx="508000" cy="50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solidFill>
              <a:srgbClr val="174994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lt1"/>
                </a:solidFill>
                <a:latin typeface="微软雅黑"/>
                <a:ea typeface="微软雅黑"/>
                <a:cs typeface="微软雅黑"/>
              </a:rPr>
              <a:t>13</a:t>
            </a:r>
          </a:p>
        </p:txBody>
      </p:sp>
      <p:sp>
        <p:nvSpPr>
          <p:cNvPr id="81" name="矩形 80">
            <a:extLst xmlns:a="http://schemas.openxmlformats.org/drawingml/2006/main">
              <a:ext uri="{FF2B5EF4-FFF2-40B4-BE49-F238E27FC236}">
                <a16:creationId xmlns:a16="http://schemas.microsoft.com/office/drawing/2014/main" id="{48B67799-EAB8-4038-8133-7AA3CC348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-1"/>
            <a:ext cx="12192000" cy="12037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2" name="矩形 81">
            <a:extLst xmlns:a="http://schemas.openxmlformats.org/drawingml/2006/main">
              <a:ext uri="{FF2B5EF4-FFF2-40B4-BE49-F238E27FC236}">
                <a16:creationId xmlns:a16="http://schemas.microsoft.com/office/drawing/2014/main" id="{7618DFB8-9A5A-456E-B964-39FCCC1C4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0"/>
            <a:ext cx="2650603" cy="120376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3" name="文本框 82">
            <a:extLst xmlns:a="http://schemas.openxmlformats.org/drawingml/2006/main">
              <a:ext uri="{FF2B5EF4-FFF2-40B4-BE49-F238E27FC236}">
                <a16:creationId xmlns:a16="http://schemas.microsoft.com/office/drawing/2014/main" id="{EE8BAED2-0ED5-4BBE-89F5-3C9830933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7216"/>
            <a:ext cx="2316627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研究背景及意义</a:t>
            </a:r>
          </a:p>
        </p:txBody>
      </p:sp>
      <p:sp>
        <p:nvSpPr>
          <p:cNvPr id="84" name="文本框 83">
            <a:extLst xmlns:a="http://schemas.openxmlformats.org/drawingml/2006/main">
              <a:ext uri="{FF2B5EF4-FFF2-40B4-BE49-F238E27FC236}">
                <a16:creationId xmlns:a16="http://schemas.microsoft.com/office/drawing/2014/main" id="{F0916D0F-A50A-4E89-979A-0657F8E39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7873" y="417216"/>
            <a:ext cx="295465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研究目标与方案</a:t>
            </a:r>
          </a:p>
        </p:txBody>
      </p:sp>
      <p:sp>
        <p:nvSpPr>
          <p:cNvPr id="85" name="文本框 84">
            <a:extLst xmlns:a="http://schemas.openxmlformats.org/drawingml/2006/main">
              <a:ext uri="{FF2B5EF4-FFF2-40B4-BE49-F238E27FC236}">
                <a16:creationId xmlns:a16="http://schemas.microsoft.com/office/drawing/2014/main" id="{D60737E1-A6B8-41C4-A7A8-7A1BAEF6D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373" y="427155"/>
            <a:ext cx="2954655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研究框架介绍</a:t>
            </a:r>
          </a:p>
        </p:txBody>
      </p:sp>
      <p:sp>
        <p:nvSpPr>
          <p:cNvPr id="86" name="文本框 85">
            <a:extLst xmlns:a="http://schemas.openxmlformats.org/drawingml/2006/main">
              <a:ext uri="{FF2B5EF4-FFF2-40B4-BE49-F238E27FC236}">
                <a16:creationId xmlns:a16="http://schemas.microsoft.com/office/drawing/2014/main" id="{66297B84-6EFF-40AB-A53D-3C70859BC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0874" y="417215"/>
            <a:ext cx="2316628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研究进度安排</a:t>
            </a:r>
          </a:p>
        </p:txBody>
      </p:sp>
      <p:sp>
        <p:nvSpPr>
          <p:cNvPr id="87" name="文本框 86">
            <a:extLst xmlns:a="http://schemas.openxmlformats.org/drawingml/2006/main">
              <a:ext uri="{FF2B5EF4-FFF2-40B4-BE49-F238E27FC236}">
                <a16:creationId xmlns:a16="http://schemas.microsoft.com/office/drawing/2014/main" id="{75DC209D-EBD6-48A3-A875-278F50EE2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4348" y="427155"/>
            <a:ext cx="176368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小组分工</a:t>
            </a:r>
          </a:p>
        </p:txBody>
      </p:sp>
      <p:pic>
        <p:nvPicPr>
          <p:cNvPr id="88" name="图片 8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508b0f2d3254ee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5963" y="168319"/>
            <a:ext cx="867126" cy="867126"/>
          </a:xfrm>
          <a:prstGeom xmlns:a="http://schemas.openxmlformats.org/drawingml/2006/main" prst="rect">
            <a:avLst/>
          </a:prstGeom>
        </p:spPr>
      </p:pic>
      <p:sp>
        <p:nvSpPr>
          <p:cNvPr id="89" name="直接连接符 88">
            <a:extLst xmlns:a="http://schemas.openxmlformats.org/drawingml/2006/main">
              <a:ext uri="{FF2B5EF4-FFF2-40B4-BE49-F238E27FC236}">
                <a16:creationId xmlns:a16="http://schemas.microsoft.com/office/drawing/2014/main" id="{AEC731C6-3A93-48EC-9740-0B376D106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6855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0" name="直接连接符 89">
            <a:extLst xmlns:a="http://schemas.openxmlformats.org/drawingml/2006/main">
              <a:ext uri="{FF2B5EF4-FFF2-40B4-BE49-F238E27FC236}">
                <a16:creationId xmlns:a16="http://schemas.microsoft.com/office/drawing/2014/main" id="{F4DDAE19-5915-4940-B7E9-3DE0F34D6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1" name="直接连接符 90">
            <a:extLst xmlns:a="http://schemas.openxmlformats.org/drawingml/2006/main">
              <a:ext uri="{FF2B5EF4-FFF2-40B4-BE49-F238E27FC236}">
                <a16:creationId xmlns:a16="http://schemas.microsoft.com/office/drawing/2014/main" id="{864E3B89-389B-49AF-AAD1-09CADE7DA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2774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2" name="直接连接符 91">
            <a:extLst xmlns:a="http://schemas.openxmlformats.org/drawingml/2006/main">
              <a:ext uri="{FF2B5EF4-FFF2-40B4-BE49-F238E27FC236}">
                <a16:creationId xmlns:a16="http://schemas.microsoft.com/office/drawing/2014/main" id="{017FED8B-64D0-4756-B26A-A577B7463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3068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3" name="等腰三角形 92">
            <a:extLst xmlns:a="http://schemas.openxmlformats.org/drawingml/2006/main">
              <a:ext uri="{FF2B5EF4-FFF2-40B4-BE49-F238E27FC236}">
                <a16:creationId xmlns:a16="http://schemas.microsoft.com/office/drawing/2014/main" id="{D51AB20F-761E-45F5-B030-75D3E3FC8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4604" y="986817"/>
            <a:ext cx="664192" cy="213744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36639196-3B2D-448A-9BAA-521CF3AA1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209800"/>
            <a:ext cx="12954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2383">
            <a:solidFill>
              <a:srgbClr val="B9D5F5"/>
            </a:solidFill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B2C6DD0B-7F84-4A8D-8A70-8249C6053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3622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4C9A"/>
          </a:solidFill>
          <a:ln xmlns:a="http://schemas.openxmlformats.org/drawingml/2006/main" w="12383">
            <a:solidFill>
              <a:srgbClr val="0F4C9A"/>
            </a:solidFill>
            <a:prstDash val="solid"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14F693BB-D3BA-48B0-BB9A-5498A904A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457450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780C234B-7176-46E1-AE85-BB7D71749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362200"/>
            <a:ext cx="533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手册页面</a:t>
            </a:r>
          </a:p>
        </p:txBody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E8C4FB40-DA9A-4560-94C6-C22CF6096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638425"/>
            <a:ext cx="5334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证据保真</a:t>
            </a:r>
          </a:p>
        </p:txBody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DB89032C-88BB-4CF4-9D88-F770B8ADF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2476500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809A9DF5-7A89-41DD-9AE4-9C2C655A4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2209800"/>
            <a:ext cx="12954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2383">
            <a:solidFill>
              <a:srgbClr val="B9D5F5"/>
            </a:solidFill>
            <a:prstDash val="solid"/>
          </a:ln>
        </p:spPr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A91C1E86-C750-429B-9C87-F7C5176B7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23622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B8D7"/>
          </a:solidFill>
          <a:ln xmlns:a="http://schemas.openxmlformats.org/drawingml/2006/main" w="12383">
            <a:solidFill>
              <a:srgbClr val="11B8D7"/>
            </a:solidFill>
            <a:prstDash val="solid"/>
          </a:ln>
        </p:spPr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A724DE55-446E-41B8-A8CA-C27A1A53A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2457450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B33021E0-4333-4F46-82E1-BF0908ABF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2362200"/>
            <a:ext cx="533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爬取清洗</a:t>
            </a:r>
          </a:p>
        </p:txBody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3F15C735-0B27-4C49-9818-ED213DA0E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2638425"/>
            <a:ext cx="5334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证据保真</a:t>
            </a:r>
          </a:p>
        </p:txBody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E2091B66-EDB1-43D6-BE5F-2D9B7EF89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476500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6ABBE488-970B-4803-97A8-84B66FD55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2209800"/>
            <a:ext cx="12954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2383">
            <a:solidFill>
              <a:srgbClr val="B9D5F5"/>
            </a:solidFill>
            <a:prstDash val="solid"/>
          </a:ln>
        </p:spPr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DE787E78-CC04-4E57-BC67-F07355BD6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3622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4C9A"/>
          </a:solidFill>
          <a:ln xmlns:a="http://schemas.openxmlformats.org/drawingml/2006/main" w="12383">
            <a:solidFill>
              <a:srgbClr val="0F4C9A"/>
            </a:solidFill>
            <a:prstDash val="solid"/>
          </a:ln>
        </p:spPr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528BC6BF-520B-4845-825A-DB5B25B6D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457450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2BB683B3-7902-4A78-9211-A534259B2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362200"/>
            <a:ext cx="533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标题切片</a:t>
            </a:r>
          </a:p>
        </p:txBody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992F898D-D482-434E-B79C-2DF86B608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638425"/>
            <a:ext cx="5334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证据保真</a:t>
            </a:r>
          </a:p>
        </p:txBody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FA5EC0FA-3135-4690-B9F0-C146E1EEF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2476500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E2297E3F-2168-42F7-8533-BD1F61765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2209800"/>
            <a:ext cx="12954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2383">
            <a:solidFill>
              <a:srgbClr val="B9D5F5"/>
            </a:solidFill>
            <a:prstDash val="solid"/>
          </a:ln>
        </p:spPr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828F69C8-D2AB-4233-99C1-65E68D69A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23622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B8D7"/>
          </a:solidFill>
          <a:ln xmlns:a="http://schemas.openxmlformats.org/drawingml/2006/main" w="12383">
            <a:solidFill>
              <a:srgbClr val="11B8D7"/>
            </a:solidFill>
            <a:prstDash val="solid"/>
          </a:ln>
        </p:spPr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B2DC627A-75D5-474B-A7B4-1B4D4166A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2457450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5776C5FE-661C-45C9-973E-BE685387D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362200"/>
            <a:ext cx="533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ChromaDB索引</a:t>
            </a:r>
          </a:p>
        </p:txBody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96C3C7D5-5D27-4DFB-A9ED-EE779D356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638425"/>
            <a:ext cx="5334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证据保真</a:t>
            </a:r>
          </a:p>
        </p:txBody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ABFCCF71-81F5-403F-A3F0-6A532709B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476500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C69636D1-979A-42BB-9BD7-4A3617BE9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2209800"/>
            <a:ext cx="12954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2383">
            <a:solidFill>
              <a:srgbClr val="B9D5F5"/>
            </a:solidFill>
            <a:prstDash val="solid"/>
          </a:ln>
        </p:spPr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B77AFB8A-2B0B-4A8B-9822-BD835F41E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23622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4C9A"/>
          </a:solidFill>
          <a:ln xmlns:a="http://schemas.openxmlformats.org/drawingml/2006/main" w="12383">
            <a:solidFill>
              <a:srgbClr val="0F4C9A"/>
            </a:solidFill>
            <a:prstDash val="solid"/>
          </a:ln>
        </p:spPr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5DC0A00C-9159-4B21-B123-3E00E8911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2457450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E3BF969B-9D29-4D97-A135-0D8E397DC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362200"/>
            <a:ext cx="533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功能点抽取</a:t>
            </a:r>
          </a:p>
        </p:txBody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968538AA-4717-4131-8C59-09CDA5D0A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638425"/>
            <a:ext cx="5334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结构化输出</a:t>
            </a:r>
          </a:p>
        </p:txBody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8091C598-9501-42F4-A845-4D4BC8DAC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476500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0863D44D-B7C5-4654-B44A-AAE02A28F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209800"/>
            <a:ext cx="12954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2383">
            <a:solidFill>
              <a:srgbClr val="B9D5F5"/>
            </a:solidFill>
            <a:prstDash val="solid"/>
          </a:ln>
        </p:spPr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7C24B3B7-9910-4A40-80A9-39705EC90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3622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B8D7"/>
          </a:solidFill>
          <a:ln xmlns:a="http://schemas.openxmlformats.org/drawingml/2006/main" w="12383">
            <a:solidFill>
              <a:srgbClr val="11B8D7"/>
            </a:solidFill>
            <a:prstDash val="solid"/>
          </a:ln>
        </p:spPr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A1CD2E4A-DEEF-4AFC-A26D-0B291CAEB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457450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6</a:t>
            </a:r>
          </a:p>
        </p:txBody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61DC6CB3-2B73-4120-A264-3BD0D87F6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362200"/>
            <a:ext cx="533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零locator场景</a:t>
            </a:r>
          </a:p>
        </p:txBody>
      </p: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9E145213-6D07-4456-AFAE-37767C4E5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638425"/>
            <a:ext cx="5334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结构化输出</a:t>
            </a:r>
          </a:p>
        </p:txBody>
      </p:sp>
      <p:sp>
        <p:nvSpPr>
          <p:cNvPr id="130" name="">
            <a:extLst xmlns:a="http://schemas.openxmlformats.org/drawingml/2006/main">
              <a:ext uri="{FF2B5EF4-FFF2-40B4-BE49-F238E27FC236}">
                <a16:creationId xmlns:a16="http://schemas.microsoft.com/office/drawing/2014/main" id="{00F511CD-C2D6-4C16-8ED1-4FE8F4EA2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2476500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31" name="">
            <a:extLst xmlns:a="http://schemas.openxmlformats.org/drawingml/2006/main">
              <a:ext uri="{FF2B5EF4-FFF2-40B4-BE49-F238E27FC236}">
                <a16:creationId xmlns:a16="http://schemas.microsoft.com/office/drawing/2014/main" id="{A1A04FEC-6178-485D-B70D-916A60A92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2209800"/>
            <a:ext cx="12954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2383">
            <a:solidFill>
              <a:srgbClr val="B9D5F5"/>
            </a:solidFill>
            <a:prstDash val="solid"/>
          </a:ln>
        </p:spPr>
      </p:sp>
      <p:sp>
        <p:nvSpPr>
          <p:cNvPr id="132" name="">
            <a:extLst xmlns:a="http://schemas.openxmlformats.org/drawingml/2006/main">
              <a:ext uri="{FF2B5EF4-FFF2-40B4-BE49-F238E27FC236}">
                <a16:creationId xmlns:a16="http://schemas.microsoft.com/office/drawing/2014/main" id="{58B3CD4B-EB17-4A6A-B0A4-1C4C6DADA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23622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4C9A"/>
          </a:solidFill>
          <a:ln xmlns:a="http://schemas.openxmlformats.org/drawingml/2006/main" w="12383">
            <a:solidFill>
              <a:srgbClr val="0F4C9A"/>
            </a:solidFill>
            <a:prstDash val="solid"/>
          </a:ln>
        </p:spPr>
      </p:sp>
      <p:sp>
        <p:nvSpPr>
          <p:cNvPr id="133" name="">
            <a:extLst xmlns:a="http://schemas.openxmlformats.org/drawingml/2006/main">
              <a:ext uri="{FF2B5EF4-FFF2-40B4-BE49-F238E27FC236}">
                <a16:creationId xmlns:a16="http://schemas.microsoft.com/office/drawing/2014/main" id="{2126965C-34B8-4991-BA3E-CD0E9C274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2457450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7</a:t>
            </a:r>
          </a:p>
        </p:txBody>
      </p:sp>
      <p:sp>
        <p:nvSpPr>
          <p:cNvPr id="134" name="">
            <a:extLst xmlns:a="http://schemas.openxmlformats.org/drawingml/2006/main">
              <a:ext uri="{FF2B5EF4-FFF2-40B4-BE49-F238E27FC236}">
                <a16:creationId xmlns:a16="http://schemas.microsoft.com/office/drawing/2014/main" id="{7CA0FDE8-7E0E-47F8-85E7-9A615FF24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2362200"/>
            <a:ext cx="533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校验入库</a:t>
            </a:r>
          </a:p>
        </p:txBody>
      </p:sp>
      <p:sp>
        <p:nvSpPr>
          <p:cNvPr id="135" name="">
            <a:extLst xmlns:a="http://schemas.openxmlformats.org/drawingml/2006/main">
              <a:ext uri="{FF2B5EF4-FFF2-40B4-BE49-F238E27FC236}">
                <a16:creationId xmlns:a16="http://schemas.microsoft.com/office/drawing/2014/main" id="{35E19F34-EAB0-4FC1-8F3E-B4E1F9518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2638425"/>
            <a:ext cx="5334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结构化输出</a:t>
            </a:r>
          </a:p>
        </p:txBody>
      </p:sp>
      <p:sp>
        <p:nvSpPr>
          <p:cNvPr id="136" name="">
            <a:extLst xmlns:a="http://schemas.openxmlformats.org/drawingml/2006/main">
              <a:ext uri="{FF2B5EF4-FFF2-40B4-BE49-F238E27FC236}">
                <a16:creationId xmlns:a16="http://schemas.microsoft.com/office/drawing/2014/main" id="{118EDFC0-FA2C-434E-9E61-5F3ADED33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857625"/>
            <a:ext cx="102870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3F8FF"/>
          </a:solidFill>
          <a:ln xmlns:a="http://schemas.openxmlformats.org/drawingml/2006/main" w="12383">
            <a:solidFill>
              <a:srgbClr val="BFD5EF"/>
            </a:solidFill>
            <a:prstDash val="solid"/>
          </a:ln>
        </p:spPr>
      </p:sp>
      <p:sp>
        <p:nvSpPr>
          <p:cNvPr id="137" name="">
            <a:extLst xmlns:a="http://schemas.openxmlformats.org/drawingml/2006/main">
              <a:ext uri="{FF2B5EF4-FFF2-40B4-BE49-F238E27FC236}">
                <a16:creationId xmlns:a16="http://schemas.microsoft.com/office/drawing/2014/main" id="{3A191638-C2E7-4436-912B-2FFCB0781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029075"/>
            <a:ext cx="7715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F4C9A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0F4C9A"/>
                </a:solidFill>
                <a:latin typeface="微软雅黑"/>
                <a:ea typeface="微软雅黑"/>
                <a:cs typeface="微软雅黑"/>
              </a:rPr>
              <a:t>手册知识层：URL / title / heading path / manual section / content hash</a:t>
            </a:r>
          </a:p>
        </p:txBody>
      </p:sp>
      <p:sp>
        <p:nvSpPr>
          <p:cNvPr id="138" name="">
            <a:extLst xmlns:a="http://schemas.openxmlformats.org/drawingml/2006/main">
              <a:ext uri="{FF2B5EF4-FFF2-40B4-BE49-F238E27FC236}">
                <a16:creationId xmlns:a16="http://schemas.microsoft.com/office/drawing/2014/main" id="{89A02714-ACB3-4A68-8740-D98E6FF66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572000"/>
            <a:ext cx="102870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4FFFD"/>
          </a:solidFill>
          <a:ln xmlns:a="http://schemas.openxmlformats.org/drawingml/2006/main" w="12383">
            <a:solidFill>
              <a:srgbClr val="BFE8E4"/>
            </a:solidFill>
            <a:prstDash val="solid"/>
          </a:ln>
        </p:spPr>
      </p:sp>
      <p:sp>
        <p:nvSpPr>
          <p:cNvPr id="139" name="">
            <a:extLst xmlns:a="http://schemas.openxmlformats.org/drawingml/2006/main">
              <a:ext uri="{FF2B5EF4-FFF2-40B4-BE49-F238E27FC236}">
                <a16:creationId xmlns:a16="http://schemas.microsoft.com/office/drawing/2014/main" id="{1BC911D0-E814-45E4-A3FE-BF2D54506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743450"/>
            <a:ext cx="857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0A6A6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10A6A6"/>
                </a:solidFill>
                <a:latin typeface="微软雅黑"/>
                <a:ea typeface="微软雅黑"/>
                <a:cs typeface="微软雅黑"/>
              </a:rPr>
              <a:t>场景生成层：Feature → Scenario → evidence quotes → 零 locator 校验 → SQLite 持久化</a:t>
            </a:r>
          </a:p>
        </p:txBody>
      </p:sp>
    </p:spTree>
    <p:extLst>
      <p:ext uri="{BB962C8B-B14F-4D97-AF65-F5344CB8AC3E}">
        <p14:creationId xmlns:p14="http://schemas.microsoft.com/office/powerpoint/2010/main" val="1361452389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文本框 34">
            <a:extLst xmlns:a="http://schemas.openxmlformats.org/drawingml/2006/main">
              <a:ext uri="{FF2B5EF4-FFF2-40B4-BE49-F238E27FC236}">
                <a16:creationId xmlns:a16="http://schemas.microsoft.com/office/drawing/2014/main" id="{B4FBA366-54D4-4BA9-B42C-1177675AF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507" y="1470061"/>
            <a:ext cx="3300904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600"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3.4  后端 API 与数据存储</a:t>
            </a:r>
          </a:p>
        </p:txBody>
      </p:sp>
      <p:sp>
        <p:nvSpPr>
          <p:cNvPr id="47" name="矩形 46">
            <a:extLst xmlns:a="http://schemas.openxmlformats.org/drawingml/2006/main">
              <a:ext uri="{FF2B5EF4-FFF2-40B4-BE49-F238E27FC236}">
                <a16:creationId xmlns:a16="http://schemas.microsoft.com/office/drawing/2014/main" id="{B452C0D7-B37F-43A2-B486-58A1E2746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6759" y="6130925"/>
            <a:ext cx="508000" cy="50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solidFill>
              <a:srgbClr val="174994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lt1"/>
                </a:solidFill>
                <a:latin typeface="微软雅黑"/>
                <a:ea typeface="微软雅黑"/>
                <a:cs typeface="微软雅黑"/>
              </a:rPr>
              <a:t>14</a:t>
            </a:r>
          </a:p>
        </p:txBody>
      </p:sp>
      <p:sp>
        <p:nvSpPr>
          <p:cNvPr id="81" name="矩形 80">
            <a:extLst xmlns:a="http://schemas.openxmlformats.org/drawingml/2006/main">
              <a:ext uri="{FF2B5EF4-FFF2-40B4-BE49-F238E27FC236}">
                <a16:creationId xmlns:a16="http://schemas.microsoft.com/office/drawing/2014/main" id="{48B67799-EAB8-4038-8133-7AA3CC348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-1"/>
            <a:ext cx="12192000" cy="12037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2" name="矩形 81">
            <a:extLst xmlns:a="http://schemas.openxmlformats.org/drawingml/2006/main">
              <a:ext uri="{FF2B5EF4-FFF2-40B4-BE49-F238E27FC236}">
                <a16:creationId xmlns:a16="http://schemas.microsoft.com/office/drawing/2014/main" id="{7618DFB8-9A5A-456E-B964-39FCCC1C4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0"/>
            <a:ext cx="2650603" cy="120376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3" name="文本框 82">
            <a:extLst xmlns:a="http://schemas.openxmlformats.org/drawingml/2006/main">
              <a:ext uri="{FF2B5EF4-FFF2-40B4-BE49-F238E27FC236}">
                <a16:creationId xmlns:a16="http://schemas.microsoft.com/office/drawing/2014/main" id="{EE8BAED2-0ED5-4BBE-89F5-3C9830933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7216"/>
            <a:ext cx="2316627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研究背景及意义</a:t>
            </a:r>
          </a:p>
        </p:txBody>
      </p:sp>
      <p:sp>
        <p:nvSpPr>
          <p:cNvPr id="84" name="文本框 83">
            <a:extLst xmlns:a="http://schemas.openxmlformats.org/drawingml/2006/main">
              <a:ext uri="{FF2B5EF4-FFF2-40B4-BE49-F238E27FC236}">
                <a16:creationId xmlns:a16="http://schemas.microsoft.com/office/drawing/2014/main" id="{F0916D0F-A50A-4E89-979A-0657F8E39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7873" y="417216"/>
            <a:ext cx="295465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研究目标与方案</a:t>
            </a:r>
          </a:p>
        </p:txBody>
      </p:sp>
      <p:sp>
        <p:nvSpPr>
          <p:cNvPr id="85" name="文本框 84">
            <a:extLst xmlns:a="http://schemas.openxmlformats.org/drawingml/2006/main">
              <a:ext uri="{FF2B5EF4-FFF2-40B4-BE49-F238E27FC236}">
                <a16:creationId xmlns:a16="http://schemas.microsoft.com/office/drawing/2014/main" id="{D60737E1-A6B8-41C4-A7A8-7A1BAEF6D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373" y="427155"/>
            <a:ext cx="2954655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研究框架介绍</a:t>
            </a:r>
          </a:p>
        </p:txBody>
      </p:sp>
      <p:sp>
        <p:nvSpPr>
          <p:cNvPr id="86" name="文本框 85">
            <a:extLst xmlns:a="http://schemas.openxmlformats.org/drawingml/2006/main">
              <a:ext uri="{FF2B5EF4-FFF2-40B4-BE49-F238E27FC236}">
                <a16:creationId xmlns:a16="http://schemas.microsoft.com/office/drawing/2014/main" id="{66297B84-6EFF-40AB-A53D-3C70859BC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0874" y="417215"/>
            <a:ext cx="2316628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研究进度安排</a:t>
            </a:r>
          </a:p>
        </p:txBody>
      </p:sp>
      <p:sp>
        <p:nvSpPr>
          <p:cNvPr id="87" name="文本框 86">
            <a:extLst xmlns:a="http://schemas.openxmlformats.org/drawingml/2006/main">
              <a:ext uri="{FF2B5EF4-FFF2-40B4-BE49-F238E27FC236}">
                <a16:creationId xmlns:a16="http://schemas.microsoft.com/office/drawing/2014/main" id="{75DC209D-EBD6-48A3-A875-278F50EE2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4348" y="427155"/>
            <a:ext cx="176368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小组分工</a:t>
            </a:r>
          </a:p>
        </p:txBody>
      </p:sp>
      <p:pic>
        <p:nvPicPr>
          <p:cNvPr id="88" name="图片 8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0148fee4f04475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5963" y="168319"/>
            <a:ext cx="867126" cy="867126"/>
          </a:xfrm>
          <a:prstGeom xmlns:a="http://schemas.openxmlformats.org/drawingml/2006/main" prst="rect">
            <a:avLst/>
          </a:prstGeom>
        </p:spPr>
      </p:pic>
      <p:sp>
        <p:nvSpPr>
          <p:cNvPr id="89" name="直接连接符 88">
            <a:extLst xmlns:a="http://schemas.openxmlformats.org/drawingml/2006/main">
              <a:ext uri="{FF2B5EF4-FFF2-40B4-BE49-F238E27FC236}">
                <a16:creationId xmlns:a16="http://schemas.microsoft.com/office/drawing/2014/main" id="{AEC731C6-3A93-48EC-9740-0B376D106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6855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0" name="直接连接符 89">
            <a:extLst xmlns:a="http://schemas.openxmlformats.org/drawingml/2006/main">
              <a:ext uri="{FF2B5EF4-FFF2-40B4-BE49-F238E27FC236}">
                <a16:creationId xmlns:a16="http://schemas.microsoft.com/office/drawing/2014/main" id="{F4DDAE19-5915-4940-B7E9-3DE0F34D6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1" name="直接连接符 90">
            <a:extLst xmlns:a="http://schemas.openxmlformats.org/drawingml/2006/main">
              <a:ext uri="{FF2B5EF4-FFF2-40B4-BE49-F238E27FC236}">
                <a16:creationId xmlns:a16="http://schemas.microsoft.com/office/drawing/2014/main" id="{864E3B89-389B-49AF-AAD1-09CADE7DA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2774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2" name="直接连接符 91">
            <a:extLst xmlns:a="http://schemas.openxmlformats.org/drawingml/2006/main">
              <a:ext uri="{FF2B5EF4-FFF2-40B4-BE49-F238E27FC236}">
                <a16:creationId xmlns:a16="http://schemas.microsoft.com/office/drawing/2014/main" id="{017FED8B-64D0-4756-B26A-A577B7463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3068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3" name="等腰三角形 92">
            <a:extLst xmlns:a="http://schemas.openxmlformats.org/drawingml/2006/main">
              <a:ext uri="{FF2B5EF4-FFF2-40B4-BE49-F238E27FC236}">
                <a16:creationId xmlns:a16="http://schemas.microsoft.com/office/drawing/2014/main" id="{D51AB20F-761E-45F5-B030-75D3E3FC8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4604" y="986817"/>
            <a:ext cx="664192" cy="213744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4C83A9F1-1A10-4099-BFE8-3F0FF2885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33625"/>
            <a:ext cx="24765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6E2F3"/>
            </a:solidFill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E5A47C3E-E27B-4843-BAB5-590DE054C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33625"/>
            <a:ext cx="6667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4C9A"/>
          </a:solidFill>
          <a:ln xmlns:a="http://schemas.openxmlformats.org/drawingml/2006/main" w="0">
            <a:solidFill>
              <a:srgbClr val="0F4C9A"/>
            </a:solidFill>
            <a:prstDash val="solid"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96CB3EB8-D15C-4EA2-B292-12E20C53B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476500"/>
            <a:ext cx="2152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4C9A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0F4C9A"/>
                </a:solidFill>
                <a:latin typeface="微软雅黑"/>
                <a:ea typeface="微软雅黑"/>
                <a:cs typeface="微软雅黑"/>
              </a:rPr>
              <a:t>前端请求</a:t>
            </a:r>
          </a:p>
        </p:txBody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252DD94C-1D3B-488E-857B-E94A4A786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790825"/>
            <a:ext cx="21526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/api/features</a:t>
            </a:r>
          </a:p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/api/scenarios</a:t>
            </a:r>
          </a:p>
        </p:txBody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2A9CCAFF-AD8B-4F51-8B60-F66E88F9C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667000"/>
            <a:ext cx="1123950" cy="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4288">
            <a:solidFill>
              <a:srgbClr val="7A97BE"/>
            </a:solidFill>
            <a:prstDash val="solid"/>
          </a:ln>
        </p:spPr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41B9215C-1521-4C5D-81C9-B09CD5368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514600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063F46CE-A89B-4782-A411-2ADD806FB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238500"/>
            <a:ext cx="24765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6E2F3"/>
            </a:solidFill>
            <a:prstDash val="solid"/>
          </a:ln>
        </p:spPr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C7B13A0D-63E6-4FEA-835D-167A7E150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238500"/>
            <a:ext cx="6667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B8D7"/>
          </a:solidFill>
          <a:ln xmlns:a="http://schemas.openxmlformats.org/drawingml/2006/main" w="0">
            <a:solidFill>
              <a:srgbClr val="11B8D7"/>
            </a:solidFill>
            <a:prstDash val="solid"/>
          </a:ln>
        </p:spPr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5606538B-55FC-4930-9C6D-F787342B0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381375"/>
            <a:ext cx="2152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B8D7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11B8D7"/>
                </a:solidFill>
                <a:latin typeface="微软雅黑"/>
                <a:ea typeface="微软雅黑"/>
                <a:cs typeface="微软雅黑"/>
              </a:rPr>
              <a:t>手册生成任务</a:t>
            </a:r>
          </a:p>
        </p:txBody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9EC56348-B545-4271-80CB-AECCA0BC0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695700"/>
            <a:ext cx="21526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/api/pipeline/manual-to-scenarios</a:t>
            </a:r>
          </a:p>
        </p:txBody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38058B8A-BF33-40C6-BE60-0956DD6DB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571875"/>
            <a:ext cx="1123950" cy="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4288">
            <a:solidFill>
              <a:srgbClr val="7A97BE"/>
            </a:solidFill>
            <a:prstDash val="solid"/>
          </a:ln>
        </p:spPr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FC53DB90-EDA5-468B-A8DB-BC9FF6A75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419475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EF9A7B67-65B8-451A-95AB-9C0FDECD4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143375"/>
            <a:ext cx="24765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6E2F3"/>
            </a:solidFill>
            <a:prstDash val="solid"/>
          </a:ln>
        </p:spPr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7C678D96-18D2-43FA-A311-12149D075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143375"/>
            <a:ext cx="6667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A6A6"/>
          </a:solidFill>
          <a:ln xmlns:a="http://schemas.openxmlformats.org/drawingml/2006/main" w="0">
            <a:solidFill>
              <a:srgbClr val="10A6A6"/>
            </a:solidFill>
            <a:prstDash val="solid"/>
          </a:ln>
        </p:spPr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E3B9F157-2C72-4E68-BC53-5F4F901E2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286250"/>
            <a:ext cx="2152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A6A6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10A6A6"/>
                </a:solidFill>
                <a:latin typeface="微软雅黑"/>
                <a:ea typeface="微软雅黑"/>
                <a:cs typeface="微软雅黑"/>
              </a:rPr>
              <a:t>运行请求</a:t>
            </a:r>
          </a:p>
        </p:txBody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6737B93B-8DEF-4639-BCC2-E980014BE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600575"/>
            <a:ext cx="21526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/api/runs</a:t>
            </a:r>
          </a:p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/events / artifacts</a:t>
            </a:r>
          </a:p>
        </p:txBody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8ECB30D2-ED63-473A-8E19-695766FE2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476750"/>
            <a:ext cx="1123950" cy="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4288">
            <a:solidFill>
              <a:srgbClr val="7A97BE"/>
            </a:solidFill>
            <a:prstDash val="solid"/>
          </a:ln>
        </p:spPr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6F40952F-1AE5-4FF3-9261-6B1CD1FD2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4324350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B7978C0F-13A2-4F95-A683-ED89E39F1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2428875"/>
            <a:ext cx="285750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6FEFD"/>
          </a:solidFill>
          <a:ln xmlns:a="http://schemas.openxmlformats.org/drawingml/2006/main" w="12383">
            <a:solidFill>
              <a:srgbClr val="70D3CB"/>
            </a:solidFill>
            <a:prstDash val="solid"/>
          </a:ln>
        </p:spPr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C141E278-A6B1-41D5-91BD-21E767169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2714625"/>
            <a:ext cx="1905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0A6A6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10A6A6"/>
                </a:solidFill>
                <a:latin typeface="微软雅黑"/>
                <a:ea typeface="微软雅黑"/>
                <a:cs typeface="微软雅黑"/>
              </a:rPr>
              <a:t>FastAPI 后端</a:t>
            </a:r>
          </a:p>
        </p:txBody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45E47697-93C9-4636-A1FE-2B42B7A55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190875"/>
            <a:ext cx="12382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/api/features</a:t>
            </a:r>
          </a:p>
          <a:p xmlns:a="http://schemas.openxmlformats.org/drawingml/2006/main">
            <a:pPr algn="ctr">
              <a:defRPr sz="1125" b="0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/api/scenarios</a:t>
            </a:r>
          </a:p>
          <a:p xmlns:a="http://schemas.openxmlformats.org/drawingml/2006/main">
            <a:pPr algn="ctr">
              <a:defRPr sz="1125" b="0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/api/runs</a:t>
            </a:r>
          </a:p>
          <a:p xmlns:a="http://schemas.openxmlformats.org/drawingml/2006/main">
            <a:pPr algn="ctr">
              <a:defRPr sz="1125" b="0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/api/settings</a:t>
            </a:r>
          </a:p>
          <a:p xmlns:a="http://schemas.openxmlformats.org/drawingml/2006/main">
            <a:pPr algn="ctr">
              <a:defRPr sz="1125" b="0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/api/doctor</a:t>
            </a:r>
          </a:p>
        </p:txBody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63120FFE-07CA-4B7C-98D9-C46C1420F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143125"/>
            <a:ext cx="2333625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2383">
            <a:solidFill>
              <a:srgbClr val="C8DAEE"/>
            </a:solidFill>
            <a:prstDash val="solid"/>
          </a:ln>
        </p:spPr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D4F32601-7F11-4D0B-A0AE-8D313862B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276475"/>
            <a:ext cx="171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SQLite 元数据</a:t>
            </a:r>
          </a:p>
        </p:txBody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4DAF9644-DAAE-4C1F-8163-FF7BF4E3D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667000"/>
            <a:ext cx="695325" cy="-30480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4288">
            <a:solidFill>
              <a:srgbClr val="7A97BE"/>
            </a:solidFill>
            <a:prstDash val="solid"/>
          </a:ln>
        </p:spPr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B35F6BAC-18FA-4D73-82CD-D4C46260E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209800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81A2B9DB-7C67-4993-B41C-CBFDCCE52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781300"/>
            <a:ext cx="2333625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2383">
            <a:solidFill>
              <a:srgbClr val="C8DAEE"/>
            </a:solidFill>
            <a:prstDash val="solid"/>
          </a:ln>
        </p:spPr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85A7DD96-3082-4777-8550-31443E9BC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914650"/>
            <a:ext cx="171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ChromaDB 索引</a:t>
            </a:r>
          </a:p>
        </p:txBody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7DF000C2-34C8-4736-8F5D-3CD149260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667000"/>
            <a:ext cx="695325" cy="333375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4288">
            <a:solidFill>
              <a:srgbClr val="7A97BE"/>
            </a:solidFill>
            <a:prstDash val="solid"/>
          </a:ln>
        </p:spPr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A6DA37FA-7C6C-47FC-B9FA-74568FE11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847975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E4A62A98-9E73-4AAE-BF33-A6CC02DB3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419475"/>
            <a:ext cx="2333625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2383">
            <a:solidFill>
              <a:srgbClr val="C8DAEE"/>
            </a:solidFill>
            <a:prstDash val="solid"/>
          </a:ln>
        </p:spPr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B9CD12B6-C695-4DFE-AFA3-B372727B0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552825"/>
            <a:ext cx="171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Artifacts 文件</a:t>
            </a:r>
          </a:p>
        </p:txBody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85E06421-38A5-4054-A81B-37A61FAD1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667000"/>
            <a:ext cx="695325" cy="97155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4288">
            <a:solidFill>
              <a:srgbClr val="7A97BE"/>
            </a:solidFill>
            <a:prstDash val="solid"/>
          </a:ln>
        </p:spPr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2C07C8C5-53D2-4F8A-B81F-71A56EB27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486150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2F5E8B4E-A6FF-47D0-9008-5B67C113F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057650"/>
            <a:ext cx="2333625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2383">
            <a:solidFill>
              <a:srgbClr val="C8DAEE"/>
            </a:solidFill>
            <a:prstDash val="solid"/>
          </a:ln>
        </p:spPr>
      </p: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47AF969F-07A2-4205-85D0-0AFC1F8AD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191000"/>
            <a:ext cx="171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SSE 事件流</a:t>
            </a:r>
          </a:p>
        </p:txBody>
      </p:sp>
      <p:sp>
        <p:nvSpPr>
          <p:cNvPr id="130" name="">
            <a:extLst xmlns:a="http://schemas.openxmlformats.org/drawingml/2006/main">
              <a:ext uri="{FF2B5EF4-FFF2-40B4-BE49-F238E27FC236}">
                <a16:creationId xmlns:a16="http://schemas.microsoft.com/office/drawing/2014/main" id="{35802F9C-F17E-474F-B7B5-B3BFE68F3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667000"/>
            <a:ext cx="695325" cy="1609725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4288">
            <a:solidFill>
              <a:srgbClr val="7A97BE"/>
            </a:solidFill>
            <a:prstDash val="solid"/>
          </a:ln>
        </p:spPr>
      </p:sp>
      <p:sp>
        <p:nvSpPr>
          <p:cNvPr id="131" name="">
            <a:extLst xmlns:a="http://schemas.openxmlformats.org/drawingml/2006/main">
              <a:ext uri="{FF2B5EF4-FFF2-40B4-BE49-F238E27FC236}">
                <a16:creationId xmlns:a16="http://schemas.microsoft.com/office/drawing/2014/main" id="{AC17D5D8-BD33-42D0-9887-803AD4951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124325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32" name="">
            <a:extLst xmlns:a="http://schemas.openxmlformats.org/drawingml/2006/main">
              <a:ext uri="{FF2B5EF4-FFF2-40B4-BE49-F238E27FC236}">
                <a16:creationId xmlns:a16="http://schemas.microsoft.com/office/drawing/2014/main" id="{BAB8E825-A96C-401A-8B8D-A311D419B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695825"/>
            <a:ext cx="2333625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2383">
            <a:solidFill>
              <a:srgbClr val="C8DAEE"/>
            </a:solidFill>
            <a:prstDash val="solid"/>
          </a:ln>
        </p:spPr>
      </p:sp>
      <p:sp>
        <p:nvSpPr>
          <p:cNvPr id="133" name="">
            <a:extLst xmlns:a="http://schemas.openxmlformats.org/drawingml/2006/main">
              <a:ext uri="{FF2B5EF4-FFF2-40B4-BE49-F238E27FC236}">
                <a16:creationId xmlns:a16="http://schemas.microsoft.com/office/drawing/2014/main" id="{23B4CA17-A84B-4A0F-A686-5878C29A9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829175"/>
            <a:ext cx="171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报告导出</a:t>
            </a:r>
          </a:p>
        </p:txBody>
      </p:sp>
      <p:sp>
        <p:nvSpPr>
          <p:cNvPr id="134" name="">
            <a:extLst xmlns:a="http://schemas.openxmlformats.org/drawingml/2006/main">
              <a:ext uri="{FF2B5EF4-FFF2-40B4-BE49-F238E27FC236}">
                <a16:creationId xmlns:a16="http://schemas.microsoft.com/office/drawing/2014/main" id="{F796A6D2-3565-46B6-8495-36A9370D2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667000"/>
            <a:ext cx="695325" cy="224790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4288">
            <a:solidFill>
              <a:srgbClr val="7A97BE"/>
            </a:solidFill>
            <a:prstDash val="solid"/>
          </a:ln>
        </p:spPr>
      </p:sp>
      <p:sp>
        <p:nvSpPr>
          <p:cNvPr id="135" name="">
            <a:extLst xmlns:a="http://schemas.openxmlformats.org/drawingml/2006/main">
              <a:ext uri="{FF2B5EF4-FFF2-40B4-BE49-F238E27FC236}">
                <a16:creationId xmlns:a16="http://schemas.microsoft.com/office/drawing/2014/main" id="{204EC557-A951-4535-96B9-1280A05D2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762500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</p:spTree>
    <p:extLst>
      <p:ext uri="{BB962C8B-B14F-4D97-AF65-F5344CB8AC3E}">
        <p14:creationId xmlns:p14="http://schemas.microsoft.com/office/powerpoint/2010/main" val="1361452389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文本框 34">
            <a:extLst xmlns:a="http://schemas.openxmlformats.org/drawingml/2006/main">
              <a:ext uri="{FF2B5EF4-FFF2-40B4-BE49-F238E27FC236}">
                <a16:creationId xmlns:a16="http://schemas.microsoft.com/office/drawing/2014/main" id="{B4FBA366-54D4-4BA9-B42C-1177675AF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507" y="1470061"/>
            <a:ext cx="3300904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600"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3.5  前端控制台与可视化</a:t>
            </a:r>
          </a:p>
        </p:txBody>
      </p:sp>
      <p:sp>
        <p:nvSpPr>
          <p:cNvPr id="47" name="矩形 46">
            <a:extLst xmlns:a="http://schemas.openxmlformats.org/drawingml/2006/main">
              <a:ext uri="{FF2B5EF4-FFF2-40B4-BE49-F238E27FC236}">
                <a16:creationId xmlns:a16="http://schemas.microsoft.com/office/drawing/2014/main" id="{B452C0D7-B37F-43A2-B486-58A1E2746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6759" y="6130925"/>
            <a:ext cx="508000" cy="50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solidFill>
              <a:srgbClr val="174994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lt1"/>
                </a:solidFill>
                <a:latin typeface="微软雅黑"/>
                <a:ea typeface="微软雅黑"/>
                <a:cs typeface="微软雅黑"/>
              </a:rPr>
              <a:t>15</a:t>
            </a:r>
          </a:p>
        </p:txBody>
      </p:sp>
      <p:sp>
        <p:nvSpPr>
          <p:cNvPr id="81" name="矩形 80">
            <a:extLst xmlns:a="http://schemas.openxmlformats.org/drawingml/2006/main">
              <a:ext uri="{FF2B5EF4-FFF2-40B4-BE49-F238E27FC236}">
                <a16:creationId xmlns:a16="http://schemas.microsoft.com/office/drawing/2014/main" id="{48B67799-EAB8-4038-8133-7AA3CC348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-1"/>
            <a:ext cx="12192000" cy="12037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2" name="矩形 81">
            <a:extLst xmlns:a="http://schemas.openxmlformats.org/drawingml/2006/main">
              <a:ext uri="{FF2B5EF4-FFF2-40B4-BE49-F238E27FC236}">
                <a16:creationId xmlns:a16="http://schemas.microsoft.com/office/drawing/2014/main" id="{7618DFB8-9A5A-456E-B964-39FCCC1C4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0"/>
            <a:ext cx="2650603" cy="120376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3" name="文本框 82">
            <a:extLst xmlns:a="http://schemas.openxmlformats.org/drawingml/2006/main">
              <a:ext uri="{FF2B5EF4-FFF2-40B4-BE49-F238E27FC236}">
                <a16:creationId xmlns:a16="http://schemas.microsoft.com/office/drawing/2014/main" id="{EE8BAED2-0ED5-4BBE-89F5-3C9830933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7216"/>
            <a:ext cx="2316627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研究背景及意义</a:t>
            </a:r>
          </a:p>
        </p:txBody>
      </p:sp>
      <p:sp>
        <p:nvSpPr>
          <p:cNvPr id="84" name="文本框 83">
            <a:extLst xmlns:a="http://schemas.openxmlformats.org/drawingml/2006/main">
              <a:ext uri="{FF2B5EF4-FFF2-40B4-BE49-F238E27FC236}">
                <a16:creationId xmlns:a16="http://schemas.microsoft.com/office/drawing/2014/main" id="{F0916D0F-A50A-4E89-979A-0657F8E39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7873" y="417216"/>
            <a:ext cx="295465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研究目标与方案</a:t>
            </a:r>
          </a:p>
        </p:txBody>
      </p:sp>
      <p:sp>
        <p:nvSpPr>
          <p:cNvPr id="85" name="文本框 84">
            <a:extLst xmlns:a="http://schemas.openxmlformats.org/drawingml/2006/main">
              <a:ext uri="{FF2B5EF4-FFF2-40B4-BE49-F238E27FC236}">
                <a16:creationId xmlns:a16="http://schemas.microsoft.com/office/drawing/2014/main" id="{D60737E1-A6B8-41C4-A7A8-7A1BAEF6D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373" y="427155"/>
            <a:ext cx="2954655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研究框架介绍</a:t>
            </a:r>
          </a:p>
        </p:txBody>
      </p:sp>
      <p:sp>
        <p:nvSpPr>
          <p:cNvPr id="86" name="文本框 85">
            <a:extLst xmlns:a="http://schemas.openxmlformats.org/drawingml/2006/main">
              <a:ext uri="{FF2B5EF4-FFF2-40B4-BE49-F238E27FC236}">
                <a16:creationId xmlns:a16="http://schemas.microsoft.com/office/drawing/2014/main" id="{66297B84-6EFF-40AB-A53D-3C70859BC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0874" y="417215"/>
            <a:ext cx="2316628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研究进度安排</a:t>
            </a:r>
          </a:p>
        </p:txBody>
      </p:sp>
      <p:sp>
        <p:nvSpPr>
          <p:cNvPr id="87" name="文本框 86">
            <a:extLst xmlns:a="http://schemas.openxmlformats.org/drawingml/2006/main">
              <a:ext uri="{FF2B5EF4-FFF2-40B4-BE49-F238E27FC236}">
                <a16:creationId xmlns:a16="http://schemas.microsoft.com/office/drawing/2014/main" id="{75DC209D-EBD6-48A3-A875-278F50EE2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4348" y="427155"/>
            <a:ext cx="176368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小组分工</a:t>
            </a:r>
          </a:p>
        </p:txBody>
      </p:sp>
      <p:pic>
        <p:nvPicPr>
          <p:cNvPr id="88" name="图片 8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304b7d13da14ee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5963" y="168319"/>
            <a:ext cx="867126" cy="867126"/>
          </a:xfrm>
          <a:prstGeom xmlns:a="http://schemas.openxmlformats.org/drawingml/2006/main" prst="rect">
            <a:avLst/>
          </a:prstGeom>
        </p:spPr>
      </p:pic>
      <p:sp>
        <p:nvSpPr>
          <p:cNvPr id="89" name="直接连接符 88">
            <a:extLst xmlns:a="http://schemas.openxmlformats.org/drawingml/2006/main">
              <a:ext uri="{FF2B5EF4-FFF2-40B4-BE49-F238E27FC236}">
                <a16:creationId xmlns:a16="http://schemas.microsoft.com/office/drawing/2014/main" id="{AEC731C6-3A93-48EC-9740-0B376D106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6855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0" name="直接连接符 89">
            <a:extLst xmlns:a="http://schemas.openxmlformats.org/drawingml/2006/main">
              <a:ext uri="{FF2B5EF4-FFF2-40B4-BE49-F238E27FC236}">
                <a16:creationId xmlns:a16="http://schemas.microsoft.com/office/drawing/2014/main" id="{F4DDAE19-5915-4940-B7E9-3DE0F34D6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1" name="直接连接符 90">
            <a:extLst xmlns:a="http://schemas.openxmlformats.org/drawingml/2006/main">
              <a:ext uri="{FF2B5EF4-FFF2-40B4-BE49-F238E27FC236}">
                <a16:creationId xmlns:a16="http://schemas.microsoft.com/office/drawing/2014/main" id="{864E3B89-389B-49AF-AAD1-09CADE7DA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2774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2" name="直接连接符 91">
            <a:extLst xmlns:a="http://schemas.openxmlformats.org/drawingml/2006/main">
              <a:ext uri="{FF2B5EF4-FFF2-40B4-BE49-F238E27FC236}">
                <a16:creationId xmlns:a16="http://schemas.microsoft.com/office/drawing/2014/main" id="{017FED8B-64D0-4756-B26A-A577B7463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3068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3" name="等腰三角形 92">
            <a:extLst xmlns:a="http://schemas.openxmlformats.org/drawingml/2006/main">
              <a:ext uri="{FF2B5EF4-FFF2-40B4-BE49-F238E27FC236}">
                <a16:creationId xmlns:a16="http://schemas.microsoft.com/office/drawing/2014/main" id="{D51AB20F-761E-45F5-B030-75D3E3FC8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4604" y="986817"/>
            <a:ext cx="664192" cy="213744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849E3E0F-2AAF-4378-B6EB-FF6C02AD2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143125"/>
            <a:ext cx="6572250" cy="31432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F9FBFF"/>
          </a:solidFill>
          <a:ln xmlns:a="http://schemas.openxmlformats.org/drawingml/2006/main" w="12383">
            <a:solidFill>
              <a:srgbClr val="BFD5EF"/>
            </a:solidFill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49B94A71-A966-42C1-98CB-68489F2F4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143125"/>
            <a:ext cx="6572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0B2F63"/>
          </a:solidFill>
          <a:ln xmlns:a="http://schemas.openxmlformats.org/drawingml/2006/main" w="12383">
            <a:solidFill>
              <a:srgbClr val="0B2F63"/>
            </a:solidFill>
            <a:prstDash val="solid"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99261A31-E431-4373-9786-BE62375BC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257425"/>
            <a:ext cx="2286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SpecPilot 中文控制台</a:t>
            </a:r>
          </a:p>
        </p:txBody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78834D63-EF01-4DAB-A533-8B096F980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781300"/>
            <a:ext cx="8382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0F4C9A"/>
          </a:solidFill>
          <a:ln xmlns:a="http://schemas.openxmlformats.org/drawingml/2006/main" w="12383">
            <a:solidFill>
              <a:srgbClr val="0F4C9A"/>
            </a:solidFill>
            <a:prstDash val="solid"/>
          </a:ln>
        </p:spPr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5B77D623-E15D-429E-A04F-26F35ABF4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847975"/>
            <a:ext cx="8382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工作台</a:t>
            </a:r>
          </a:p>
        </p:txBody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D0C1DF92-1F88-4E26-99D6-DBA74245A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2781300"/>
            <a:ext cx="8382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0F4C9A"/>
          </a:solidFill>
          <a:ln xmlns:a="http://schemas.openxmlformats.org/drawingml/2006/main" w="12383">
            <a:solidFill>
              <a:srgbClr val="0F4C9A"/>
            </a:solidFill>
            <a:prstDash val="solid"/>
          </a:ln>
        </p:spPr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A50A1BE0-A216-404E-ADFE-596778AE9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2847975"/>
            <a:ext cx="8382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功能点</a:t>
            </a:r>
          </a:p>
        </p:txBody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EAB7AC1F-9D97-4D75-BCAF-1FCD26535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2781300"/>
            <a:ext cx="8382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0F4C9A"/>
          </a:solidFill>
          <a:ln xmlns:a="http://schemas.openxmlformats.org/drawingml/2006/main" w="12383">
            <a:solidFill>
              <a:srgbClr val="0F4C9A"/>
            </a:solidFill>
            <a:prstDash val="solid"/>
          </a:ln>
        </p:spPr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F60066F3-E311-4DDB-B6A6-49C1AF459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2847975"/>
            <a:ext cx="8382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测试场景</a:t>
            </a:r>
          </a:p>
        </p:txBody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EE708E2D-ACCB-443C-93E6-4006DF89F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781300"/>
            <a:ext cx="8382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11B8D7"/>
          </a:solidFill>
          <a:ln xmlns:a="http://schemas.openxmlformats.org/drawingml/2006/main" w="12383">
            <a:solidFill>
              <a:srgbClr val="11B8D7"/>
            </a:solidFill>
            <a:prstDash val="solid"/>
          </a:ln>
        </p:spPr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9C610EE8-2EDC-44A2-A699-7F378F0B5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847975"/>
            <a:ext cx="8382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执行过程</a:t>
            </a:r>
          </a:p>
        </p:txBody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1831961D-ED58-4065-9F9F-32068BF98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2781300"/>
            <a:ext cx="8382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0F4C9A"/>
          </a:solidFill>
          <a:ln xmlns:a="http://schemas.openxmlformats.org/drawingml/2006/main" w="12383">
            <a:solidFill>
              <a:srgbClr val="0F4C9A"/>
            </a:solidFill>
            <a:prstDash val="solid"/>
          </a:ln>
        </p:spPr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094069FF-49FA-49A2-BE3F-347A242BD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2847975"/>
            <a:ext cx="8382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执行记录</a:t>
            </a:r>
          </a:p>
        </p:txBody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9BF6FAA4-B324-4CCA-8B2B-DE0BEFBA1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381375"/>
            <a:ext cx="16192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2383">
            <a:solidFill>
              <a:srgbClr val="D6E6F7"/>
            </a:solidFill>
            <a:prstDash val="solid"/>
          </a:ln>
        </p:spPr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DFBC675A-FD62-4551-99F0-BDA539BE5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524250"/>
            <a:ext cx="6191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0F4C9A"/>
                </a:solidFill>
                <a:latin typeface="微软雅黑"/>
                <a:ea typeface="微软雅黑"/>
                <a:cs typeface="微软雅黑"/>
              </a:defRPr>
            </a:pPr>
            <a:r>
              <a:rPr sz="2175" b="1">
                <a:solidFill>
                  <a:srgbClr val="0F4C9A"/>
                </a:solidFill>
                <a:latin typeface="微软雅黑"/>
                <a:ea typeface="微软雅黑"/>
                <a:cs typeface="微软雅黑"/>
              </a:rPr>
              <a:t>48</a:t>
            </a:r>
          </a:p>
        </p:txBody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5E6ABE14-701E-4AD9-A20F-85141B9C7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3571875"/>
            <a:ext cx="6477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功能点</a:t>
            </a:r>
          </a:p>
        </p:txBody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B9317AB7-13AF-4487-B88F-0875CDC17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3381375"/>
            <a:ext cx="16192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2383">
            <a:solidFill>
              <a:srgbClr val="D6E6F7"/>
            </a:solidFill>
            <a:prstDash val="solid"/>
          </a:ln>
        </p:spPr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4753E0FB-229F-449C-A2A0-7AD4EFE36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3524250"/>
            <a:ext cx="6191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1B8D7"/>
                </a:solidFill>
                <a:latin typeface="微软雅黑"/>
                <a:ea typeface="微软雅黑"/>
                <a:cs typeface="微软雅黑"/>
              </a:defRPr>
            </a:pPr>
            <a:r>
              <a:rPr sz="2175" b="1">
                <a:solidFill>
                  <a:srgbClr val="11B8D7"/>
                </a:solidFill>
                <a:latin typeface="微软雅黑"/>
                <a:ea typeface="微软雅黑"/>
                <a:cs typeface="微软雅黑"/>
              </a:rPr>
              <a:t>62</a:t>
            </a:r>
          </a:p>
        </p:txBody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8A211C5D-A0BD-4384-BE66-0C58334E5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3571875"/>
            <a:ext cx="6477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场景</a:t>
            </a:r>
          </a:p>
        </p:txBody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06617E1C-E888-450F-9421-F2B1EBEB8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3381375"/>
            <a:ext cx="16192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2383">
            <a:solidFill>
              <a:srgbClr val="D6E6F7"/>
            </a:solidFill>
            <a:prstDash val="solid"/>
          </a:ln>
        </p:spPr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EC3CB4CB-ED47-4DD9-BB39-764B0826A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3524250"/>
            <a:ext cx="6191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27AE60"/>
                </a:solidFill>
                <a:latin typeface="微软雅黑"/>
                <a:ea typeface="微软雅黑"/>
                <a:cs typeface="微软雅黑"/>
              </a:defRPr>
            </a:pPr>
            <a:r>
              <a:rPr sz="2175" b="1">
                <a:solidFill>
                  <a:srgbClr val="27AE60"/>
                </a:solidFill>
                <a:latin typeface="微软雅黑"/>
                <a:ea typeface="微软雅黑"/>
                <a:cs typeface="微软雅黑"/>
              </a:rPr>
              <a:t>17</a:t>
            </a:r>
          </a:p>
        </p:txBody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0718A286-CC3F-4DC7-9D4C-3F6734789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3571875"/>
            <a:ext cx="6477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运行</a:t>
            </a:r>
          </a:p>
        </p:txBody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95F75887-1456-4CDF-8CA5-58058400A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4429125"/>
            <a:ext cx="26670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6E2F3"/>
            </a:solidFill>
            <a:prstDash val="solid"/>
          </a:ln>
        </p:spPr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3C5CE09F-024F-4FF1-ACA2-D40B598D4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591050"/>
            <a:ext cx="2000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F4C9A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0F4C9A"/>
                </a:solidFill>
                <a:latin typeface="微软雅黑"/>
                <a:ea typeface="微软雅黑"/>
                <a:cs typeface="微软雅黑"/>
              </a:rPr>
              <a:t>SSE 实时事件流</a:t>
            </a:r>
          </a:p>
        </p:txBody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B205C83C-DA00-4043-AFE0-F237F1959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4429125"/>
            <a:ext cx="2619375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6E2F3"/>
            </a:solidFill>
            <a:prstDash val="solid"/>
          </a:ln>
        </p:spPr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06CEE2EB-8BFD-4084-9325-CCF518933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4591050"/>
            <a:ext cx="2000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0A6A6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10A6A6"/>
                </a:solidFill>
                <a:latin typeface="微软雅黑"/>
                <a:ea typeface="微软雅黑"/>
                <a:cs typeface="微软雅黑"/>
              </a:rPr>
              <a:t>报告与运行历史</a:t>
            </a:r>
          </a:p>
        </p:txBody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558CD2CB-517A-49F0-ABBF-7DD512D27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381250"/>
            <a:ext cx="314325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6E2F3"/>
            </a:solidFill>
            <a:prstDash val="solid"/>
          </a:ln>
        </p:spPr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6E1FB5A0-14C2-4366-BF43-F7ED9149D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381250"/>
            <a:ext cx="66675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4C9A"/>
          </a:solidFill>
          <a:ln xmlns:a="http://schemas.openxmlformats.org/drawingml/2006/main" w="0">
            <a:solidFill>
              <a:srgbClr val="0F4C9A"/>
            </a:solidFill>
            <a:prstDash val="solid"/>
          </a:ln>
        </p:spPr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F50B3182-7814-4963-9391-C11A117F0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524125"/>
            <a:ext cx="28194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4C9A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0F4C9A"/>
                </a:solidFill>
                <a:latin typeface="微软雅黑"/>
                <a:ea typeface="微软雅黑"/>
                <a:cs typeface="微软雅黑"/>
              </a:rPr>
              <a:t>控制台职责</a:t>
            </a:r>
          </a:p>
        </p:txBody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C834CD54-4380-4632-9BA8-FA9C9CC3D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838450"/>
            <a:ext cx="2819400" cy="182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用中文界面串起功能点、场景、运行、报告四类工作流；通过实时事件流让智能体执行过程可观察、可解释、可复盘。</a:t>
            </a:r>
          </a:p>
        </p:txBody>
      </p:sp>
    </p:spTree>
    <p:extLst>
      <p:ext uri="{BB962C8B-B14F-4D97-AF65-F5344CB8AC3E}">
        <p14:creationId xmlns:p14="http://schemas.microsoft.com/office/powerpoint/2010/main" val="1361452389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文本框 34">
            <a:extLst xmlns:a="http://schemas.openxmlformats.org/drawingml/2006/main">
              <a:ext uri="{FF2B5EF4-FFF2-40B4-BE49-F238E27FC236}">
                <a16:creationId xmlns:a16="http://schemas.microsoft.com/office/drawing/2014/main" id="{B4FBA366-54D4-4BA9-B42C-1177675AF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507" y="1470061"/>
            <a:ext cx="3300904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600"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3.6  智能体层总体设计</a:t>
            </a:r>
          </a:p>
        </p:txBody>
      </p:sp>
      <p:sp>
        <p:nvSpPr>
          <p:cNvPr id="47" name="矩形 46">
            <a:extLst xmlns:a="http://schemas.openxmlformats.org/drawingml/2006/main">
              <a:ext uri="{FF2B5EF4-FFF2-40B4-BE49-F238E27FC236}">
                <a16:creationId xmlns:a16="http://schemas.microsoft.com/office/drawing/2014/main" id="{B452C0D7-B37F-43A2-B486-58A1E2746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6759" y="6130925"/>
            <a:ext cx="508000" cy="50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solidFill>
              <a:srgbClr val="174994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lt1"/>
                </a:solidFill>
                <a:latin typeface="微软雅黑"/>
                <a:ea typeface="微软雅黑"/>
                <a:cs typeface="微软雅黑"/>
              </a:rPr>
              <a:t>16</a:t>
            </a:r>
          </a:p>
        </p:txBody>
      </p:sp>
      <p:sp>
        <p:nvSpPr>
          <p:cNvPr id="81" name="矩形 80">
            <a:extLst xmlns:a="http://schemas.openxmlformats.org/drawingml/2006/main">
              <a:ext uri="{FF2B5EF4-FFF2-40B4-BE49-F238E27FC236}">
                <a16:creationId xmlns:a16="http://schemas.microsoft.com/office/drawing/2014/main" id="{48B67799-EAB8-4038-8133-7AA3CC348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-1"/>
            <a:ext cx="12192000" cy="12037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2" name="矩形 81">
            <a:extLst xmlns:a="http://schemas.openxmlformats.org/drawingml/2006/main">
              <a:ext uri="{FF2B5EF4-FFF2-40B4-BE49-F238E27FC236}">
                <a16:creationId xmlns:a16="http://schemas.microsoft.com/office/drawing/2014/main" id="{7618DFB8-9A5A-456E-B964-39FCCC1C4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0"/>
            <a:ext cx="2650603" cy="120376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3" name="文本框 82">
            <a:extLst xmlns:a="http://schemas.openxmlformats.org/drawingml/2006/main">
              <a:ext uri="{FF2B5EF4-FFF2-40B4-BE49-F238E27FC236}">
                <a16:creationId xmlns:a16="http://schemas.microsoft.com/office/drawing/2014/main" id="{EE8BAED2-0ED5-4BBE-89F5-3C9830933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7216"/>
            <a:ext cx="2316627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研究背景及意义</a:t>
            </a:r>
          </a:p>
        </p:txBody>
      </p:sp>
      <p:sp>
        <p:nvSpPr>
          <p:cNvPr id="84" name="文本框 83">
            <a:extLst xmlns:a="http://schemas.openxmlformats.org/drawingml/2006/main">
              <a:ext uri="{FF2B5EF4-FFF2-40B4-BE49-F238E27FC236}">
                <a16:creationId xmlns:a16="http://schemas.microsoft.com/office/drawing/2014/main" id="{F0916D0F-A50A-4E89-979A-0657F8E39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7873" y="417216"/>
            <a:ext cx="295465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研究目标与方案</a:t>
            </a:r>
          </a:p>
        </p:txBody>
      </p:sp>
      <p:sp>
        <p:nvSpPr>
          <p:cNvPr id="85" name="文本框 84">
            <a:extLst xmlns:a="http://schemas.openxmlformats.org/drawingml/2006/main">
              <a:ext uri="{FF2B5EF4-FFF2-40B4-BE49-F238E27FC236}">
                <a16:creationId xmlns:a16="http://schemas.microsoft.com/office/drawing/2014/main" id="{D60737E1-A6B8-41C4-A7A8-7A1BAEF6D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373" y="427155"/>
            <a:ext cx="2954655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研究框架介绍</a:t>
            </a:r>
          </a:p>
        </p:txBody>
      </p:sp>
      <p:sp>
        <p:nvSpPr>
          <p:cNvPr id="86" name="文本框 85">
            <a:extLst xmlns:a="http://schemas.openxmlformats.org/drawingml/2006/main">
              <a:ext uri="{FF2B5EF4-FFF2-40B4-BE49-F238E27FC236}">
                <a16:creationId xmlns:a16="http://schemas.microsoft.com/office/drawing/2014/main" id="{66297B84-6EFF-40AB-A53D-3C70859BC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0874" y="417215"/>
            <a:ext cx="2316628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研究进度安排</a:t>
            </a:r>
          </a:p>
        </p:txBody>
      </p:sp>
      <p:sp>
        <p:nvSpPr>
          <p:cNvPr id="87" name="文本框 86">
            <a:extLst xmlns:a="http://schemas.openxmlformats.org/drawingml/2006/main">
              <a:ext uri="{FF2B5EF4-FFF2-40B4-BE49-F238E27FC236}">
                <a16:creationId xmlns:a16="http://schemas.microsoft.com/office/drawing/2014/main" id="{75DC209D-EBD6-48A3-A875-278F50EE2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4348" y="427155"/>
            <a:ext cx="176368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小组分工</a:t>
            </a:r>
          </a:p>
        </p:txBody>
      </p:sp>
      <p:pic>
        <p:nvPicPr>
          <p:cNvPr id="88" name="图片 8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79455bc7dd648e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5963" y="168319"/>
            <a:ext cx="867126" cy="867126"/>
          </a:xfrm>
          <a:prstGeom xmlns:a="http://schemas.openxmlformats.org/drawingml/2006/main" prst="rect">
            <a:avLst/>
          </a:prstGeom>
        </p:spPr>
      </p:pic>
      <p:sp>
        <p:nvSpPr>
          <p:cNvPr id="89" name="直接连接符 88">
            <a:extLst xmlns:a="http://schemas.openxmlformats.org/drawingml/2006/main">
              <a:ext uri="{FF2B5EF4-FFF2-40B4-BE49-F238E27FC236}">
                <a16:creationId xmlns:a16="http://schemas.microsoft.com/office/drawing/2014/main" id="{AEC731C6-3A93-48EC-9740-0B376D106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6855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0" name="直接连接符 89">
            <a:extLst xmlns:a="http://schemas.openxmlformats.org/drawingml/2006/main">
              <a:ext uri="{FF2B5EF4-FFF2-40B4-BE49-F238E27FC236}">
                <a16:creationId xmlns:a16="http://schemas.microsoft.com/office/drawing/2014/main" id="{F4DDAE19-5915-4940-B7E9-3DE0F34D6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1" name="直接连接符 90">
            <a:extLst xmlns:a="http://schemas.openxmlformats.org/drawingml/2006/main">
              <a:ext uri="{FF2B5EF4-FFF2-40B4-BE49-F238E27FC236}">
                <a16:creationId xmlns:a16="http://schemas.microsoft.com/office/drawing/2014/main" id="{864E3B89-389B-49AF-AAD1-09CADE7DA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2774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2" name="直接连接符 91">
            <a:extLst xmlns:a="http://schemas.openxmlformats.org/drawingml/2006/main">
              <a:ext uri="{FF2B5EF4-FFF2-40B4-BE49-F238E27FC236}">
                <a16:creationId xmlns:a16="http://schemas.microsoft.com/office/drawing/2014/main" id="{017FED8B-64D0-4756-B26A-A577B7463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3068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3" name="等腰三角形 92">
            <a:extLst xmlns:a="http://schemas.openxmlformats.org/drawingml/2006/main">
              <a:ext uri="{FF2B5EF4-FFF2-40B4-BE49-F238E27FC236}">
                <a16:creationId xmlns:a16="http://schemas.microsoft.com/office/drawing/2014/main" id="{D51AB20F-761E-45F5-B030-75D3E3FC8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4604" y="986817"/>
            <a:ext cx="664192" cy="213744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33F32E2E-5B10-4D3D-96EE-33F9A8646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190750"/>
            <a:ext cx="10668000" cy="3048000"/>
          </a:xfrm>
          <a:prstGeom xmlns:a="http://schemas.openxmlformats.org/drawingml/2006/main" prst="roundRect">
            <a:avLst>
              <a:gd name="adj" fmla="val 2500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2383">
            <a:solidFill>
              <a:srgbClr val="AAD3F5"/>
            </a:solidFill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263ECB6C-7CAF-458E-BB1D-C400E95B7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2714625"/>
            <a:ext cx="400050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BFD5EF"/>
            </a:solidFill>
            <a:prstDash val="solid"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8531F25E-D317-4918-84C4-61C795F66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933700"/>
            <a:ext cx="3333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4C9A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0F4C9A"/>
                </a:solidFill>
                <a:latin typeface="微软雅黑"/>
                <a:ea typeface="微软雅黑"/>
                <a:cs typeface="微软雅黑"/>
              </a:rPr>
              <a:t>browser-use 内部 Agent loop</a:t>
            </a:r>
          </a:p>
        </p:txBody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3D47E9D0-DC98-457D-84EB-54EAF2D21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333750"/>
            <a:ext cx="15240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2383">
            <a:solidFill>
              <a:srgbClr val="B9D5F5"/>
            </a:solidFill>
            <a:prstDash val="solid"/>
          </a:ln>
        </p:spPr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1FF1D4C8-358F-4F73-8622-01127A952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4861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4C9A"/>
          </a:solidFill>
          <a:ln xmlns:a="http://schemas.openxmlformats.org/drawingml/2006/main" w="12383">
            <a:solidFill>
              <a:srgbClr val="0F4C9A"/>
            </a:solidFill>
            <a:prstDash val="solid"/>
          </a:ln>
        </p:spPr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F1DC317D-9DD2-46E2-9FA0-1A7850ADC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581400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4F547104-5785-487F-B9EA-F910B817A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3486150"/>
            <a:ext cx="76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观察页面</a:t>
            </a:r>
          </a:p>
        </p:txBody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F7AE4B06-209D-4040-A27D-2B9F4728F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3762375"/>
            <a:ext cx="762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DOM + screenshot</a:t>
            </a:r>
          </a:p>
        </p:txBody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42695B1C-37CB-40EF-8AAD-835428D46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3333750"/>
            <a:ext cx="15240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2383">
            <a:solidFill>
              <a:srgbClr val="B9D5F5"/>
            </a:solidFill>
            <a:prstDash val="solid"/>
          </a:ln>
        </p:spPr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00476423-1A2C-4B46-95C1-65EFEE894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9925" y="34861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B8D7"/>
          </a:solidFill>
          <a:ln xmlns:a="http://schemas.openxmlformats.org/drawingml/2006/main" w="12383">
            <a:solidFill>
              <a:srgbClr val="11B8D7"/>
            </a:solidFill>
            <a:prstDash val="solid"/>
          </a:ln>
        </p:spPr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7E8CA684-95B2-49B4-A3EB-541BDE409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9925" y="3581400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FEF7F7A4-3A7A-48DD-9BE0-41F30FC89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4275" y="3486150"/>
            <a:ext cx="76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规划动作</a:t>
            </a:r>
          </a:p>
        </p:txBody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C2AD1D1D-C524-4115-82D4-C44BFF3D4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4275" y="3762375"/>
            <a:ext cx="762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click/input/drag</a:t>
            </a:r>
          </a:p>
        </p:txBody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083F9DF2-B83E-4E52-9CCC-36D1DBF4B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981450"/>
            <a:ext cx="15240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2383">
            <a:solidFill>
              <a:srgbClr val="B9D5F5"/>
            </a:solidFill>
            <a:prstDash val="solid"/>
          </a:ln>
        </p:spPr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9E2EE379-EEF6-4029-8ECE-593E5D376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1338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4C9A"/>
          </a:solidFill>
          <a:ln xmlns:a="http://schemas.openxmlformats.org/drawingml/2006/main" w="12383">
            <a:solidFill>
              <a:srgbClr val="0F4C9A"/>
            </a:solidFill>
            <a:prstDash val="solid"/>
          </a:ln>
        </p:spPr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AFBAE3F9-9DFF-43D3-9200-E813C659C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229100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9BC0A54A-9A3B-47A4-B2CA-83DBA47B1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4133850"/>
            <a:ext cx="76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执行动作</a:t>
            </a:r>
          </a:p>
        </p:txBody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EECE5256-F88A-46D5-8D8D-C3FE43821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4410075"/>
            <a:ext cx="762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本地浏览器</a:t>
            </a:r>
          </a:p>
        </p:txBody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20285D99-97C2-4B70-9127-5FB90569E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3981450"/>
            <a:ext cx="15240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2383">
            <a:solidFill>
              <a:srgbClr val="B9D5F5"/>
            </a:solidFill>
            <a:prstDash val="solid"/>
          </a:ln>
        </p:spPr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4D4D5FD3-5D0A-448D-B983-03E572352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9925" y="41338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B8D7"/>
          </a:solidFill>
          <a:ln xmlns:a="http://schemas.openxmlformats.org/drawingml/2006/main" w="12383">
            <a:solidFill>
              <a:srgbClr val="11B8D7"/>
            </a:solidFill>
            <a:prstDash val="solid"/>
          </a:ln>
        </p:spPr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777F9CD4-4ADC-4438-A908-582D5C3A4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9925" y="4229100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A969723A-8D77-4924-96D5-A045B0129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4275" y="4133850"/>
            <a:ext cx="76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返回轨迹</a:t>
            </a:r>
          </a:p>
        </p:txBody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F99F0FCD-B094-4890-AEC3-CC75C2643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4275" y="4410075"/>
            <a:ext cx="762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history + errors</a:t>
            </a:r>
          </a:p>
        </p:txBody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F50D8366-9094-4875-8F76-2B81E8846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619375"/>
            <a:ext cx="476250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BFD5EF"/>
            </a:solidFill>
            <a:prstDash val="solid"/>
          </a:ln>
        </p:spPr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EAA30F45-9F84-4C51-AEEA-883E6F3EB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876550"/>
            <a:ext cx="3333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A6A6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10A6A6"/>
                </a:solidFill>
                <a:latin typeface="微软雅黑"/>
                <a:ea typeface="微软雅黑"/>
                <a:cs typeface="微软雅黑"/>
              </a:rPr>
              <a:t>LangGraph 外部工作流</a:t>
            </a:r>
          </a:p>
        </p:txBody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BCAA20FC-87D9-4926-B44F-A4D6B7038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333750"/>
            <a:ext cx="12192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7FBFF"/>
          </a:solidFill>
          <a:ln xmlns:a="http://schemas.openxmlformats.org/drawingml/2006/main" w="12383">
            <a:solidFill>
              <a:srgbClr val="BFD5EF"/>
            </a:solidFill>
            <a:prstDash val="solid"/>
          </a:ln>
        </p:spPr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0AC51BE4-F77F-4610-B30D-9DD9CEDBB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457575"/>
            <a:ext cx="10668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8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ScenarioLoader</a:t>
            </a:r>
          </a:p>
        </p:txBody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AA267677-2D98-4C73-A28D-2A7B13600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333750"/>
            <a:ext cx="12192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8FAFF"/>
          </a:solidFill>
          <a:ln xmlns:a="http://schemas.openxmlformats.org/drawingml/2006/main" w="12383">
            <a:solidFill>
              <a:srgbClr val="BFD5EF"/>
            </a:solidFill>
            <a:prstDash val="solid"/>
          </a:ln>
        </p:spPr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BB9C92D0-DF0E-46E9-A8B2-77972CDA9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3457575"/>
            <a:ext cx="10668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8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BrowserUseRun</a:t>
            </a:r>
          </a:p>
        </p:txBody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A16975F3-0E62-493E-9FA3-1E037B0C2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333750"/>
            <a:ext cx="12192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7FBFF"/>
          </a:solidFill>
          <a:ln xmlns:a="http://schemas.openxmlformats.org/drawingml/2006/main" w="12383">
            <a:solidFill>
              <a:srgbClr val="BFD5EF"/>
            </a:solidFill>
            <a:prstDash val="solid"/>
          </a:ln>
        </p:spPr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92E70EDA-22AF-4D66-B115-629020B39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3457575"/>
            <a:ext cx="10668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8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TraceCollector</a:t>
            </a:r>
          </a:p>
        </p:txBody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B115011A-D030-48C6-A853-02E192076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924300"/>
            <a:ext cx="12192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7FBFF"/>
          </a:solidFill>
          <a:ln xmlns:a="http://schemas.openxmlformats.org/drawingml/2006/main" w="12383">
            <a:solidFill>
              <a:srgbClr val="BFD5EF"/>
            </a:solidFill>
            <a:prstDash val="solid"/>
          </a:ln>
        </p:spPr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9BF5B51A-1B25-4A0F-9135-1E2126656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048125"/>
            <a:ext cx="10668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8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Verifier</a:t>
            </a:r>
          </a:p>
        </p:txBody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74B96C53-EAD8-4E71-8D9A-4AA11F153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924300"/>
            <a:ext cx="12192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7FBFF"/>
          </a:solidFill>
          <a:ln xmlns:a="http://schemas.openxmlformats.org/drawingml/2006/main" w="12383">
            <a:solidFill>
              <a:srgbClr val="BFD5EF"/>
            </a:solidFill>
            <a:prstDash val="solid"/>
          </a:ln>
        </p:spPr>
      </p: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09FCC229-FF3D-4DEA-972C-A0CB68AA5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4048125"/>
            <a:ext cx="10668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8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FailureClassifier</a:t>
            </a:r>
          </a:p>
        </p:txBody>
      </p:sp>
      <p:sp>
        <p:nvSpPr>
          <p:cNvPr id="130" name="">
            <a:extLst xmlns:a="http://schemas.openxmlformats.org/drawingml/2006/main">
              <a:ext uri="{FF2B5EF4-FFF2-40B4-BE49-F238E27FC236}">
                <a16:creationId xmlns:a16="http://schemas.microsoft.com/office/drawing/2014/main" id="{5FCE84B1-68F6-4BFB-8FA6-782E16236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924300"/>
            <a:ext cx="12192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7FBFF"/>
          </a:solidFill>
          <a:ln xmlns:a="http://schemas.openxmlformats.org/drawingml/2006/main" w="12383">
            <a:solidFill>
              <a:srgbClr val="BFD5EF"/>
            </a:solidFill>
            <a:prstDash val="solid"/>
          </a:ln>
        </p:spPr>
      </p:sp>
      <p:sp>
        <p:nvSpPr>
          <p:cNvPr id="131" name="">
            <a:extLst xmlns:a="http://schemas.openxmlformats.org/drawingml/2006/main">
              <a:ext uri="{FF2B5EF4-FFF2-40B4-BE49-F238E27FC236}">
                <a16:creationId xmlns:a16="http://schemas.microsoft.com/office/drawing/2014/main" id="{1214921B-68EF-4E15-AB6F-D836B5520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4048125"/>
            <a:ext cx="10668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8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Reporter</a:t>
            </a:r>
          </a:p>
        </p:txBody>
      </p:sp>
      <p:sp>
        <p:nvSpPr>
          <p:cNvPr id="132" name="">
            <a:extLst xmlns:a="http://schemas.openxmlformats.org/drawingml/2006/main">
              <a:ext uri="{FF2B5EF4-FFF2-40B4-BE49-F238E27FC236}">
                <a16:creationId xmlns:a16="http://schemas.microsoft.com/office/drawing/2014/main" id="{93D79EC8-7018-4E6E-9B4A-A3DE37E1E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714875"/>
            <a:ext cx="8572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B2F63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1">
                <a:solidFill>
                  <a:srgbClr val="0B2F63"/>
                </a:solidFill>
                <a:latin typeface="微软雅黑"/>
                <a:ea typeface="微软雅黑"/>
                <a:cs typeface="微软雅黑"/>
              </a:rPr>
              <a:t>职责边界：browser-use 负责单场景内部执行 loop；LangGraph 负责执行前后编排、记录、验证、分类和报告。</a:t>
            </a:r>
          </a:p>
        </p:txBody>
      </p:sp>
    </p:spTree>
    <p:extLst>
      <p:ext uri="{BB962C8B-B14F-4D97-AF65-F5344CB8AC3E}">
        <p14:creationId xmlns:p14="http://schemas.microsoft.com/office/powerpoint/2010/main" val="1361452389"/>
      </p:ext>
    </p:extLst>
  </p:cSld>
</p:sld>
</file>

<file path=ppt/slides/slide1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文本框 34">
            <a:extLst xmlns:a="http://schemas.openxmlformats.org/drawingml/2006/main">
              <a:ext uri="{FF2B5EF4-FFF2-40B4-BE49-F238E27FC236}">
                <a16:creationId xmlns:a16="http://schemas.microsoft.com/office/drawing/2014/main" id="{B4FBA366-54D4-4BA9-B42C-1177675AF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507" y="1470061"/>
            <a:ext cx="3300904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600"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3.7  LangGraph 的作用</a:t>
            </a:r>
          </a:p>
        </p:txBody>
      </p:sp>
      <p:sp>
        <p:nvSpPr>
          <p:cNvPr id="47" name="矩形 46">
            <a:extLst xmlns:a="http://schemas.openxmlformats.org/drawingml/2006/main">
              <a:ext uri="{FF2B5EF4-FFF2-40B4-BE49-F238E27FC236}">
                <a16:creationId xmlns:a16="http://schemas.microsoft.com/office/drawing/2014/main" id="{B452C0D7-B37F-43A2-B486-58A1E2746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6759" y="6130925"/>
            <a:ext cx="508000" cy="50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solidFill>
              <a:srgbClr val="174994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lt1"/>
                </a:solidFill>
                <a:latin typeface="微软雅黑"/>
                <a:ea typeface="微软雅黑"/>
                <a:cs typeface="微软雅黑"/>
              </a:rPr>
              <a:t>17</a:t>
            </a:r>
          </a:p>
        </p:txBody>
      </p:sp>
      <p:sp>
        <p:nvSpPr>
          <p:cNvPr id="81" name="矩形 80">
            <a:extLst xmlns:a="http://schemas.openxmlformats.org/drawingml/2006/main">
              <a:ext uri="{FF2B5EF4-FFF2-40B4-BE49-F238E27FC236}">
                <a16:creationId xmlns:a16="http://schemas.microsoft.com/office/drawing/2014/main" id="{48B67799-EAB8-4038-8133-7AA3CC348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-1"/>
            <a:ext cx="12192000" cy="12037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2" name="矩形 81">
            <a:extLst xmlns:a="http://schemas.openxmlformats.org/drawingml/2006/main">
              <a:ext uri="{FF2B5EF4-FFF2-40B4-BE49-F238E27FC236}">
                <a16:creationId xmlns:a16="http://schemas.microsoft.com/office/drawing/2014/main" id="{7618DFB8-9A5A-456E-B964-39FCCC1C4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0"/>
            <a:ext cx="2650603" cy="120376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3" name="文本框 82">
            <a:extLst xmlns:a="http://schemas.openxmlformats.org/drawingml/2006/main">
              <a:ext uri="{FF2B5EF4-FFF2-40B4-BE49-F238E27FC236}">
                <a16:creationId xmlns:a16="http://schemas.microsoft.com/office/drawing/2014/main" id="{EE8BAED2-0ED5-4BBE-89F5-3C9830933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7216"/>
            <a:ext cx="2316627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研究背景及意义</a:t>
            </a:r>
          </a:p>
        </p:txBody>
      </p:sp>
      <p:sp>
        <p:nvSpPr>
          <p:cNvPr id="84" name="文本框 83">
            <a:extLst xmlns:a="http://schemas.openxmlformats.org/drawingml/2006/main">
              <a:ext uri="{FF2B5EF4-FFF2-40B4-BE49-F238E27FC236}">
                <a16:creationId xmlns:a16="http://schemas.microsoft.com/office/drawing/2014/main" id="{F0916D0F-A50A-4E89-979A-0657F8E39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7873" y="417216"/>
            <a:ext cx="295465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研究目标与方案</a:t>
            </a:r>
          </a:p>
        </p:txBody>
      </p:sp>
      <p:sp>
        <p:nvSpPr>
          <p:cNvPr id="85" name="文本框 84">
            <a:extLst xmlns:a="http://schemas.openxmlformats.org/drawingml/2006/main">
              <a:ext uri="{FF2B5EF4-FFF2-40B4-BE49-F238E27FC236}">
                <a16:creationId xmlns:a16="http://schemas.microsoft.com/office/drawing/2014/main" id="{D60737E1-A6B8-41C4-A7A8-7A1BAEF6D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373" y="427155"/>
            <a:ext cx="2954655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研究框架介绍</a:t>
            </a:r>
          </a:p>
        </p:txBody>
      </p:sp>
      <p:sp>
        <p:nvSpPr>
          <p:cNvPr id="86" name="文本框 85">
            <a:extLst xmlns:a="http://schemas.openxmlformats.org/drawingml/2006/main">
              <a:ext uri="{FF2B5EF4-FFF2-40B4-BE49-F238E27FC236}">
                <a16:creationId xmlns:a16="http://schemas.microsoft.com/office/drawing/2014/main" id="{66297B84-6EFF-40AB-A53D-3C70859BC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0874" y="417215"/>
            <a:ext cx="2316628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研究进度安排</a:t>
            </a:r>
          </a:p>
        </p:txBody>
      </p:sp>
      <p:sp>
        <p:nvSpPr>
          <p:cNvPr id="87" name="文本框 86">
            <a:extLst xmlns:a="http://schemas.openxmlformats.org/drawingml/2006/main">
              <a:ext uri="{FF2B5EF4-FFF2-40B4-BE49-F238E27FC236}">
                <a16:creationId xmlns:a16="http://schemas.microsoft.com/office/drawing/2014/main" id="{75DC209D-EBD6-48A3-A875-278F50EE2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4348" y="427155"/>
            <a:ext cx="176368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小组分工</a:t>
            </a:r>
          </a:p>
        </p:txBody>
      </p:sp>
      <p:pic>
        <p:nvPicPr>
          <p:cNvPr id="88" name="图片 8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70627e77e794c2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5963" y="168319"/>
            <a:ext cx="867126" cy="867126"/>
          </a:xfrm>
          <a:prstGeom xmlns:a="http://schemas.openxmlformats.org/drawingml/2006/main" prst="rect">
            <a:avLst/>
          </a:prstGeom>
        </p:spPr>
      </p:pic>
      <p:sp>
        <p:nvSpPr>
          <p:cNvPr id="89" name="直接连接符 88">
            <a:extLst xmlns:a="http://schemas.openxmlformats.org/drawingml/2006/main">
              <a:ext uri="{FF2B5EF4-FFF2-40B4-BE49-F238E27FC236}">
                <a16:creationId xmlns:a16="http://schemas.microsoft.com/office/drawing/2014/main" id="{AEC731C6-3A93-48EC-9740-0B376D106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6855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0" name="直接连接符 89">
            <a:extLst xmlns:a="http://schemas.openxmlformats.org/drawingml/2006/main">
              <a:ext uri="{FF2B5EF4-FFF2-40B4-BE49-F238E27FC236}">
                <a16:creationId xmlns:a16="http://schemas.microsoft.com/office/drawing/2014/main" id="{F4DDAE19-5915-4940-B7E9-3DE0F34D6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1" name="直接连接符 90">
            <a:extLst xmlns:a="http://schemas.openxmlformats.org/drawingml/2006/main">
              <a:ext uri="{FF2B5EF4-FFF2-40B4-BE49-F238E27FC236}">
                <a16:creationId xmlns:a16="http://schemas.microsoft.com/office/drawing/2014/main" id="{864E3B89-389B-49AF-AAD1-09CADE7DA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2774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2" name="直接连接符 91">
            <a:extLst xmlns:a="http://schemas.openxmlformats.org/drawingml/2006/main">
              <a:ext uri="{FF2B5EF4-FFF2-40B4-BE49-F238E27FC236}">
                <a16:creationId xmlns:a16="http://schemas.microsoft.com/office/drawing/2014/main" id="{017FED8B-64D0-4756-B26A-A577B7463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3068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3" name="等腰三角形 92">
            <a:extLst xmlns:a="http://schemas.openxmlformats.org/drawingml/2006/main">
              <a:ext uri="{FF2B5EF4-FFF2-40B4-BE49-F238E27FC236}">
                <a16:creationId xmlns:a16="http://schemas.microsoft.com/office/drawing/2014/main" id="{D51AB20F-761E-45F5-B030-75D3E3FC8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4604" y="986817"/>
            <a:ext cx="664192" cy="213744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5166A17A-3F2C-4AB6-8553-A89138235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905125"/>
            <a:ext cx="1095375" cy="523875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BFD5EF"/>
            </a:solidFill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8E364E46-94D5-423C-BCF7-9F5DC06B3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57525"/>
            <a:ext cx="952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788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ScenarioLoader</a:t>
            </a:r>
          </a:p>
        </p:txBody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4908BBAD-D7C1-405D-B1CA-B4AD8B228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3028950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B15FB431-E5B0-437D-B439-E2D208B7B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2905125"/>
            <a:ext cx="1095375" cy="523875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E6F8FF"/>
          </a:solidFill>
          <a:ln xmlns:a="http://schemas.openxmlformats.org/drawingml/2006/main" w="12383">
            <a:solidFill>
              <a:srgbClr val="11B8D7"/>
            </a:solidFill>
            <a:prstDash val="solid"/>
          </a:ln>
        </p:spPr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E8DD66CB-B163-4BCC-A03A-DC5E3F8B2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3057525"/>
            <a:ext cx="952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788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BrowserUseRun</a:t>
            </a:r>
          </a:p>
        </p:txBody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5B378BF4-5C5B-4B6B-8FEF-3A2202FEE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3028950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8781C18E-8C16-4A5D-A046-E08D98F14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905125"/>
            <a:ext cx="1095375" cy="523875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BFD5EF"/>
            </a:solidFill>
            <a:prstDash val="solid"/>
          </a:ln>
        </p:spPr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E45398EE-D52C-4BEB-97D3-B9FF9DF40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3057525"/>
            <a:ext cx="952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788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TraceCollector</a:t>
            </a:r>
          </a:p>
        </p:txBody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7BB7B779-27F8-45DB-8141-6D5DBEF77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028950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C6806B58-13BE-42A5-ADB8-3B10B6BBA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905125"/>
            <a:ext cx="1095375" cy="523875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BFD5EF"/>
            </a:solidFill>
            <a:prstDash val="solid"/>
          </a:ln>
        </p:spPr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B1FB5956-3A1A-4623-8577-BBE06B446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3057525"/>
            <a:ext cx="952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788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DeterministicVerifier</a:t>
            </a:r>
          </a:p>
        </p:txBody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D1823169-7233-4D45-B2CA-6C3AD7916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3028950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C77198BF-FDF8-4AB7-8806-302EB0E6A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905125"/>
            <a:ext cx="1095375" cy="523875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BFD5EF"/>
            </a:solidFill>
            <a:prstDash val="solid"/>
          </a:ln>
        </p:spPr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1123211F-AB48-4EA5-AA95-71F34758A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3057525"/>
            <a:ext cx="952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788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VisionVerifier</a:t>
            </a:r>
          </a:p>
        </p:txBody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C3255C09-9908-43E3-ACD6-330D05002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028950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D2C3E980-5AC7-4CCD-8450-C8DBE7F27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905125"/>
            <a:ext cx="1095375" cy="523875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BFD5EF"/>
            </a:solidFill>
            <a:prstDash val="solid"/>
          </a:ln>
        </p:spPr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1599A2D6-6697-4C55-988B-A1A80AB62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3057525"/>
            <a:ext cx="952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788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FailureClassifier</a:t>
            </a:r>
          </a:p>
        </p:txBody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61CEF08E-A860-4F10-8BC7-F0638CF74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028950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9B381BFC-34E7-4C3D-8A23-F3C03531F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905125"/>
            <a:ext cx="1095375" cy="523875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BFD5EF"/>
            </a:solidFill>
            <a:prstDash val="solid"/>
          </a:ln>
        </p:spPr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420746F4-0EA7-4D73-B42B-5E7F0A423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3057525"/>
            <a:ext cx="952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788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RepairPlanner</a:t>
            </a:r>
          </a:p>
        </p:txBody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B639FBBC-57EB-4393-92FA-F1CBEA3AC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3028950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7EF81B64-E65E-497A-98C8-C1FE6F18C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905125"/>
            <a:ext cx="1095375" cy="523875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BFD5EF"/>
            </a:solidFill>
            <a:prstDash val="solid"/>
          </a:ln>
        </p:spPr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531C772B-2693-47EF-894C-02A3D9755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3057525"/>
            <a:ext cx="952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788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Reporter</a:t>
            </a:r>
          </a:p>
        </p:txBody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C3294B6A-9CBB-48B2-9EB0-CE7F9F71D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952875"/>
            <a:ext cx="219075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6E2F3"/>
            </a:solidFill>
            <a:prstDash val="solid"/>
          </a:ln>
        </p:spPr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0D8E19FF-FD10-43D7-AA93-E930A6C8F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952875"/>
            <a:ext cx="66675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4C9A"/>
          </a:solidFill>
          <a:ln xmlns:a="http://schemas.openxmlformats.org/drawingml/2006/main" w="0">
            <a:solidFill>
              <a:srgbClr val="0F4C9A"/>
            </a:solidFill>
            <a:prstDash val="solid"/>
          </a:ln>
        </p:spPr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EB046505-2C67-4823-B3A6-545FDFEE7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" y="4095750"/>
            <a:ext cx="18669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4C9A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0F4C9A"/>
                </a:solidFill>
                <a:latin typeface="微软雅黑"/>
                <a:ea typeface="微软雅黑"/>
                <a:cs typeface="微软雅黑"/>
              </a:rPr>
              <a:t>固定运行阶段</a:t>
            </a:r>
          </a:p>
        </p:txBody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D77678DD-4B42-4A24-8028-2991C9E78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" y="4410075"/>
            <a:ext cx="18669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把一次 Agent 测试运行拆成可观测节点。</a:t>
            </a:r>
          </a:p>
        </p:txBody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11A007BA-32E9-41D8-8FC9-196C06386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952875"/>
            <a:ext cx="219075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6E2F3"/>
            </a:solidFill>
            <a:prstDash val="solid"/>
          </a:ln>
        </p:spPr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16026AE3-E54A-4784-BFA9-707F17073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952875"/>
            <a:ext cx="66675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B8D7"/>
          </a:solidFill>
          <a:ln xmlns:a="http://schemas.openxmlformats.org/drawingml/2006/main" w="0">
            <a:solidFill>
              <a:srgbClr val="11B8D7"/>
            </a:solidFill>
            <a:prstDash val="solid"/>
          </a:ln>
        </p:spPr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516B818E-5AD8-4977-92C6-6E41E2720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4095750"/>
            <a:ext cx="18669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B8D7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11B8D7"/>
                </a:solidFill>
                <a:latin typeface="微软雅黑"/>
                <a:ea typeface="微软雅黑"/>
                <a:cs typeface="微软雅黑"/>
              </a:rPr>
              <a:t>支撑实时可视化</a:t>
            </a:r>
          </a:p>
        </p:txBody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13A472D0-2A99-4EF4-A051-D7A67648C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4410075"/>
            <a:ext cx="18669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React Flow 根据 TraceEvent 展示节点流转。</a:t>
            </a:r>
          </a:p>
        </p:txBody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FA565C81-18D9-4598-9D7A-F077A127B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3952875"/>
            <a:ext cx="219075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6E2F3"/>
            </a:solidFill>
            <a:prstDash val="solid"/>
          </a:ln>
        </p:spPr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6FA566A3-7855-42C7-BEE3-E32A0F57C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3952875"/>
            <a:ext cx="66675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A6A6"/>
          </a:solidFill>
          <a:ln xmlns:a="http://schemas.openxmlformats.org/drawingml/2006/main" w="0">
            <a:solidFill>
              <a:srgbClr val="10A6A6"/>
            </a:solidFill>
            <a:prstDash val="solid"/>
          </a:ln>
        </p:spPr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D74967CE-E147-4957-933F-FDEDEF33A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0825" y="4095750"/>
            <a:ext cx="18669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A6A6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10A6A6"/>
                </a:solidFill>
                <a:latin typeface="微软雅黑"/>
                <a:ea typeface="微软雅黑"/>
                <a:cs typeface="微软雅黑"/>
              </a:rPr>
              <a:t>便于后续扩展</a:t>
            </a:r>
          </a:p>
        </p:txBody>
      </p: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10956A2A-F0A2-4320-AFC9-7D516367A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0825" y="4410075"/>
            <a:ext cx="18669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可插入二次验证、修补策略或人工审核节点。</a:t>
            </a:r>
          </a:p>
        </p:txBody>
      </p:sp>
      <p:sp>
        <p:nvSpPr>
          <p:cNvPr id="130" name="">
            <a:extLst xmlns:a="http://schemas.openxmlformats.org/drawingml/2006/main">
              <a:ext uri="{FF2B5EF4-FFF2-40B4-BE49-F238E27FC236}">
                <a16:creationId xmlns:a16="http://schemas.microsoft.com/office/drawing/2014/main" id="{FD42ECB9-152A-4FC9-A267-72A633FD6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952875"/>
            <a:ext cx="219075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6E2F3"/>
            </a:solidFill>
            <a:prstDash val="solid"/>
          </a:ln>
        </p:spPr>
      </p:sp>
      <p:sp>
        <p:nvSpPr>
          <p:cNvPr id="131" name="">
            <a:extLst xmlns:a="http://schemas.openxmlformats.org/drawingml/2006/main">
              <a:ext uri="{FF2B5EF4-FFF2-40B4-BE49-F238E27FC236}">
                <a16:creationId xmlns:a16="http://schemas.microsoft.com/office/drawing/2014/main" id="{9BEC9C42-FF48-4B73-9130-3E4EFE87E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952875"/>
            <a:ext cx="66675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A623"/>
          </a:solidFill>
          <a:ln xmlns:a="http://schemas.openxmlformats.org/drawingml/2006/main" w="0">
            <a:solidFill>
              <a:srgbClr val="F5A623"/>
            </a:solidFill>
            <a:prstDash val="solid"/>
          </a:ln>
        </p:spPr>
      </p:sp>
      <p:sp>
        <p:nvSpPr>
          <p:cNvPr id="132" name="">
            <a:extLst xmlns:a="http://schemas.openxmlformats.org/drawingml/2006/main">
              <a:ext uri="{FF2B5EF4-FFF2-40B4-BE49-F238E27FC236}">
                <a16:creationId xmlns:a16="http://schemas.microsoft.com/office/drawing/2014/main" id="{634831AA-E349-4CAF-9ED5-2A54F81BE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4095750"/>
            <a:ext cx="18669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5A623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F5A623"/>
                </a:solidFill>
                <a:latin typeface="微软雅黑"/>
                <a:ea typeface="微软雅黑"/>
                <a:cs typeface="微软雅黑"/>
              </a:rPr>
              <a:t>不替代 browser-use</a:t>
            </a:r>
          </a:p>
        </p:txBody>
      </p:sp>
      <p:sp>
        <p:nvSpPr>
          <p:cNvPr id="133" name="">
            <a:extLst xmlns:a="http://schemas.openxmlformats.org/drawingml/2006/main">
              <a:ext uri="{FF2B5EF4-FFF2-40B4-BE49-F238E27FC236}">
                <a16:creationId xmlns:a16="http://schemas.microsoft.com/office/drawing/2014/main" id="{3BC3760A-746C-48E6-A7BD-195D2A24F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4410075"/>
            <a:ext cx="18669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不重新规划每一次 click，避免职责重叠。</a:t>
            </a:r>
          </a:p>
        </p:txBody>
      </p:sp>
    </p:spTree>
    <p:extLst>
      <p:ext uri="{BB962C8B-B14F-4D97-AF65-F5344CB8AC3E}">
        <p14:creationId xmlns:p14="http://schemas.microsoft.com/office/powerpoint/2010/main" val="1361452389"/>
      </p:ext>
    </p:extLst>
  </p:cSld>
</p:sld>
</file>

<file path=ppt/slides/slide1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文本框 34">
            <a:extLst xmlns:a="http://schemas.openxmlformats.org/drawingml/2006/main">
              <a:ext uri="{FF2B5EF4-FFF2-40B4-BE49-F238E27FC236}">
                <a16:creationId xmlns:a16="http://schemas.microsoft.com/office/drawing/2014/main" id="{B4FBA366-54D4-4BA9-B42C-1177675AF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507" y="1470061"/>
            <a:ext cx="3300904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600"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3.8  从测试场景到 Agent 任务</a:t>
            </a:r>
          </a:p>
        </p:txBody>
      </p:sp>
      <p:sp>
        <p:nvSpPr>
          <p:cNvPr id="47" name="矩形 46">
            <a:extLst xmlns:a="http://schemas.openxmlformats.org/drawingml/2006/main">
              <a:ext uri="{FF2B5EF4-FFF2-40B4-BE49-F238E27FC236}">
                <a16:creationId xmlns:a16="http://schemas.microsoft.com/office/drawing/2014/main" id="{B452C0D7-B37F-43A2-B486-58A1E2746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6759" y="6130925"/>
            <a:ext cx="508000" cy="50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solidFill>
              <a:srgbClr val="174994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lt1"/>
                </a:solidFill>
                <a:latin typeface="微软雅黑"/>
                <a:ea typeface="微软雅黑"/>
                <a:cs typeface="微软雅黑"/>
              </a:rPr>
              <a:t>18</a:t>
            </a:r>
          </a:p>
        </p:txBody>
      </p:sp>
      <p:sp>
        <p:nvSpPr>
          <p:cNvPr id="81" name="矩形 80">
            <a:extLst xmlns:a="http://schemas.openxmlformats.org/drawingml/2006/main">
              <a:ext uri="{FF2B5EF4-FFF2-40B4-BE49-F238E27FC236}">
                <a16:creationId xmlns:a16="http://schemas.microsoft.com/office/drawing/2014/main" id="{48B67799-EAB8-4038-8133-7AA3CC348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-1"/>
            <a:ext cx="12192000" cy="12037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2" name="矩形 81">
            <a:extLst xmlns:a="http://schemas.openxmlformats.org/drawingml/2006/main">
              <a:ext uri="{FF2B5EF4-FFF2-40B4-BE49-F238E27FC236}">
                <a16:creationId xmlns:a16="http://schemas.microsoft.com/office/drawing/2014/main" id="{7618DFB8-9A5A-456E-B964-39FCCC1C4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0"/>
            <a:ext cx="2650603" cy="120376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3" name="文本框 82">
            <a:extLst xmlns:a="http://schemas.openxmlformats.org/drawingml/2006/main">
              <a:ext uri="{FF2B5EF4-FFF2-40B4-BE49-F238E27FC236}">
                <a16:creationId xmlns:a16="http://schemas.microsoft.com/office/drawing/2014/main" id="{EE8BAED2-0ED5-4BBE-89F5-3C9830933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7216"/>
            <a:ext cx="2316627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研究背景及意义</a:t>
            </a:r>
          </a:p>
        </p:txBody>
      </p:sp>
      <p:sp>
        <p:nvSpPr>
          <p:cNvPr id="84" name="文本框 83">
            <a:extLst xmlns:a="http://schemas.openxmlformats.org/drawingml/2006/main">
              <a:ext uri="{FF2B5EF4-FFF2-40B4-BE49-F238E27FC236}">
                <a16:creationId xmlns:a16="http://schemas.microsoft.com/office/drawing/2014/main" id="{F0916D0F-A50A-4E89-979A-0657F8E39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7873" y="417216"/>
            <a:ext cx="295465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研究目标与方案</a:t>
            </a:r>
          </a:p>
        </p:txBody>
      </p:sp>
      <p:sp>
        <p:nvSpPr>
          <p:cNvPr id="85" name="文本框 84">
            <a:extLst xmlns:a="http://schemas.openxmlformats.org/drawingml/2006/main">
              <a:ext uri="{FF2B5EF4-FFF2-40B4-BE49-F238E27FC236}">
                <a16:creationId xmlns:a16="http://schemas.microsoft.com/office/drawing/2014/main" id="{D60737E1-A6B8-41C4-A7A8-7A1BAEF6D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373" y="427155"/>
            <a:ext cx="2954655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研究框架介绍</a:t>
            </a:r>
          </a:p>
        </p:txBody>
      </p:sp>
      <p:sp>
        <p:nvSpPr>
          <p:cNvPr id="86" name="文本框 85">
            <a:extLst xmlns:a="http://schemas.openxmlformats.org/drawingml/2006/main">
              <a:ext uri="{FF2B5EF4-FFF2-40B4-BE49-F238E27FC236}">
                <a16:creationId xmlns:a16="http://schemas.microsoft.com/office/drawing/2014/main" id="{66297B84-6EFF-40AB-A53D-3C70859BC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0874" y="417215"/>
            <a:ext cx="2316628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研究进度安排</a:t>
            </a:r>
          </a:p>
        </p:txBody>
      </p:sp>
      <p:sp>
        <p:nvSpPr>
          <p:cNvPr id="87" name="文本框 86">
            <a:extLst xmlns:a="http://schemas.openxmlformats.org/drawingml/2006/main">
              <a:ext uri="{FF2B5EF4-FFF2-40B4-BE49-F238E27FC236}">
                <a16:creationId xmlns:a16="http://schemas.microsoft.com/office/drawing/2014/main" id="{75DC209D-EBD6-48A3-A875-278F50EE2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4348" y="427155"/>
            <a:ext cx="176368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小组分工</a:t>
            </a:r>
          </a:p>
        </p:txBody>
      </p:sp>
      <p:pic>
        <p:nvPicPr>
          <p:cNvPr id="88" name="图片 8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ed2cfb7d5bd4e8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5963" y="168319"/>
            <a:ext cx="867126" cy="867126"/>
          </a:xfrm>
          <a:prstGeom xmlns:a="http://schemas.openxmlformats.org/drawingml/2006/main" prst="rect">
            <a:avLst/>
          </a:prstGeom>
        </p:spPr>
      </p:pic>
      <p:sp>
        <p:nvSpPr>
          <p:cNvPr id="89" name="直接连接符 88">
            <a:extLst xmlns:a="http://schemas.openxmlformats.org/drawingml/2006/main">
              <a:ext uri="{FF2B5EF4-FFF2-40B4-BE49-F238E27FC236}">
                <a16:creationId xmlns:a16="http://schemas.microsoft.com/office/drawing/2014/main" id="{AEC731C6-3A93-48EC-9740-0B376D106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6855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0" name="直接连接符 89">
            <a:extLst xmlns:a="http://schemas.openxmlformats.org/drawingml/2006/main">
              <a:ext uri="{FF2B5EF4-FFF2-40B4-BE49-F238E27FC236}">
                <a16:creationId xmlns:a16="http://schemas.microsoft.com/office/drawing/2014/main" id="{F4DDAE19-5915-4940-B7E9-3DE0F34D6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1" name="直接连接符 90">
            <a:extLst xmlns:a="http://schemas.openxmlformats.org/drawingml/2006/main">
              <a:ext uri="{FF2B5EF4-FFF2-40B4-BE49-F238E27FC236}">
                <a16:creationId xmlns:a16="http://schemas.microsoft.com/office/drawing/2014/main" id="{864E3B89-389B-49AF-AAD1-09CADE7DA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2774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2" name="直接连接符 91">
            <a:extLst xmlns:a="http://schemas.openxmlformats.org/drawingml/2006/main">
              <a:ext uri="{FF2B5EF4-FFF2-40B4-BE49-F238E27FC236}">
                <a16:creationId xmlns:a16="http://schemas.microsoft.com/office/drawing/2014/main" id="{017FED8B-64D0-4756-B26A-A577B7463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3068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3" name="等腰三角形 92">
            <a:extLst xmlns:a="http://schemas.openxmlformats.org/drawingml/2006/main">
              <a:ext uri="{FF2B5EF4-FFF2-40B4-BE49-F238E27FC236}">
                <a16:creationId xmlns:a16="http://schemas.microsoft.com/office/drawing/2014/main" id="{D51AB20F-761E-45F5-B030-75D3E3FC8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4604" y="986817"/>
            <a:ext cx="664192" cy="213744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A9839D10-05AA-43BC-B864-6FB9ADC0F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76500"/>
            <a:ext cx="238125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6E2F3"/>
            </a:solidFill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E7076BE3-B75A-4E3C-A6CF-953067035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76500"/>
            <a:ext cx="66675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4C9A"/>
          </a:solidFill>
          <a:ln xmlns:a="http://schemas.openxmlformats.org/drawingml/2006/main" w="0">
            <a:solidFill>
              <a:srgbClr val="0F4C9A"/>
            </a:solidFill>
            <a:prstDash val="solid"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6F7C52FF-80D1-4F5D-B7E0-5E1F6E6B2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619375"/>
            <a:ext cx="20574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4C9A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0F4C9A"/>
                </a:solidFill>
                <a:latin typeface="微软雅黑"/>
                <a:ea typeface="微软雅黑"/>
                <a:cs typeface="微软雅黑"/>
              </a:rPr>
              <a:t>TestScenario</a:t>
            </a:r>
          </a:p>
        </p:txBody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10CAD744-94CA-40F7-9D70-E3B7FB60E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933700"/>
            <a:ext cx="2057400" cy="1447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title</a:t>
            </a:r>
          </a:p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preconditions</a:t>
            </a:r>
          </a:p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test_data</a:t>
            </a:r>
          </a:p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steps</a:t>
            </a:r>
          </a:p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expectations</a:t>
            </a:r>
          </a:p>
        </p:txBody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E4FC50C2-DF5C-4230-81C4-9B2FBC536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3286125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88725276-FBC7-44E6-99FC-6986EBBF5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2476500"/>
            <a:ext cx="276225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6E2F3"/>
            </a:solidFill>
            <a:prstDash val="solid"/>
          </a:ln>
        </p:spPr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3660064B-A590-4D50-BA61-382DC6C89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2476500"/>
            <a:ext cx="66675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B8D7"/>
          </a:solidFill>
          <a:ln xmlns:a="http://schemas.openxmlformats.org/drawingml/2006/main" w="0">
            <a:solidFill>
              <a:srgbClr val="11B8D7"/>
            </a:solidFill>
            <a:prstDash val="solid"/>
          </a:ln>
        </p:spPr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FB8A04B5-620D-480F-92AA-103E2EA34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2619375"/>
            <a:ext cx="24384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B8D7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11B8D7"/>
                </a:solidFill>
                <a:latin typeface="微软雅黑"/>
                <a:ea typeface="微软雅黑"/>
                <a:cs typeface="微软雅黑"/>
              </a:rPr>
              <a:t>TaskBuilder</a:t>
            </a:r>
          </a:p>
        </p:txBody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CCDEA802-E41B-41CF-A36E-1330F8B25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2933700"/>
            <a:ext cx="2438400" cy="1447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字段筛选</a:t>
            </a:r>
          </a:p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敏感信息过滤</a:t>
            </a:r>
          </a:p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内容转换与规范化</a:t>
            </a:r>
          </a:p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补充执行规则</a:t>
            </a:r>
          </a:p>
        </p:txBody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A0B8E574-8113-448F-8827-DCF8FD14A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286125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A273CF0D-00F8-4438-948D-9B7C7A982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2476500"/>
            <a:ext cx="276225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6E2F3"/>
            </a:solidFill>
            <a:prstDash val="solid"/>
          </a:ln>
        </p:spPr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E474E4CD-FDBF-471F-8286-A86B79342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2476500"/>
            <a:ext cx="66675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A6A6"/>
          </a:solidFill>
          <a:ln xmlns:a="http://schemas.openxmlformats.org/drawingml/2006/main" w="0">
            <a:solidFill>
              <a:srgbClr val="10A6A6"/>
            </a:solidFill>
            <a:prstDash val="solid"/>
          </a:ln>
        </p:spPr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461E5748-E1DE-4259-9492-8305F51A4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619375"/>
            <a:ext cx="24384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A6A6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10A6A6"/>
                </a:solidFill>
                <a:latin typeface="微软雅黑"/>
                <a:ea typeface="微软雅黑"/>
                <a:cs typeface="微软雅黑"/>
              </a:rPr>
              <a:t>browser-use 任务</a:t>
            </a:r>
          </a:p>
        </p:txBody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B371C34E-8B16-4083-979A-75FC8BD76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933700"/>
            <a:ext cx="2438400" cy="1447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场景标题</a:t>
            </a:r>
          </a:p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前置条件</a:t>
            </a:r>
          </a:p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非敏感测试数据</a:t>
            </a:r>
          </a:p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操作步骤</a:t>
            </a:r>
          </a:p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执行规则</a:t>
            </a:r>
          </a:p>
        </p:txBody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7DA59668-39CB-4ABB-B1C1-E202B255E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4810125"/>
            <a:ext cx="3429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2F0"/>
          </a:solidFill>
          <a:ln xmlns:a="http://schemas.openxmlformats.org/drawingml/2006/main" w="12383">
            <a:solidFill>
              <a:srgbClr val="F4B0A8"/>
            </a:solidFill>
            <a:prstDash val="solid"/>
          </a:ln>
        </p:spPr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A377CE00-72B1-49D7-AA47-BB814487C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4972050"/>
            <a:ext cx="300037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E74C3C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1">
                <a:solidFill>
                  <a:srgbClr val="E74C3C"/>
                </a:solidFill>
                <a:latin typeface="微软雅黑"/>
                <a:ea typeface="微软雅黑"/>
                <a:cs typeface="微软雅黑"/>
              </a:rPr>
              <a:t>password / token / api_key 不进入任务</a:t>
            </a:r>
          </a:p>
        </p:txBody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DC246372-183C-4EC9-B782-8D3B3A6A6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810125"/>
            <a:ext cx="3619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0FFF7"/>
          </a:solidFill>
          <a:ln xmlns:a="http://schemas.openxmlformats.org/drawingml/2006/main" w="12383">
            <a:solidFill>
              <a:srgbClr val="B9EBCF"/>
            </a:solidFill>
            <a:prstDash val="solid"/>
          </a:ln>
        </p:spPr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1869098E-AAD8-4FDE-8B28-8CD52D06B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4972050"/>
            <a:ext cx="3238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27AE60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1">
                <a:solidFill>
                  <a:srgbClr val="27AE60"/>
                </a:solidFill>
                <a:latin typeface="微软雅黑"/>
                <a:ea typeface="微软雅黑"/>
                <a:cs typeface="微软雅黑"/>
              </a:rPr>
              <a:t>expectations 只交给后置验证器，避免 Agent 迎合答案</a:t>
            </a:r>
          </a:p>
        </p:txBody>
      </p:sp>
    </p:spTree>
    <p:extLst>
      <p:ext uri="{BB962C8B-B14F-4D97-AF65-F5344CB8AC3E}">
        <p14:creationId xmlns:p14="http://schemas.microsoft.com/office/powerpoint/2010/main" val="1361452389"/>
      </p:ext>
    </p:extLst>
  </p:cSld>
</p:sld>
</file>

<file path=ppt/slides/slide1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文本框 34">
            <a:extLst xmlns:a="http://schemas.openxmlformats.org/drawingml/2006/main">
              <a:ext uri="{FF2B5EF4-FFF2-40B4-BE49-F238E27FC236}">
                <a16:creationId xmlns:a16="http://schemas.microsoft.com/office/drawing/2014/main" id="{B4FBA366-54D4-4BA9-B42C-1177675AF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507" y="1470061"/>
            <a:ext cx="3300904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600"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3.9  为什么选择 browser-use</a:t>
            </a:r>
          </a:p>
        </p:txBody>
      </p:sp>
      <p:sp>
        <p:nvSpPr>
          <p:cNvPr id="47" name="矩形 46">
            <a:extLst xmlns:a="http://schemas.openxmlformats.org/drawingml/2006/main">
              <a:ext uri="{FF2B5EF4-FFF2-40B4-BE49-F238E27FC236}">
                <a16:creationId xmlns:a16="http://schemas.microsoft.com/office/drawing/2014/main" id="{B452C0D7-B37F-43A2-B486-58A1E2746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6759" y="6130925"/>
            <a:ext cx="508000" cy="50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solidFill>
              <a:srgbClr val="174994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lt1"/>
                </a:solidFill>
                <a:latin typeface="微软雅黑"/>
                <a:ea typeface="微软雅黑"/>
                <a:cs typeface="微软雅黑"/>
              </a:rPr>
              <a:t>19</a:t>
            </a:r>
          </a:p>
        </p:txBody>
      </p:sp>
      <p:sp>
        <p:nvSpPr>
          <p:cNvPr id="81" name="矩形 80">
            <a:extLst xmlns:a="http://schemas.openxmlformats.org/drawingml/2006/main">
              <a:ext uri="{FF2B5EF4-FFF2-40B4-BE49-F238E27FC236}">
                <a16:creationId xmlns:a16="http://schemas.microsoft.com/office/drawing/2014/main" id="{48B67799-EAB8-4038-8133-7AA3CC348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-1"/>
            <a:ext cx="12192000" cy="12037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2" name="矩形 81">
            <a:extLst xmlns:a="http://schemas.openxmlformats.org/drawingml/2006/main">
              <a:ext uri="{FF2B5EF4-FFF2-40B4-BE49-F238E27FC236}">
                <a16:creationId xmlns:a16="http://schemas.microsoft.com/office/drawing/2014/main" id="{7618DFB8-9A5A-456E-B964-39FCCC1C4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0"/>
            <a:ext cx="2650603" cy="120376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3" name="文本框 82">
            <a:extLst xmlns:a="http://schemas.openxmlformats.org/drawingml/2006/main">
              <a:ext uri="{FF2B5EF4-FFF2-40B4-BE49-F238E27FC236}">
                <a16:creationId xmlns:a16="http://schemas.microsoft.com/office/drawing/2014/main" id="{EE8BAED2-0ED5-4BBE-89F5-3C9830933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7216"/>
            <a:ext cx="2316627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研究背景及意义</a:t>
            </a:r>
          </a:p>
        </p:txBody>
      </p:sp>
      <p:sp>
        <p:nvSpPr>
          <p:cNvPr id="84" name="文本框 83">
            <a:extLst xmlns:a="http://schemas.openxmlformats.org/drawingml/2006/main">
              <a:ext uri="{FF2B5EF4-FFF2-40B4-BE49-F238E27FC236}">
                <a16:creationId xmlns:a16="http://schemas.microsoft.com/office/drawing/2014/main" id="{F0916D0F-A50A-4E89-979A-0657F8E39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7873" y="417216"/>
            <a:ext cx="295465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研究目标与方案</a:t>
            </a:r>
          </a:p>
        </p:txBody>
      </p:sp>
      <p:sp>
        <p:nvSpPr>
          <p:cNvPr id="85" name="文本框 84">
            <a:extLst xmlns:a="http://schemas.openxmlformats.org/drawingml/2006/main">
              <a:ext uri="{FF2B5EF4-FFF2-40B4-BE49-F238E27FC236}">
                <a16:creationId xmlns:a16="http://schemas.microsoft.com/office/drawing/2014/main" id="{D60737E1-A6B8-41C4-A7A8-7A1BAEF6D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373" y="427155"/>
            <a:ext cx="2954655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研究框架介绍</a:t>
            </a:r>
          </a:p>
        </p:txBody>
      </p:sp>
      <p:sp>
        <p:nvSpPr>
          <p:cNvPr id="86" name="文本框 85">
            <a:extLst xmlns:a="http://schemas.openxmlformats.org/drawingml/2006/main">
              <a:ext uri="{FF2B5EF4-FFF2-40B4-BE49-F238E27FC236}">
                <a16:creationId xmlns:a16="http://schemas.microsoft.com/office/drawing/2014/main" id="{66297B84-6EFF-40AB-A53D-3C70859BC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0874" y="417215"/>
            <a:ext cx="2316628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研究进度安排</a:t>
            </a:r>
          </a:p>
        </p:txBody>
      </p:sp>
      <p:sp>
        <p:nvSpPr>
          <p:cNvPr id="87" name="文本框 86">
            <a:extLst xmlns:a="http://schemas.openxmlformats.org/drawingml/2006/main">
              <a:ext uri="{FF2B5EF4-FFF2-40B4-BE49-F238E27FC236}">
                <a16:creationId xmlns:a16="http://schemas.microsoft.com/office/drawing/2014/main" id="{75DC209D-EBD6-48A3-A875-278F50EE2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4348" y="427155"/>
            <a:ext cx="176368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小组分工</a:t>
            </a:r>
          </a:p>
        </p:txBody>
      </p:sp>
      <p:pic>
        <p:nvPicPr>
          <p:cNvPr id="88" name="图片 8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5875b41519647c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5963" y="168319"/>
            <a:ext cx="867126" cy="867126"/>
          </a:xfrm>
          <a:prstGeom xmlns:a="http://schemas.openxmlformats.org/drawingml/2006/main" prst="rect">
            <a:avLst/>
          </a:prstGeom>
        </p:spPr>
      </p:pic>
      <p:sp>
        <p:nvSpPr>
          <p:cNvPr id="89" name="直接连接符 88">
            <a:extLst xmlns:a="http://schemas.openxmlformats.org/drawingml/2006/main">
              <a:ext uri="{FF2B5EF4-FFF2-40B4-BE49-F238E27FC236}">
                <a16:creationId xmlns:a16="http://schemas.microsoft.com/office/drawing/2014/main" id="{AEC731C6-3A93-48EC-9740-0B376D106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6855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0" name="直接连接符 89">
            <a:extLst xmlns:a="http://schemas.openxmlformats.org/drawingml/2006/main">
              <a:ext uri="{FF2B5EF4-FFF2-40B4-BE49-F238E27FC236}">
                <a16:creationId xmlns:a16="http://schemas.microsoft.com/office/drawing/2014/main" id="{F4DDAE19-5915-4940-B7E9-3DE0F34D6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1" name="直接连接符 90">
            <a:extLst xmlns:a="http://schemas.openxmlformats.org/drawingml/2006/main">
              <a:ext uri="{FF2B5EF4-FFF2-40B4-BE49-F238E27FC236}">
                <a16:creationId xmlns:a16="http://schemas.microsoft.com/office/drawing/2014/main" id="{864E3B89-389B-49AF-AAD1-09CADE7DA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2774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2" name="直接连接符 91">
            <a:extLst xmlns:a="http://schemas.openxmlformats.org/drawingml/2006/main">
              <a:ext uri="{FF2B5EF4-FFF2-40B4-BE49-F238E27FC236}">
                <a16:creationId xmlns:a16="http://schemas.microsoft.com/office/drawing/2014/main" id="{017FED8B-64D0-4756-B26A-A577B7463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3068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3" name="等腰三角形 92">
            <a:extLst xmlns:a="http://schemas.openxmlformats.org/drawingml/2006/main">
              <a:ext uri="{FF2B5EF4-FFF2-40B4-BE49-F238E27FC236}">
                <a16:creationId xmlns:a16="http://schemas.microsoft.com/office/drawing/2014/main" id="{D51AB20F-761E-45F5-B030-75D3E3FC8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4604" y="986817"/>
            <a:ext cx="664192" cy="213744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6745D202-082C-4504-968B-DD382184F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238375"/>
            <a:ext cx="4476750" cy="247650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BFD5EF"/>
            </a:solidFill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99F3DE9B-6CA4-4BE0-BFC6-1AE9E6C01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238375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0B2F63"/>
          </a:solidFill>
          <a:ln xmlns:a="http://schemas.openxmlformats.org/drawingml/2006/main" w="12383">
            <a:solidFill>
              <a:srgbClr val="0B2F63"/>
            </a:solidFill>
            <a:prstDash val="solid"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60F3A93D-0A1F-4019-8B69-87683DB3C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352675"/>
            <a:ext cx="4476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Playwright</a:t>
            </a:r>
          </a:p>
        </p:txBody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323E4A74-9CFA-4D9B-BE38-4FDAAD55E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2905125"/>
            <a:ext cx="3048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• 脚本驱动</a:t>
            </a:r>
          </a:p>
        </p:txBody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2CE29630-EA3E-4117-8FA7-C5B653F7B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3267075"/>
            <a:ext cx="3048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• 依赖 locator</a:t>
            </a:r>
          </a:p>
        </p:txBody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3D96C3AB-C5D4-439E-A019-828D89593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3629025"/>
            <a:ext cx="3048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• 确定性 E2E</a:t>
            </a:r>
          </a:p>
        </p:txBody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B7F10B3E-DED9-4D00-9DB0-3E53146EA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3990975"/>
            <a:ext cx="3048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• 适合已知流程</a:t>
            </a:r>
          </a:p>
        </p:txBody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EB680E16-F170-4C82-A010-E74272986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2238375"/>
            <a:ext cx="4476750" cy="247650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BFD5EF"/>
            </a:solidFill>
            <a:prstDash val="solid"/>
          </a:ln>
        </p:spPr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6CC6DC61-C095-448F-B544-6D433E3D5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2238375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10A6A6"/>
          </a:solidFill>
          <a:ln xmlns:a="http://schemas.openxmlformats.org/drawingml/2006/main" w="12383">
            <a:solidFill>
              <a:srgbClr val="10A6A6"/>
            </a:solidFill>
            <a:prstDash val="solid"/>
          </a:ln>
        </p:spPr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A9D884C4-A22F-4345-9C9C-5147AD9DB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2352675"/>
            <a:ext cx="4476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browser-use</a:t>
            </a:r>
          </a:p>
        </p:txBody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F994CF44-8B30-4A2C-AD3D-9E9B7CCAB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2905125"/>
            <a:ext cx="3048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• 自然语言任务</a:t>
            </a:r>
          </a:p>
        </p:txBody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0912EAB9-A98F-4FCB-84AE-497F853CE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3267075"/>
            <a:ext cx="3048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• 运行时观察</a:t>
            </a:r>
          </a:p>
        </p:txBody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854BCCEA-BFEC-447F-8613-C118F206C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3629025"/>
            <a:ext cx="3048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• 自主规划动作</a:t>
            </a:r>
          </a:p>
        </p:txBody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33C2AF38-C8B2-4473-8ED4-4DE2C1CA4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3990975"/>
            <a:ext cx="3048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• 返回执行轨迹</a:t>
            </a:r>
          </a:p>
        </p:txBody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448BC0BC-AE8C-4395-A2F4-EF9F11873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5095875"/>
            <a:ext cx="809625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FF8E8"/>
          </a:solidFill>
          <a:ln xmlns:a="http://schemas.openxmlformats.org/drawingml/2006/main" w="12383">
            <a:solidFill>
              <a:srgbClr val="F1CE78"/>
            </a:solidFill>
            <a:prstDash val="solid"/>
          </a:ln>
        </p:spPr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E359DD45-865D-416A-9DC1-45C5999A7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5219700"/>
            <a:ext cx="7524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9A6500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9A6500"/>
                </a:solidFill>
                <a:latin typeface="微软雅黑"/>
                <a:ea typeface="微软雅黑"/>
                <a:cs typeface="微软雅黑"/>
              </a:rPr>
              <a:t>手册场景需要 Agent 自主执行：没有 selector，只有自然语言意图。</a:t>
            </a:r>
          </a:p>
        </p:txBody>
      </p:sp>
    </p:spTree>
    <p:extLst>
      <p:ext uri="{BB962C8B-B14F-4D97-AF65-F5344CB8AC3E}">
        <p14:creationId xmlns:p14="http://schemas.microsoft.com/office/powerpoint/2010/main" val="1361452389"/>
      </p:ext>
    </p:extLst>
  </p:cSld>
</p:sld>
</file>

<file path=ppt/slides/slide2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文本框 34">
            <a:extLst xmlns:a="http://schemas.openxmlformats.org/drawingml/2006/main">
              <a:ext uri="{FF2B5EF4-FFF2-40B4-BE49-F238E27FC236}">
                <a16:creationId xmlns:a16="http://schemas.microsoft.com/office/drawing/2014/main" id="{B4FBA366-54D4-4BA9-B42C-1177675AF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507" y="1470061"/>
            <a:ext cx="3300904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600"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3.10  运行编排与实时事件流</a:t>
            </a:r>
          </a:p>
        </p:txBody>
      </p:sp>
      <p:sp>
        <p:nvSpPr>
          <p:cNvPr id="47" name="矩形 46">
            <a:extLst xmlns:a="http://schemas.openxmlformats.org/drawingml/2006/main">
              <a:ext uri="{FF2B5EF4-FFF2-40B4-BE49-F238E27FC236}">
                <a16:creationId xmlns:a16="http://schemas.microsoft.com/office/drawing/2014/main" id="{B452C0D7-B37F-43A2-B486-58A1E2746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6759" y="6130925"/>
            <a:ext cx="508000" cy="50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solidFill>
              <a:srgbClr val="174994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lt1"/>
                </a:solidFill>
                <a:latin typeface="微软雅黑"/>
                <a:ea typeface="微软雅黑"/>
                <a:cs typeface="微软雅黑"/>
              </a:rPr>
              <a:t>20</a:t>
            </a:r>
          </a:p>
        </p:txBody>
      </p:sp>
      <p:sp>
        <p:nvSpPr>
          <p:cNvPr id="81" name="矩形 80">
            <a:extLst xmlns:a="http://schemas.openxmlformats.org/drawingml/2006/main">
              <a:ext uri="{FF2B5EF4-FFF2-40B4-BE49-F238E27FC236}">
                <a16:creationId xmlns:a16="http://schemas.microsoft.com/office/drawing/2014/main" id="{48B67799-EAB8-4038-8133-7AA3CC348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-1"/>
            <a:ext cx="12192000" cy="12037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2" name="矩形 81">
            <a:extLst xmlns:a="http://schemas.openxmlformats.org/drawingml/2006/main">
              <a:ext uri="{FF2B5EF4-FFF2-40B4-BE49-F238E27FC236}">
                <a16:creationId xmlns:a16="http://schemas.microsoft.com/office/drawing/2014/main" id="{7618DFB8-9A5A-456E-B964-39FCCC1C4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0"/>
            <a:ext cx="2650603" cy="120376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3" name="文本框 82">
            <a:extLst xmlns:a="http://schemas.openxmlformats.org/drawingml/2006/main">
              <a:ext uri="{FF2B5EF4-FFF2-40B4-BE49-F238E27FC236}">
                <a16:creationId xmlns:a16="http://schemas.microsoft.com/office/drawing/2014/main" id="{EE8BAED2-0ED5-4BBE-89F5-3C9830933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7216"/>
            <a:ext cx="2316627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研究背景及意义</a:t>
            </a:r>
          </a:p>
        </p:txBody>
      </p:sp>
      <p:sp>
        <p:nvSpPr>
          <p:cNvPr id="84" name="文本框 83">
            <a:extLst xmlns:a="http://schemas.openxmlformats.org/drawingml/2006/main">
              <a:ext uri="{FF2B5EF4-FFF2-40B4-BE49-F238E27FC236}">
                <a16:creationId xmlns:a16="http://schemas.microsoft.com/office/drawing/2014/main" id="{F0916D0F-A50A-4E89-979A-0657F8E39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7873" y="417216"/>
            <a:ext cx="295465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研究目标与方案</a:t>
            </a:r>
          </a:p>
        </p:txBody>
      </p:sp>
      <p:sp>
        <p:nvSpPr>
          <p:cNvPr id="85" name="文本框 84">
            <a:extLst xmlns:a="http://schemas.openxmlformats.org/drawingml/2006/main">
              <a:ext uri="{FF2B5EF4-FFF2-40B4-BE49-F238E27FC236}">
                <a16:creationId xmlns:a16="http://schemas.microsoft.com/office/drawing/2014/main" id="{D60737E1-A6B8-41C4-A7A8-7A1BAEF6D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373" y="427155"/>
            <a:ext cx="2954655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研究框架介绍</a:t>
            </a:r>
          </a:p>
        </p:txBody>
      </p:sp>
      <p:sp>
        <p:nvSpPr>
          <p:cNvPr id="86" name="文本框 85">
            <a:extLst xmlns:a="http://schemas.openxmlformats.org/drawingml/2006/main">
              <a:ext uri="{FF2B5EF4-FFF2-40B4-BE49-F238E27FC236}">
                <a16:creationId xmlns:a16="http://schemas.microsoft.com/office/drawing/2014/main" id="{66297B84-6EFF-40AB-A53D-3C70859BC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0874" y="417215"/>
            <a:ext cx="2316628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研究进度安排</a:t>
            </a:r>
          </a:p>
        </p:txBody>
      </p:sp>
      <p:sp>
        <p:nvSpPr>
          <p:cNvPr id="87" name="文本框 86">
            <a:extLst xmlns:a="http://schemas.openxmlformats.org/drawingml/2006/main">
              <a:ext uri="{FF2B5EF4-FFF2-40B4-BE49-F238E27FC236}">
                <a16:creationId xmlns:a16="http://schemas.microsoft.com/office/drawing/2014/main" id="{75DC209D-EBD6-48A3-A875-278F50EE2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4348" y="427155"/>
            <a:ext cx="176368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小组分工</a:t>
            </a:r>
          </a:p>
        </p:txBody>
      </p:sp>
      <p:pic>
        <p:nvPicPr>
          <p:cNvPr id="88" name="图片 8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c4da4c7fc644ee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5963" y="168319"/>
            <a:ext cx="867126" cy="867126"/>
          </a:xfrm>
          <a:prstGeom xmlns:a="http://schemas.openxmlformats.org/drawingml/2006/main" prst="rect">
            <a:avLst/>
          </a:prstGeom>
        </p:spPr>
      </p:pic>
      <p:sp>
        <p:nvSpPr>
          <p:cNvPr id="89" name="直接连接符 88">
            <a:extLst xmlns:a="http://schemas.openxmlformats.org/drawingml/2006/main">
              <a:ext uri="{FF2B5EF4-FFF2-40B4-BE49-F238E27FC236}">
                <a16:creationId xmlns:a16="http://schemas.microsoft.com/office/drawing/2014/main" id="{AEC731C6-3A93-48EC-9740-0B376D106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6855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0" name="直接连接符 89">
            <a:extLst xmlns:a="http://schemas.openxmlformats.org/drawingml/2006/main">
              <a:ext uri="{FF2B5EF4-FFF2-40B4-BE49-F238E27FC236}">
                <a16:creationId xmlns:a16="http://schemas.microsoft.com/office/drawing/2014/main" id="{F4DDAE19-5915-4940-B7E9-3DE0F34D6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1" name="直接连接符 90">
            <a:extLst xmlns:a="http://schemas.openxmlformats.org/drawingml/2006/main">
              <a:ext uri="{FF2B5EF4-FFF2-40B4-BE49-F238E27FC236}">
                <a16:creationId xmlns:a16="http://schemas.microsoft.com/office/drawing/2014/main" id="{864E3B89-389B-49AF-AAD1-09CADE7DA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2774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2" name="直接连接符 91">
            <a:extLst xmlns:a="http://schemas.openxmlformats.org/drawingml/2006/main">
              <a:ext uri="{FF2B5EF4-FFF2-40B4-BE49-F238E27FC236}">
                <a16:creationId xmlns:a16="http://schemas.microsoft.com/office/drawing/2014/main" id="{017FED8B-64D0-4756-B26A-A577B7463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3068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3" name="等腰三角形 92">
            <a:extLst xmlns:a="http://schemas.openxmlformats.org/drawingml/2006/main">
              <a:ext uri="{FF2B5EF4-FFF2-40B4-BE49-F238E27FC236}">
                <a16:creationId xmlns:a16="http://schemas.microsoft.com/office/drawing/2014/main" id="{D51AB20F-761E-45F5-B030-75D3E3FC8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4604" y="986817"/>
            <a:ext cx="664192" cy="213744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97CC453D-FF1F-4CDA-9722-833C5A866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28875"/>
            <a:ext cx="2857500" cy="2286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2383">
            <a:solidFill>
              <a:srgbClr val="BFD5EF"/>
            </a:solidFill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F44FB3A2-D202-4757-86E2-37EBEBF0D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2714625"/>
            <a:ext cx="2190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F4C9A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0F4C9A"/>
                </a:solidFill>
                <a:latin typeface="微软雅黑"/>
                <a:ea typeface="微软雅黑"/>
                <a:cs typeface="微软雅黑"/>
              </a:rPr>
              <a:t>后端 Run Executor</a:t>
            </a:r>
          </a:p>
        </p:txBody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2EA0E7A7-B91F-415F-BF6E-FAF098BC7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190875"/>
            <a:ext cx="19050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0F4C9A"/>
          </a:solidFill>
          <a:ln xmlns:a="http://schemas.openxmlformats.org/drawingml/2006/main" w="12383">
            <a:solidFill>
              <a:srgbClr val="0F4C9A"/>
            </a:solidFill>
            <a:prstDash val="solid"/>
          </a:ln>
        </p:spPr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CFE3EE70-026B-4308-BF69-75EEA5C47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257550"/>
            <a:ext cx="1905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创建 run_id</a:t>
            </a:r>
          </a:p>
        </p:txBody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4BD98C14-0758-4318-9E7E-C80FC3420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552825"/>
            <a:ext cx="19050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11B8D7"/>
          </a:solidFill>
          <a:ln xmlns:a="http://schemas.openxmlformats.org/drawingml/2006/main" w="12383">
            <a:solidFill>
              <a:srgbClr val="11B8D7"/>
            </a:solidFill>
            <a:prstDash val="solid"/>
          </a:ln>
        </p:spPr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A0357ADF-58F4-423C-8866-5063D034A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619500"/>
            <a:ext cx="1905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Browser Use 执行</a:t>
            </a:r>
          </a:p>
        </p:txBody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F6AE4AED-C845-4A88-895E-F660C2788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914775"/>
            <a:ext cx="19050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0F4C9A"/>
          </a:solidFill>
          <a:ln xmlns:a="http://schemas.openxmlformats.org/drawingml/2006/main" w="12383">
            <a:solidFill>
              <a:srgbClr val="0F4C9A"/>
            </a:solidFill>
            <a:prstDash val="solid"/>
          </a:ln>
        </p:spPr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A72648F4-D589-4B31-9210-47A234478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981450"/>
            <a:ext cx="1905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校验与分类</a:t>
            </a:r>
          </a:p>
        </p:txBody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830D6FB9-006C-48C6-A73D-0ABCF12EE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276725"/>
            <a:ext cx="19050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11B8D7"/>
          </a:solidFill>
          <a:ln xmlns:a="http://schemas.openxmlformats.org/drawingml/2006/main" w="12383">
            <a:solidFill>
              <a:srgbClr val="11B8D7"/>
            </a:solidFill>
            <a:prstDash val="solid"/>
          </a:ln>
        </p:spPr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8C2F602D-B006-4044-AFC2-BBA7668CD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343400"/>
            <a:ext cx="1905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写入 trace.jsonl</a:t>
            </a:r>
          </a:p>
        </p:txBody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686820AB-ED83-448A-BEFE-333D15101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333750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E287E55D-220B-4496-AFD6-CD79F6389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476500"/>
            <a:ext cx="2381250" cy="2286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6E2F3"/>
            </a:solidFill>
            <a:prstDash val="solid"/>
          </a:ln>
        </p:spPr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87064FFC-F176-42E1-B85F-2E6717D8B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476500"/>
            <a:ext cx="66675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B8D7"/>
          </a:solidFill>
          <a:ln xmlns:a="http://schemas.openxmlformats.org/drawingml/2006/main" w="0">
            <a:solidFill>
              <a:srgbClr val="11B8D7"/>
            </a:solidFill>
            <a:prstDash val="solid"/>
          </a:ln>
        </p:spPr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575779F9-4C2A-40A0-B322-FF5E1B2B8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2619375"/>
            <a:ext cx="20574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B8D7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11B8D7"/>
                </a:solidFill>
                <a:latin typeface="微软雅黑"/>
                <a:ea typeface="微软雅黑"/>
                <a:cs typeface="微软雅黑"/>
              </a:rPr>
              <a:t>TraceEvent</a:t>
            </a:r>
          </a:p>
        </p:txBody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0D34C9A0-9781-40F6-9DB1-BD3B1D3C7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2933700"/>
            <a:ext cx="2057400" cy="1733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node_status</a:t>
            </a:r>
          </a:p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browser_step</a:t>
            </a:r>
          </a:p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browser_frame</a:t>
            </a:r>
          </a:p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verification</a:t>
            </a:r>
          </a:p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classification</a:t>
            </a:r>
          </a:p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report</a:t>
            </a:r>
          </a:p>
        </p:txBody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ACAB6805-A29D-44F9-9A45-073C77662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333750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266D0C54-5213-4638-8E4F-5F0E2C83D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428875"/>
            <a:ext cx="2857500" cy="2286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BFD5EF"/>
            </a:solidFill>
            <a:prstDash val="solid"/>
          </a:ln>
        </p:spPr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18465F14-B06C-4375-AD3A-7F6499D2D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714625"/>
            <a:ext cx="2000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0A6A6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10A6A6"/>
                </a:solidFill>
                <a:latin typeface="微软雅黑"/>
                <a:ea typeface="微软雅黑"/>
                <a:cs typeface="微软雅黑"/>
              </a:rPr>
              <a:t>前端实时页</a:t>
            </a:r>
          </a:p>
        </p:txBody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26949C75-E759-4CBD-978E-7962B45C2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190875"/>
            <a:ext cx="1714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• Agent 节点图</a:t>
            </a:r>
          </a:p>
        </p:txBody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35DB10CB-5D3D-4182-AE21-3BB2A68A8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552825"/>
            <a:ext cx="1714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• 动作日志</a:t>
            </a:r>
          </a:p>
        </p:txBody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1696178A-C592-48AE-9373-236A7D78D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914775"/>
            <a:ext cx="1714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• 浏览器截图</a:t>
            </a:r>
          </a:p>
        </p:txBody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0F43C7C0-BA0B-42E5-92B4-99860C578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276725"/>
            <a:ext cx="1714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• 截图时间线</a:t>
            </a:r>
          </a:p>
        </p:txBody>
      </p:sp>
    </p:spTree>
    <p:extLst>
      <p:ext uri="{BB962C8B-B14F-4D97-AF65-F5344CB8AC3E}">
        <p14:creationId xmlns:p14="http://schemas.microsoft.com/office/powerpoint/2010/main" val="1361452389"/>
      </p:ext>
    </p:extLst>
  </p:cSld>
</p:sld>
</file>

<file path=ppt/slides/slide2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文本框 34">
            <a:extLst xmlns:a="http://schemas.openxmlformats.org/drawingml/2006/main">
              <a:ext uri="{FF2B5EF4-FFF2-40B4-BE49-F238E27FC236}">
                <a16:creationId xmlns:a16="http://schemas.microsoft.com/office/drawing/2014/main" id="{B4FBA366-54D4-4BA9-B42C-1177675AF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507" y="1470061"/>
            <a:ext cx="3300904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600"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3.11  双通道验证与仲裁</a:t>
            </a:r>
          </a:p>
        </p:txBody>
      </p:sp>
      <p:sp>
        <p:nvSpPr>
          <p:cNvPr id="47" name="矩形 46">
            <a:extLst xmlns:a="http://schemas.openxmlformats.org/drawingml/2006/main">
              <a:ext uri="{FF2B5EF4-FFF2-40B4-BE49-F238E27FC236}">
                <a16:creationId xmlns:a16="http://schemas.microsoft.com/office/drawing/2014/main" id="{B452C0D7-B37F-43A2-B486-58A1E2746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6759" y="6130925"/>
            <a:ext cx="508000" cy="50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solidFill>
              <a:srgbClr val="174994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lt1"/>
                </a:solidFill>
                <a:latin typeface="微软雅黑"/>
                <a:ea typeface="微软雅黑"/>
                <a:cs typeface="微软雅黑"/>
              </a:rPr>
              <a:t>21</a:t>
            </a:r>
          </a:p>
        </p:txBody>
      </p:sp>
      <p:sp>
        <p:nvSpPr>
          <p:cNvPr id="81" name="矩形 80">
            <a:extLst xmlns:a="http://schemas.openxmlformats.org/drawingml/2006/main">
              <a:ext uri="{FF2B5EF4-FFF2-40B4-BE49-F238E27FC236}">
                <a16:creationId xmlns:a16="http://schemas.microsoft.com/office/drawing/2014/main" id="{48B67799-EAB8-4038-8133-7AA3CC348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-1"/>
            <a:ext cx="12192000" cy="12037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2" name="矩形 81">
            <a:extLst xmlns:a="http://schemas.openxmlformats.org/drawingml/2006/main">
              <a:ext uri="{FF2B5EF4-FFF2-40B4-BE49-F238E27FC236}">
                <a16:creationId xmlns:a16="http://schemas.microsoft.com/office/drawing/2014/main" id="{7618DFB8-9A5A-456E-B964-39FCCC1C4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0"/>
            <a:ext cx="2650603" cy="120376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3" name="文本框 82">
            <a:extLst xmlns:a="http://schemas.openxmlformats.org/drawingml/2006/main">
              <a:ext uri="{FF2B5EF4-FFF2-40B4-BE49-F238E27FC236}">
                <a16:creationId xmlns:a16="http://schemas.microsoft.com/office/drawing/2014/main" id="{EE8BAED2-0ED5-4BBE-89F5-3C9830933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7216"/>
            <a:ext cx="2316627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研究背景及意义</a:t>
            </a:r>
          </a:p>
        </p:txBody>
      </p:sp>
      <p:sp>
        <p:nvSpPr>
          <p:cNvPr id="84" name="文本框 83">
            <a:extLst xmlns:a="http://schemas.openxmlformats.org/drawingml/2006/main">
              <a:ext uri="{FF2B5EF4-FFF2-40B4-BE49-F238E27FC236}">
                <a16:creationId xmlns:a16="http://schemas.microsoft.com/office/drawing/2014/main" id="{F0916D0F-A50A-4E89-979A-0657F8E39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7873" y="417216"/>
            <a:ext cx="295465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研究目标与方案</a:t>
            </a:r>
          </a:p>
        </p:txBody>
      </p:sp>
      <p:sp>
        <p:nvSpPr>
          <p:cNvPr id="85" name="文本框 84">
            <a:extLst xmlns:a="http://schemas.openxmlformats.org/drawingml/2006/main">
              <a:ext uri="{FF2B5EF4-FFF2-40B4-BE49-F238E27FC236}">
                <a16:creationId xmlns:a16="http://schemas.microsoft.com/office/drawing/2014/main" id="{D60737E1-A6B8-41C4-A7A8-7A1BAEF6D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373" y="427155"/>
            <a:ext cx="2954655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研究框架介绍</a:t>
            </a:r>
          </a:p>
        </p:txBody>
      </p:sp>
      <p:sp>
        <p:nvSpPr>
          <p:cNvPr id="86" name="文本框 85">
            <a:extLst xmlns:a="http://schemas.openxmlformats.org/drawingml/2006/main">
              <a:ext uri="{FF2B5EF4-FFF2-40B4-BE49-F238E27FC236}">
                <a16:creationId xmlns:a16="http://schemas.microsoft.com/office/drawing/2014/main" id="{66297B84-6EFF-40AB-A53D-3C70859BC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0874" y="417215"/>
            <a:ext cx="2316628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研究进度安排</a:t>
            </a:r>
          </a:p>
        </p:txBody>
      </p:sp>
      <p:sp>
        <p:nvSpPr>
          <p:cNvPr id="87" name="文本框 86">
            <a:extLst xmlns:a="http://schemas.openxmlformats.org/drawingml/2006/main">
              <a:ext uri="{FF2B5EF4-FFF2-40B4-BE49-F238E27FC236}">
                <a16:creationId xmlns:a16="http://schemas.microsoft.com/office/drawing/2014/main" id="{75DC209D-EBD6-48A3-A875-278F50EE2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4348" y="427155"/>
            <a:ext cx="176368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小组分工</a:t>
            </a:r>
          </a:p>
        </p:txBody>
      </p:sp>
      <p:pic>
        <p:nvPicPr>
          <p:cNvPr id="88" name="图片 8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709d7b8d7f84fd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5963" y="168319"/>
            <a:ext cx="867126" cy="867126"/>
          </a:xfrm>
          <a:prstGeom xmlns:a="http://schemas.openxmlformats.org/drawingml/2006/main" prst="rect">
            <a:avLst/>
          </a:prstGeom>
        </p:spPr>
      </p:pic>
      <p:sp>
        <p:nvSpPr>
          <p:cNvPr id="89" name="直接连接符 88">
            <a:extLst xmlns:a="http://schemas.openxmlformats.org/drawingml/2006/main">
              <a:ext uri="{FF2B5EF4-FFF2-40B4-BE49-F238E27FC236}">
                <a16:creationId xmlns:a16="http://schemas.microsoft.com/office/drawing/2014/main" id="{AEC731C6-3A93-48EC-9740-0B376D106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6855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0" name="直接连接符 89">
            <a:extLst xmlns:a="http://schemas.openxmlformats.org/drawingml/2006/main">
              <a:ext uri="{FF2B5EF4-FFF2-40B4-BE49-F238E27FC236}">
                <a16:creationId xmlns:a16="http://schemas.microsoft.com/office/drawing/2014/main" id="{F4DDAE19-5915-4940-B7E9-3DE0F34D6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1" name="直接连接符 90">
            <a:extLst xmlns:a="http://schemas.openxmlformats.org/drawingml/2006/main">
              <a:ext uri="{FF2B5EF4-FFF2-40B4-BE49-F238E27FC236}">
                <a16:creationId xmlns:a16="http://schemas.microsoft.com/office/drawing/2014/main" id="{864E3B89-389B-49AF-AAD1-09CADE7DA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2774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2" name="直接连接符 91">
            <a:extLst xmlns:a="http://schemas.openxmlformats.org/drawingml/2006/main">
              <a:ext uri="{FF2B5EF4-FFF2-40B4-BE49-F238E27FC236}">
                <a16:creationId xmlns:a16="http://schemas.microsoft.com/office/drawing/2014/main" id="{017FED8B-64D0-4756-B26A-A577B7463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3068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3" name="等腰三角形 92">
            <a:extLst xmlns:a="http://schemas.openxmlformats.org/drawingml/2006/main">
              <a:ext uri="{FF2B5EF4-FFF2-40B4-BE49-F238E27FC236}">
                <a16:creationId xmlns:a16="http://schemas.microsoft.com/office/drawing/2014/main" id="{D51AB20F-761E-45F5-B030-75D3E3FC8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4604" y="986817"/>
            <a:ext cx="664192" cy="213744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</p:spTree>
    <p:extLst>
      <p:ext uri="{BB962C8B-B14F-4D97-AF65-F5344CB8AC3E}">
        <p14:creationId xmlns:p14="http://schemas.microsoft.com/office/powerpoint/2010/main" val="1361452389"/>
      </p:ext>
    </p:extLst>
  </p:cSld>
</p:sld>
</file>

<file path=ppt/slides/slide2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文本框 34">
            <a:extLst xmlns:a="http://schemas.openxmlformats.org/drawingml/2006/main">
              <a:ext uri="{FF2B5EF4-FFF2-40B4-BE49-F238E27FC236}">
                <a16:creationId xmlns:a16="http://schemas.microsoft.com/office/drawing/2014/main" id="{B4FBA366-54D4-4BA9-B42C-1177675AF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507" y="1470061"/>
            <a:ext cx="3300904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600"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3.12  失败分类器</a:t>
            </a:r>
          </a:p>
        </p:txBody>
      </p:sp>
      <p:sp>
        <p:nvSpPr>
          <p:cNvPr id="47" name="矩形 46">
            <a:extLst xmlns:a="http://schemas.openxmlformats.org/drawingml/2006/main">
              <a:ext uri="{FF2B5EF4-FFF2-40B4-BE49-F238E27FC236}">
                <a16:creationId xmlns:a16="http://schemas.microsoft.com/office/drawing/2014/main" id="{B452C0D7-B37F-43A2-B486-58A1E2746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6759" y="6130925"/>
            <a:ext cx="508000" cy="50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solidFill>
              <a:srgbClr val="174994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lt1"/>
                </a:solidFill>
                <a:latin typeface="微软雅黑"/>
                <a:ea typeface="微软雅黑"/>
                <a:cs typeface="微软雅黑"/>
              </a:rPr>
              <a:t>22</a:t>
            </a:r>
          </a:p>
        </p:txBody>
      </p:sp>
      <p:sp>
        <p:nvSpPr>
          <p:cNvPr id="81" name="矩形 80">
            <a:extLst xmlns:a="http://schemas.openxmlformats.org/drawingml/2006/main">
              <a:ext uri="{FF2B5EF4-FFF2-40B4-BE49-F238E27FC236}">
                <a16:creationId xmlns:a16="http://schemas.microsoft.com/office/drawing/2014/main" id="{48B67799-EAB8-4038-8133-7AA3CC348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-1"/>
            <a:ext cx="12192000" cy="12037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2" name="矩形 81">
            <a:extLst xmlns:a="http://schemas.openxmlformats.org/drawingml/2006/main">
              <a:ext uri="{FF2B5EF4-FFF2-40B4-BE49-F238E27FC236}">
                <a16:creationId xmlns:a16="http://schemas.microsoft.com/office/drawing/2014/main" id="{7618DFB8-9A5A-456E-B964-39FCCC1C4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0"/>
            <a:ext cx="2650603" cy="120376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3" name="文本框 82">
            <a:extLst xmlns:a="http://schemas.openxmlformats.org/drawingml/2006/main">
              <a:ext uri="{FF2B5EF4-FFF2-40B4-BE49-F238E27FC236}">
                <a16:creationId xmlns:a16="http://schemas.microsoft.com/office/drawing/2014/main" id="{EE8BAED2-0ED5-4BBE-89F5-3C9830933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7216"/>
            <a:ext cx="2316627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研究背景及意义</a:t>
            </a:r>
          </a:p>
        </p:txBody>
      </p:sp>
      <p:sp>
        <p:nvSpPr>
          <p:cNvPr id="84" name="文本框 83">
            <a:extLst xmlns:a="http://schemas.openxmlformats.org/drawingml/2006/main">
              <a:ext uri="{FF2B5EF4-FFF2-40B4-BE49-F238E27FC236}">
                <a16:creationId xmlns:a16="http://schemas.microsoft.com/office/drawing/2014/main" id="{F0916D0F-A50A-4E89-979A-0657F8E39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7873" y="417216"/>
            <a:ext cx="295465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研究目标与方案</a:t>
            </a:r>
          </a:p>
        </p:txBody>
      </p:sp>
      <p:sp>
        <p:nvSpPr>
          <p:cNvPr id="85" name="文本框 84">
            <a:extLst xmlns:a="http://schemas.openxmlformats.org/drawingml/2006/main">
              <a:ext uri="{FF2B5EF4-FFF2-40B4-BE49-F238E27FC236}">
                <a16:creationId xmlns:a16="http://schemas.microsoft.com/office/drawing/2014/main" id="{D60737E1-A6B8-41C4-A7A8-7A1BAEF6D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373" y="427155"/>
            <a:ext cx="2954655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研究框架介绍</a:t>
            </a:r>
          </a:p>
        </p:txBody>
      </p:sp>
      <p:sp>
        <p:nvSpPr>
          <p:cNvPr id="86" name="文本框 85">
            <a:extLst xmlns:a="http://schemas.openxmlformats.org/drawingml/2006/main">
              <a:ext uri="{FF2B5EF4-FFF2-40B4-BE49-F238E27FC236}">
                <a16:creationId xmlns:a16="http://schemas.microsoft.com/office/drawing/2014/main" id="{66297B84-6EFF-40AB-A53D-3C70859BC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0874" y="417215"/>
            <a:ext cx="2316628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研究进度安排</a:t>
            </a:r>
          </a:p>
        </p:txBody>
      </p:sp>
      <p:sp>
        <p:nvSpPr>
          <p:cNvPr id="87" name="文本框 86">
            <a:extLst xmlns:a="http://schemas.openxmlformats.org/drawingml/2006/main">
              <a:ext uri="{FF2B5EF4-FFF2-40B4-BE49-F238E27FC236}">
                <a16:creationId xmlns:a16="http://schemas.microsoft.com/office/drawing/2014/main" id="{75DC209D-EBD6-48A3-A875-278F50EE2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4348" y="427155"/>
            <a:ext cx="176368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小组分工</a:t>
            </a:r>
          </a:p>
        </p:txBody>
      </p:sp>
      <p:pic>
        <p:nvPicPr>
          <p:cNvPr id="88" name="图片 8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a0d9e0e2d5b482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5963" y="168319"/>
            <a:ext cx="867126" cy="867126"/>
          </a:xfrm>
          <a:prstGeom xmlns:a="http://schemas.openxmlformats.org/drawingml/2006/main" prst="rect">
            <a:avLst/>
          </a:prstGeom>
        </p:spPr>
      </p:pic>
      <p:sp>
        <p:nvSpPr>
          <p:cNvPr id="89" name="直接连接符 88">
            <a:extLst xmlns:a="http://schemas.openxmlformats.org/drawingml/2006/main">
              <a:ext uri="{FF2B5EF4-FFF2-40B4-BE49-F238E27FC236}">
                <a16:creationId xmlns:a16="http://schemas.microsoft.com/office/drawing/2014/main" id="{AEC731C6-3A93-48EC-9740-0B376D106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6855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0" name="直接连接符 89">
            <a:extLst xmlns:a="http://schemas.openxmlformats.org/drawingml/2006/main">
              <a:ext uri="{FF2B5EF4-FFF2-40B4-BE49-F238E27FC236}">
                <a16:creationId xmlns:a16="http://schemas.microsoft.com/office/drawing/2014/main" id="{F4DDAE19-5915-4940-B7E9-3DE0F34D6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1" name="直接连接符 90">
            <a:extLst xmlns:a="http://schemas.openxmlformats.org/drawingml/2006/main">
              <a:ext uri="{FF2B5EF4-FFF2-40B4-BE49-F238E27FC236}">
                <a16:creationId xmlns:a16="http://schemas.microsoft.com/office/drawing/2014/main" id="{864E3B89-389B-49AF-AAD1-09CADE7DA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2774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2" name="直接连接符 91">
            <a:extLst xmlns:a="http://schemas.openxmlformats.org/drawingml/2006/main">
              <a:ext uri="{FF2B5EF4-FFF2-40B4-BE49-F238E27FC236}">
                <a16:creationId xmlns:a16="http://schemas.microsoft.com/office/drawing/2014/main" id="{017FED8B-64D0-4756-B26A-A577B7463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3068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3" name="等腰三角形 92">
            <a:extLst xmlns:a="http://schemas.openxmlformats.org/drawingml/2006/main">
              <a:ext uri="{FF2B5EF4-FFF2-40B4-BE49-F238E27FC236}">
                <a16:creationId xmlns:a16="http://schemas.microsoft.com/office/drawing/2014/main" id="{D51AB20F-761E-45F5-B030-75D3E3FC8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4604" y="986817"/>
            <a:ext cx="664192" cy="213744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</p:spTree>
    <p:extLst>
      <p:ext uri="{BB962C8B-B14F-4D97-AF65-F5344CB8AC3E}">
        <p14:creationId xmlns:p14="http://schemas.microsoft.com/office/powerpoint/2010/main" val="1361452389"/>
      </p:ext>
    </p:extLst>
  </p:cSld>
</p:sld>
</file>

<file path=ppt/slides/slide2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文本框 34">
            <a:extLst xmlns:a="http://schemas.openxmlformats.org/drawingml/2006/main">
              <a:ext uri="{FF2B5EF4-FFF2-40B4-BE49-F238E27FC236}">
                <a16:creationId xmlns:a16="http://schemas.microsoft.com/office/drawing/2014/main" id="{B4FBA366-54D4-4BA9-B42C-1177675AF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507" y="1470061"/>
            <a:ext cx="3300904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600"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3.13  运行报告与证据归档</a:t>
            </a:r>
          </a:p>
        </p:txBody>
      </p:sp>
      <p:sp>
        <p:nvSpPr>
          <p:cNvPr id="47" name="矩形 46">
            <a:extLst xmlns:a="http://schemas.openxmlformats.org/drawingml/2006/main">
              <a:ext uri="{FF2B5EF4-FFF2-40B4-BE49-F238E27FC236}">
                <a16:creationId xmlns:a16="http://schemas.microsoft.com/office/drawing/2014/main" id="{B452C0D7-B37F-43A2-B486-58A1E2746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6759" y="6130925"/>
            <a:ext cx="508000" cy="50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solidFill>
              <a:srgbClr val="174994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lt1"/>
                </a:solidFill>
                <a:latin typeface="微软雅黑"/>
                <a:ea typeface="微软雅黑"/>
                <a:cs typeface="微软雅黑"/>
              </a:rPr>
              <a:t>23</a:t>
            </a:r>
          </a:p>
        </p:txBody>
      </p:sp>
      <p:sp>
        <p:nvSpPr>
          <p:cNvPr id="81" name="矩形 80">
            <a:extLst xmlns:a="http://schemas.openxmlformats.org/drawingml/2006/main">
              <a:ext uri="{FF2B5EF4-FFF2-40B4-BE49-F238E27FC236}">
                <a16:creationId xmlns:a16="http://schemas.microsoft.com/office/drawing/2014/main" id="{48B67799-EAB8-4038-8133-7AA3CC348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-1"/>
            <a:ext cx="12192000" cy="12037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2" name="矩形 81">
            <a:extLst xmlns:a="http://schemas.openxmlformats.org/drawingml/2006/main">
              <a:ext uri="{FF2B5EF4-FFF2-40B4-BE49-F238E27FC236}">
                <a16:creationId xmlns:a16="http://schemas.microsoft.com/office/drawing/2014/main" id="{7618DFB8-9A5A-456E-B964-39FCCC1C4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0"/>
            <a:ext cx="2650603" cy="120376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3" name="文本框 82">
            <a:extLst xmlns:a="http://schemas.openxmlformats.org/drawingml/2006/main">
              <a:ext uri="{FF2B5EF4-FFF2-40B4-BE49-F238E27FC236}">
                <a16:creationId xmlns:a16="http://schemas.microsoft.com/office/drawing/2014/main" id="{EE8BAED2-0ED5-4BBE-89F5-3C9830933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7216"/>
            <a:ext cx="2316627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研究背景及意义</a:t>
            </a:r>
          </a:p>
        </p:txBody>
      </p:sp>
      <p:sp>
        <p:nvSpPr>
          <p:cNvPr id="84" name="文本框 83">
            <a:extLst xmlns:a="http://schemas.openxmlformats.org/drawingml/2006/main">
              <a:ext uri="{FF2B5EF4-FFF2-40B4-BE49-F238E27FC236}">
                <a16:creationId xmlns:a16="http://schemas.microsoft.com/office/drawing/2014/main" id="{F0916D0F-A50A-4E89-979A-0657F8E39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7873" y="417216"/>
            <a:ext cx="295465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研究目标与方案</a:t>
            </a:r>
          </a:p>
        </p:txBody>
      </p:sp>
      <p:sp>
        <p:nvSpPr>
          <p:cNvPr id="85" name="文本框 84">
            <a:extLst xmlns:a="http://schemas.openxmlformats.org/drawingml/2006/main">
              <a:ext uri="{FF2B5EF4-FFF2-40B4-BE49-F238E27FC236}">
                <a16:creationId xmlns:a16="http://schemas.microsoft.com/office/drawing/2014/main" id="{D60737E1-A6B8-41C4-A7A8-7A1BAEF6D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373" y="427155"/>
            <a:ext cx="2954655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研究框架介绍</a:t>
            </a:r>
          </a:p>
        </p:txBody>
      </p:sp>
      <p:sp>
        <p:nvSpPr>
          <p:cNvPr id="86" name="文本框 85">
            <a:extLst xmlns:a="http://schemas.openxmlformats.org/drawingml/2006/main">
              <a:ext uri="{FF2B5EF4-FFF2-40B4-BE49-F238E27FC236}">
                <a16:creationId xmlns:a16="http://schemas.microsoft.com/office/drawing/2014/main" id="{66297B84-6EFF-40AB-A53D-3C70859BC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0874" y="417215"/>
            <a:ext cx="2316628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研究进度安排</a:t>
            </a:r>
          </a:p>
        </p:txBody>
      </p:sp>
      <p:sp>
        <p:nvSpPr>
          <p:cNvPr id="87" name="文本框 86">
            <a:extLst xmlns:a="http://schemas.openxmlformats.org/drawingml/2006/main">
              <a:ext uri="{FF2B5EF4-FFF2-40B4-BE49-F238E27FC236}">
                <a16:creationId xmlns:a16="http://schemas.microsoft.com/office/drawing/2014/main" id="{75DC209D-EBD6-48A3-A875-278F50EE2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4348" y="427155"/>
            <a:ext cx="176368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小组分工</a:t>
            </a:r>
          </a:p>
        </p:txBody>
      </p:sp>
      <p:pic>
        <p:nvPicPr>
          <p:cNvPr id="88" name="图片 8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53ded31add54e9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5963" y="168319"/>
            <a:ext cx="867126" cy="867126"/>
          </a:xfrm>
          <a:prstGeom xmlns:a="http://schemas.openxmlformats.org/drawingml/2006/main" prst="rect">
            <a:avLst/>
          </a:prstGeom>
        </p:spPr>
      </p:pic>
      <p:sp>
        <p:nvSpPr>
          <p:cNvPr id="89" name="直接连接符 88">
            <a:extLst xmlns:a="http://schemas.openxmlformats.org/drawingml/2006/main">
              <a:ext uri="{FF2B5EF4-FFF2-40B4-BE49-F238E27FC236}">
                <a16:creationId xmlns:a16="http://schemas.microsoft.com/office/drawing/2014/main" id="{AEC731C6-3A93-48EC-9740-0B376D106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6855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0" name="直接连接符 89">
            <a:extLst xmlns:a="http://schemas.openxmlformats.org/drawingml/2006/main">
              <a:ext uri="{FF2B5EF4-FFF2-40B4-BE49-F238E27FC236}">
                <a16:creationId xmlns:a16="http://schemas.microsoft.com/office/drawing/2014/main" id="{F4DDAE19-5915-4940-B7E9-3DE0F34D6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1" name="直接连接符 90">
            <a:extLst xmlns:a="http://schemas.openxmlformats.org/drawingml/2006/main">
              <a:ext uri="{FF2B5EF4-FFF2-40B4-BE49-F238E27FC236}">
                <a16:creationId xmlns:a16="http://schemas.microsoft.com/office/drawing/2014/main" id="{864E3B89-389B-49AF-AAD1-09CADE7DA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2774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2" name="直接连接符 91">
            <a:extLst xmlns:a="http://schemas.openxmlformats.org/drawingml/2006/main">
              <a:ext uri="{FF2B5EF4-FFF2-40B4-BE49-F238E27FC236}">
                <a16:creationId xmlns:a16="http://schemas.microsoft.com/office/drawing/2014/main" id="{017FED8B-64D0-4756-B26A-A577B7463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3068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3" name="等腰三角形 92">
            <a:extLst xmlns:a="http://schemas.openxmlformats.org/drawingml/2006/main">
              <a:ext uri="{FF2B5EF4-FFF2-40B4-BE49-F238E27FC236}">
                <a16:creationId xmlns:a16="http://schemas.microsoft.com/office/drawing/2014/main" id="{D51AB20F-761E-45F5-B030-75D3E3FC8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4604" y="986817"/>
            <a:ext cx="664192" cy="213744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</p:spTree>
    <p:extLst>
      <p:ext uri="{BB962C8B-B14F-4D97-AF65-F5344CB8AC3E}">
        <p14:creationId xmlns:p14="http://schemas.microsoft.com/office/powerpoint/2010/main" val="1361452389"/>
      </p:ext>
    </p:extLst>
  </p:cSld>
</p:sld>
</file>

<file path=ppt/slides/slide2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文本框 34">
            <a:extLst xmlns:a="http://schemas.openxmlformats.org/drawingml/2006/main">
              <a:ext uri="{FF2B5EF4-FFF2-40B4-BE49-F238E27FC236}">
                <a16:creationId xmlns:a16="http://schemas.microsoft.com/office/drawing/2014/main" id="{B4FBA366-54D4-4BA9-B42C-1177675AF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507" y="1470061"/>
            <a:ext cx="3300904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600"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3.14  框架创新点总结</a:t>
            </a:r>
          </a:p>
        </p:txBody>
      </p:sp>
      <p:sp>
        <p:nvSpPr>
          <p:cNvPr id="47" name="矩形 46">
            <a:extLst xmlns:a="http://schemas.openxmlformats.org/drawingml/2006/main">
              <a:ext uri="{FF2B5EF4-FFF2-40B4-BE49-F238E27FC236}">
                <a16:creationId xmlns:a16="http://schemas.microsoft.com/office/drawing/2014/main" id="{B452C0D7-B37F-43A2-B486-58A1E2746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6759" y="6130925"/>
            <a:ext cx="508000" cy="50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solidFill>
              <a:srgbClr val="174994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lt1"/>
                </a:solidFill>
                <a:latin typeface="微软雅黑"/>
                <a:ea typeface="微软雅黑"/>
                <a:cs typeface="微软雅黑"/>
              </a:rPr>
              <a:t>24</a:t>
            </a:r>
          </a:p>
        </p:txBody>
      </p:sp>
      <p:sp>
        <p:nvSpPr>
          <p:cNvPr id="81" name="矩形 80">
            <a:extLst xmlns:a="http://schemas.openxmlformats.org/drawingml/2006/main">
              <a:ext uri="{FF2B5EF4-FFF2-40B4-BE49-F238E27FC236}">
                <a16:creationId xmlns:a16="http://schemas.microsoft.com/office/drawing/2014/main" id="{48B67799-EAB8-4038-8133-7AA3CC348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-1"/>
            <a:ext cx="12192000" cy="12037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2" name="矩形 81">
            <a:extLst xmlns:a="http://schemas.openxmlformats.org/drawingml/2006/main">
              <a:ext uri="{FF2B5EF4-FFF2-40B4-BE49-F238E27FC236}">
                <a16:creationId xmlns:a16="http://schemas.microsoft.com/office/drawing/2014/main" id="{7618DFB8-9A5A-456E-B964-39FCCC1C4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0"/>
            <a:ext cx="2650603" cy="120376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3" name="文本框 82">
            <a:extLst xmlns:a="http://schemas.openxmlformats.org/drawingml/2006/main">
              <a:ext uri="{FF2B5EF4-FFF2-40B4-BE49-F238E27FC236}">
                <a16:creationId xmlns:a16="http://schemas.microsoft.com/office/drawing/2014/main" id="{EE8BAED2-0ED5-4BBE-89F5-3C9830933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7216"/>
            <a:ext cx="2316627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研究背景及意义</a:t>
            </a:r>
          </a:p>
        </p:txBody>
      </p:sp>
      <p:sp>
        <p:nvSpPr>
          <p:cNvPr id="84" name="文本框 83">
            <a:extLst xmlns:a="http://schemas.openxmlformats.org/drawingml/2006/main">
              <a:ext uri="{FF2B5EF4-FFF2-40B4-BE49-F238E27FC236}">
                <a16:creationId xmlns:a16="http://schemas.microsoft.com/office/drawing/2014/main" id="{F0916D0F-A50A-4E89-979A-0657F8E39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7873" y="417216"/>
            <a:ext cx="295465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研究目标与方案</a:t>
            </a:r>
          </a:p>
        </p:txBody>
      </p:sp>
      <p:sp>
        <p:nvSpPr>
          <p:cNvPr id="85" name="文本框 84">
            <a:extLst xmlns:a="http://schemas.openxmlformats.org/drawingml/2006/main">
              <a:ext uri="{FF2B5EF4-FFF2-40B4-BE49-F238E27FC236}">
                <a16:creationId xmlns:a16="http://schemas.microsoft.com/office/drawing/2014/main" id="{D60737E1-A6B8-41C4-A7A8-7A1BAEF6D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373" y="427155"/>
            <a:ext cx="2954655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研究框架介绍</a:t>
            </a:r>
          </a:p>
        </p:txBody>
      </p:sp>
      <p:sp>
        <p:nvSpPr>
          <p:cNvPr id="86" name="文本框 85">
            <a:extLst xmlns:a="http://schemas.openxmlformats.org/drawingml/2006/main">
              <a:ext uri="{FF2B5EF4-FFF2-40B4-BE49-F238E27FC236}">
                <a16:creationId xmlns:a16="http://schemas.microsoft.com/office/drawing/2014/main" id="{66297B84-6EFF-40AB-A53D-3C70859BC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0874" y="417215"/>
            <a:ext cx="2316628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研究进度安排</a:t>
            </a:r>
          </a:p>
        </p:txBody>
      </p:sp>
      <p:sp>
        <p:nvSpPr>
          <p:cNvPr id="87" name="文本框 86">
            <a:extLst xmlns:a="http://schemas.openxmlformats.org/drawingml/2006/main">
              <a:ext uri="{FF2B5EF4-FFF2-40B4-BE49-F238E27FC236}">
                <a16:creationId xmlns:a16="http://schemas.microsoft.com/office/drawing/2014/main" id="{75DC209D-EBD6-48A3-A875-278F50EE2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4348" y="427155"/>
            <a:ext cx="176368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小组分工</a:t>
            </a:r>
          </a:p>
        </p:txBody>
      </p:sp>
      <p:pic>
        <p:nvPicPr>
          <p:cNvPr id="88" name="图片 8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81b4d42613a442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5963" y="168319"/>
            <a:ext cx="867126" cy="867126"/>
          </a:xfrm>
          <a:prstGeom xmlns:a="http://schemas.openxmlformats.org/drawingml/2006/main" prst="rect">
            <a:avLst/>
          </a:prstGeom>
        </p:spPr>
      </p:pic>
      <p:sp>
        <p:nvSpPr>
          <p:cNvPr id="89" name="直接连接符 88">
            <a:extLst xmlns:a="http://schemas.openxmlformats.org/drawingml/2006/main">
              <a:ext uri="{FF2B5EF4-FFF2-40B4-BE49-F238E27FC236}">
                <a16:creationId xmlns:a16="http://schemas.microsoft.com/office/drawing/2014/main" id="{AEC731C6-3A93-48EC-9740-0B376D106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6855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0" name="直接连接符 89">
            <a:extLst xmlns:a="http://schemas.openxmlformats.org/drawingml/2006/main">
              <a:ext uri="{FF2B5EF4-FFF2-40B4-BE49-F238E27FC236}">
                <a16:creationId xmlns:a16="http://schemas.microsoft.com/office/drawing/2014/main" id="{F4DDAE19-5915-4940-B7E9-3DE0F34D6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1" name="直接连接符 90">
            <a:extLst xmlns:a="http://schemas.openxmlformats.org/drawingml/2006/main">
              <a:ext uri="{FF2B5EF4-FFF2-40B4-BE49-F238E27FC236}">
                <a16:creationId xmlns:a16="http://schemas.microsoft.com/office/drawing/2014/main" id="{864E3B89-389B-49AF-AAD1-09CADE7DA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2774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2" name="直接连接符 91">
            <a:extLst xmlns:a="http://schemas.openxmlformats.org/drawingml/2006/main">
              <a:ext uri="{FF2B5EF4-FFF2-40B4-BE49-F238E27FC236}">
                <a16:creationId xmlns:a16="http://schemas.microsoft.com/office/drawing/2014/main" id="{017FED8B-64D0-4756-B26A-A577B7463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3068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3" name="等腰三角形 92">
            <a:extLst xmlns:a="http://schemas.openxmlformats.org/drawingml/2006/main">
              <a:ext uri="{FF2B5EF4-FFF2-40B4-BE49-F238E27FC236}">
                <a16:creationId xmlns:a16="http://schemas.microsoft.com/office/drawing/2014/main" id="{D51AB20F-761E-45F5-B030-75D3E3FC8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4604" y="986817"/>
            <a:ext cx="664192" cy="213744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</p:spTree>
    <p:extLst>
      <p:ext uri="{BB962C8B-B14F-4D97-AF65-F5344CB8AC3E}">
        <p14:creationId xmlns:p14="http://schemas.microsoft.com/office/powerpoint/2010/main" val="1361452389"/>
      </p:ext>
    </p:extLst>
  </p:cSld>
</p:sld>
</file>

<file path=ppt/slides/slide2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直角三角形 4">
            <a:extLst xmlns:a="http://schemas.openxmlformats.org/drawingml/2006/main">
              <a:ext uri="{FF2B5EF4-FFF2-40B4-BE49-F238E27FC236}">
                <a16:creationId xmlns:a16="http://schemas.microsoft.com/office/drawing/2014/main" id="{3F5602B9-D756-4A9B-A735-8F910598A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039139"/>
            <a:ext cx="1818861" cy="1818861"/>
          </a:xfrm>
          <a:prstGeom xmlns:a="http://schemas.openxmlformats.org/drawingml/2006/main" prst="rt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直角三角形 5">
            <a:extLst xmlns:a="http://schemas.openxmlformats.org/drawingml/2006/main">
              <a:ext uri="{FF2B5EF4-FFF2-40B4-BE49-F238E27FC236}">
                <a16:creationId xmlns:a16="http://schemas.microsoft.com/office/drawing/2014/main" id="{C6BD1E9E-462A-4E05-A64D-8C9D2DB32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1">
            <a:off x="9786082" y="-1"/>
            <a:ext cx="2405917" cy="2405917"/>
          </a:xfrm>
          <a:prstGeom xmlns:a="http://schemas.openxmlformats.org/drawingml/2006/main" prst="rt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72044AB2-5CCD-4B04-9B1B-948258709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7091" y="1694838"/>
            <a:ext cx="1446530" cy="31534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9900" b="1">
                <a:solidFill>
                  <a:srgbClr val="174994">
                    <a:alpha val="38000"/>
                  </a:srgbClr>
                </a:solidFill>
                <a:latin typeface="Times New Roman"/>
                <a:ea typeface="Times New Roman"/>
                <a:cs typeface="Times New Roman"/>
              </a:rPr>
              <a:t>4</a:t>
            </a:r>
          </a:p>
        </p:txBody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3CD0D9A1-6AFA-4A97-A0B0-A846D6F9A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8672" y="2782669"/>
            <a:ext cx="2954655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600" b="1">
                <a:latin typeface="Times New Roman"/>
                <a:ea typeface="Times New Roman"/>
                <a:cs typeface="Times New Roman"/>
              </a:rPr>
              <a:t>研究进度安排</a:t>
            </a:r>
          </a:p>
        </p:txBody>
      </p:sp>
      <p:sp>
        <p:nvSpPr>
          <p:cNvPr id="10" name="文本框 9">
            <a:extLst xmlns:a="http://schemas.openxmlformats.org/drawingml/2006/main">
              <a:ext uri="{FF2B5EF4-FFF2-40B4-BE49-F238E27FC236}">
                <a16:creationId xmlns:a16="http://schemas.microsoft.com/office/drawing/2014/main" id="{261419B7-1DE9-46A8-9CB1-3FB4A1F1E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45397" y="3606757"/>
            <a:ext cx="1722202" cy="33855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600">
                <a:latin typeface="Times New Roman"/>
                <a:ea typeface="Times New Roman"/>
                <a:cs typeface="Times New Roman"/>
              </a:rPr>
              <a:t>Research Timeline</a:t>
            </a:r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51ABCCC2-961B-49D2-B301-F53C64D7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3487189" y="3512166"/>
            <a:ext cx="5238619" cy="4571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12" name="图片 1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85453c18f094a1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9513" y="78833"/>
            <a:ext cx="2554357" cy="538993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2993548"/>
      </p:ext>
    </p:extLst>
  </p:cSld>
</p:sld>
</file>

<file path=ppt/slides/slide2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文本框 34">
            <a:extLst xmlns:a="http://schemas.openxmlformats.org/drawingml/2006/main">
              <a:ext uri="{FF2B5EF4-FFF2-40B4-BE49-F238E27FC236}">
                <a16:creationId xmlns:a16="http://schemas.microsoft.com/office/drawing/2014/main" id="{D34687BB-B6DE-4E27-BB3C-8B9654AC5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507" y="1470061"/>
            <a:ext cx="2839239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600"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4.1  当前实现成果</a:t>
            </a:r>
          </a:p>
        </p:txBody>
      </p:sp>
      <p:sp>
        <p:nvSpPr>
          <p:cNvPr id="47" name="矩形 46">
            <a:extLst xmlns:a="http://schemas.openxmlformats.org/drawingml/2006/main">
              <a:ext uri="{FF2B5EF4-FFF2-40B4-BE49-F238E27FC236}">
                <a16:creationId xmlns:a16="http://schemas.microsoft.com/office/drawing/2014/main" id="{A1D445DB-6A01-473C-9EE1-EE1EDCAC0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6759" y="6130925"/>
            <a:ext cx="508000" cy="50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solidFill>
              <a:srgbClr val="174994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lt1"/>
                </a:solidFill>
                <a:latin typeface="微软雅黑"/>
                <a:ea typeface="微软雅黑"/>
                <a:cs typeface="微软雅黑"/>
              </a:rPr>
              <a:t>26</a:t>
            </a:r>
          </a:p>
        </p:txBody>
      </p:sp>
      <p:sp>
        <p:nvSpPr>
          <p:cNvPr id="81" name="矩形 80">
            <a:extLst xmlns:a="http://schemas.openxmlformats.org/drawingml/2006/main">
              <a:ext uri="{FF2B5EF4-FFF2-40B4-BE49-F238E27FC236}">
                <a16:creationId xmlns:a16="http://schemas.microsoft.com/office/drawing/2014/main" id="{0557CE87-89DC-48A8-B4E6-092A0F5A4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-1"/>
            <a:ext cx="12192000" cy="12037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2" name="矩形 81">
            <a:extLst xmlns:a="http://schemas.openxmlformats.org/drawingml/2006/main">
              <a:ext uri="{FF2B5EF4-FFF2-40B4-BE49-F238E27FC236}">
                <a16:creationId xmlns:a16="http://schemas.microsoft.com/office/drawing/2014/main" id="{7ED59D59-57B1-4B1C-B0CB-36E87DD21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2774" y="0"/>
            <a:ext cx="2060295" cy="120376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3" name="文本框 82">
            <a:extLst xmlns:a="http://schemas.openxmlformats.org/drawingml/2006/main">
              <a:ext uri="{FF2B5EF4-FFF2-40B4-BE49-F238E27FC236}">
                <a16:creationId xmlns:a16="http://schemas.microsoft.com/office/drawing/2014/main" id="{52715EE3-2B08-48F7-B201-3F58D02B3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7216"/>
            <a:ext cx="2316627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研究背景及意义</a:t>
            </a:r>
          </a:p>
        </p:txBody>
      </p:sp>
      <p:sp>
        <p:nvSpPr>
          <p:cNvPr id="84" name="文本框 83">
            <a:extLst xmlns:a="http://schemas.openxmlformats.org/drawingml/2006/main">
              <a:ext uri="{FF2B5EF4-FFF2-40B4-BE49-F238E27FC236}">
                <a16:creationId xmlns:a16="http://schemas.microsoft.com/office/drawing/2014/main" id="{09787789-72F3-4AFF-8D52-DE0601899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7873" y="417216"/>
            <a:ext cx="295465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研究目标与方案</a:t>
            </a:r>
          </a:p>
        </p:txBody>
      </p:sp>
      <p:sp>
        <p:nvSpPr>
          <p:cNvPr id="85" name="文本框 84">
            <a:extLst xmlns:a="http://schemas.openxmlformats.org/drawingml/2006/main">
              <a:ext uri="{FF2B5EF4-FFF2-40B4-BE49-F238E27FC236}">
                <a16:creationId xmlns:a16="http://schemas.microsoft.com/office/drawing/2014/main" id="{2D6DA868-582C-4F92-9A9C-79C8E04C4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373" y="427155"/>
            <a:ext cx="2954655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研究框架介绍</a:t>
            </a:r>
          </a:p>
        </p:txBody>
      </p:sp>
      <p:sp>
        <p:nvSpPr>
          <p:cNvPr id="86" name="文本框 85">
            <a:extLst xmlns:a="http://schemas.openxmlformats.org/drawingml/2006/main">
              <a:ext uri="{FF2B5EF4-FFF2-40B4-BE49-F238E27FC236}">
                <a16:creationId xmlns:a16="http://schemas.microsoft.com/office/drawing/2014/main" id="{03CED111-5D84-47E3-8EBB-DD8B1038C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0874" y="417215"/>
            <a:ext cx="2316628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研究进度安排</a:t>
            </a:r>
          </a:p>
        </p:txBody>
      </p:sp>
      <p:sp>
        <p:nvSpPr>
          <p:cNvPr id="87" name="文本框 86">
            <a:extLst xmlns:a="http://schemas.openxmlformats.org/drawingml/2006/main">
              <a:ext uri="{FF2B5EF4-FFF2-40B4-BE49-F238E27FC236}">
                <a16:creationId xmlns:a16="http://schemas.microsoft.com/office/drawing/2014/main" id="{D5AFCF99-AA03-462C-B4C0-256DB517B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4348" y="427155"/>
            <a:ext cx="176368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小组分工</a:t>
            </a:r>
          </a:p>
        </p:txBody>
      </p:sp>
      <p:pic>
        <p:nvPicPr>
          <p:cNvPr id="88" name="图片 8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55d69b823ed4d4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5963" y="168319"/>
            <a:ext cx="867126" cy="867126"/>
          </a:xfrm>
          <a:prstGeom xmlns:a="http://schemas.openxmlformats.org/drawingml/2006/main" prst="rect">
            <a:avLst/>
          </a:prstGeom>
        </p:spPr>
      </p:pic>
      <p:sp>
        <p:nvSpPr>
          <p:cNvPr id="89" name="直接连接符 88">
            <a:extLst xmlns:a="http://schemas.openxmlformats.org/drawingml/2006/main">
              <a:ext uri="{FF2B5EF4-FFF2-40B4-BE49-F238E27FC236}">
                <a16:creationId xmlns:a16="http://schemas.microsoft.com/office/drawing/2014/main" id="{1766B8C3-A303-4CEA-8193-856EC6883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6855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0" name="直接连接符 89">
            <a:extLst xmlns:a="http://schemas.openxmlformats.org/drawingml/2006/main">
              <a:ext uri="{FF2B5EF4-FFF2-40B4-BE49-F238E27FC236}">
                <a16:creationId xmlns:a16="http://schemas.microsoft.com/office/drawing/2014/main" id="{E1F36224-82BF-48F8-914E-38CCEA470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1" name="直接连接符 90">
            <a:extLst xmlns:a="http://schemas.openxmlformats.org/drawingml/2006/main">
              <a:ext uri="{FF2B5EF4-FFF2-40B4-BE49-F238E27FC236}">
                <a16:creationId xmlns:a16="http://schemas.microsoft.com/office/drawing/2014/main" id="{E0268BEB-35B6-4FB6-BE9E-BEF2EA562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2774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2" name="直接连接符 91">
            <a:extLst xmlns:a="http://schemas.openxmlformats.org/drawingml/2006/main">
              <a:ext uri="{FF2B5EF4-FFF2-40B4-BE49-F238E27FC236}">
                <a16:creationId xmlns:a16="http://schemas.microsoft.com/office/drawing/2014/main" id="{A9B3173F-339E-425F-8B11-5CE9AE0DD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3068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3" name="等腰三角形 92">
            <a:extLst xmlns:a="http://schemas.openxmlformats.org/drawingml/2006/main">
              <a:ext uri="{FF2B5EF4-FFF2-40B4-BE49-F238E27FC236}">
                <a16:creationId xmlns:a16="http://schemas.microsoft.com/office/drawing/2014/main" id="{7F1CFACF-F41A-42E0-ADDB-BBF7E38E7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7092" y="986817"/>
            <a:ext cx="664192" cy="213744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0" name="Text 7">
            <a:extLst xmlns:a="http://schemas.openxmlformats.org/drawingml/2006/main">
              <a:ext uri="{FF2B5EF4-FFF2-40B4-BE49-F238E27FC236}">
                <a16:creationId xmlns:a16="http://schemas.microsoft.com/office/drawing/2014/main" id="{3AC16CC3-01E4-4C53-90D3-317D53FF4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228" y="2882229"/>
            <a:ext cx="2642362" cy="304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6933" tIns="16933" rIns="16933" bIns="16933" anchor="t">
            <a:normAutofit fontScale="92500" lnSpcReduction="20000"/>
          </a:bodyPr>
          <a:lstStyle xmlns:a="http://schemas.openxmlformats.org/drawingml/2006/main"/>
          <a:p xmlns:a="http://schemas.openxmlformats.org/drawingml/2006/main">
            <a:r>
              <a:rPr sz="2200" b="1" spc="22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05.01</a:t>
            </a:r>
          </a:p>
        </p:txBody>
      </p:sp>
      <p:sp>
        <p:nvSpPr>
          <p:cNvPr id="31" name="Text 8">
            <a:extLst xmlns:a="http://schemas.openxmlformats.org/drawingml/2006/main">
              <a:ext uri="{FF2B5EF4-FFF2-40B4-BE49-F238E27FC236}">
                <a16:creationId xmlns:a16="http://schemas.microsoft.com/office/drawing/2014/main" id="{BD713278-2AE9-4F52-BC9F-1E76C4D4C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228" y="3199729"/>
            <a:ext cx="2642362" cy="196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6933" tIns="16933" rIns="16933" bIns="16933" anchor="t">
            <a:normAutofit fontScale="92500"/>
          </a:bodyPr>
          <a:lstStyle xmlns:a="http://schemas.openxmlformats.org/drawingml/2006/main"/>
          <a:p xmlns:a="http://schemas.openxmlformats.org/drawingml/2006/main">
            <a:pPr>
              <a:lnSpc>
                <a:spcPct val="150000"/>
              </a:lnSpc>
              <a:buNone/>
            </a:pPr>
            <a:r>
              <a:rPr sz="900" spc="108">
                <a:solidFill>
                  <a:srgbClr val="6B7280"/>
                </a:solidFill>
                <a:latin typeface="Times New Roman"/>
                <a:ea typeface="Times New Roman"/>
                <a:cs typeface="Times New Roman"/>
              </a:rPr>
              <a:t>PHASE 01 · DEADLINE</a:t>
            </a:r>
          </a:p>
        </p:txBody>
      </p:sp>
      <p:sp>
        <p:nvSpPr>
          <p:cNvPr id="32" name="Shape 9">
            <a:extLst xmlns:a="http://schemas.openxmlformats.org/drawingml/2006/main">
              <a:ext uri="{FF2B5EF4-FFF2-40B4-BE49-F238E27FC236}">
                <a16:creationId xmlns:a16="http://schemas.microsoft.com/office/drawing/2014/main" id="{119ACF3B-8E70-4451-986A-BC5B33B5C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228" y="3485479"/>
            <a:ext cx="2565400" cy="2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726"/>
          </a:solidFill>
        </p:spPr>
      </p:sp>
      <p:sp>
        <p:nvSpPr>
          <p:cNvPr id="36" name="Text 12">
            <a:extLst xmlns:a="http://schemas.openxmlformats.org/drawingml/2006/main">
              <a:ext uri="{FF2B5EF4-FFF2-40B4-BE49-F238E27FC236}">
                <a16:creationId xmlns:a16="http://schemas.microsoft.com/office/drawing/2014/main" id="{12F16069-DB6E-42C4-A916-3A648717F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1428" y="2882229"/>
            <a:ext cx="2642362" cy="304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6933" tIns="16933" rIns="16933" bIns="16933" anchor="t">
            <a:normAutofit fontScale="92500" lnSpcReduction="20000"/>
          </a:bodyPr>
          <a:lstStyle xmlns:a="http://schemas.openxmlformats.org/drawingml/2006/main"/>
          <a:p xmlns:a="http://schemas.openxmlformats.org/drawingml/2006/main">
            <a:r>
              <a:rPr sz="2200" b="1" spc="22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05.30</a:t>
            </a:r>
          </a:p>
        </p:txBody>
      </p:sp>
      <p:sp>
        <p:nvSpPr>
          <p:cNvPr id="37" name="Text 13">
            <a:extLst xmlns:a="http://schemas.openxmlformats.org/drawingml/2006/main">
              <a:ext uri="{FF2B5EF4-FFF2-40B4-BE49-F238E27FC236}">
                <a16:creationId xmlns:a16="http://schemas.microsoft.com/office/drawing/2014/main" id="{51980742-5472-46D5-BBFB-EAE104C16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1428" y="3199729"/>
            <a:ext cx="2642362" cy="196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6933" tIns="16933" rIns="16933" bIns="16933" anchor="t">
            <a:normAutofit fontScale="92500"/>
          </a:bodyPr>
          <a:lstStyle xmlns:a="http://schemas.openxmlformats.org/drawingml/2006/main"/>
          <a:p xmlns:a="http://schemas.openxmlformats.org/drawingml/2006/main">
            <a:pPr>
              <a:lnSpc>
                <a:spcPct val="150000"/>
              </a:lnSpc>
              <a:buNone/>
            </a:pPr>
            <a:r>
              <a:rPr sz="900" spc="108">
                <a:solidFill>
                  <a:srgbClr val="6B7280"/>
                </a:solidFill>
                <a:latin typeface="Times New Roman"/>
                <a:ea typeface="Times New Roman"/>
                <a:cs typeface="Times New Roman"/>
              </a:rPr>
              <a:t>PHASE 02 · DEADLINE</a:t>
            </a:r>
          </a:p>
        </p:txBody>
      </p:sp>
      <p:sp>
        <p:nvSpPr>
          <p:cNvPr id="51" name="Shape 14">
            <a:extLst xmlns:a="http://schemas.openxmlformats.org/drawingml/2006/main">
              <a:ext uri="{FF2B5EF4-FFF2-40B4-BE49-F238E27FC236}">
                <a16:creationId xmlns:a16="http://schemas.microsoft.com/office/drawing/2014/main" id="{43537C3E-3D2D-4F19-A412-547BA82E5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1428" y="3485479"/>
            <a:ext cx="2565400" cy="2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726"/>
          </a:solidFill>
        </p:spPr>
      </p:sp>
      <p:sp>
        <p:nvSpPr>
          <p:cNvPr id="54" name="Text 17">
            <a:extLst xmlns:a="http://schemas.openxmlformats.org/drawingml/2006/main">
              <a:ext uri="{FF2B5EF4-FFF2-40B4-BE49-F238E27FC236}">
                <a16:creationId xmlns:a16="http://schemas.microsoft.com/office/drawing/2014/main" id="{690B71BF-2C76-4D13-9F1C-1D1D49C0D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4628" y="2882229"/>
            <a:ext cx="2642362" cy="304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6933" tIns="16933" rIns="16933" bIns="16933" anchor="t">
            <a:normAutofit fontScale="92500" lnSpcReduction="20000"/>
          </a:bodyPr>
          <a:lstStyle xmlns:a="http://schemas.openxmlformats.org/drawingml/2006/main"/>
          <a:p xmlns:a="http://schemas.openxmlformats.org/drawingml/2006/main">
            <a:r>
              <a:rPr sz="2200" b="1" spc="22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06.15</a:t>
            </a:r>
          </a:p>
        </p:txBody>
      </p:sp>
      <p:sp>
        <p:nvSpPr>
          <p:cNvPr id="55" name="Text 18">
            <a:extLst xmlns:a="http://schemas.openxmlformats.org/drawingml/2006/main">
              <a:ext uri="{FF2B5EF4-FFF2-40B4-BE49-F238E27FC236}">
                <a16:creationId xmlns:a16="http://schemas.microsoft.com/office/drawing/2014/main" id="{801F2E21-1A64-48F4-9EB9-C6EB4785F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4628" y="3199729"/>
            <a:ext cx="2642362" cy="196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6933" tIns="16933" rIns="16933" bIns="16933" anchor="t">
            <a:normAutofit fontScale="92500"/>
          </a:bodyPr>
          <a:lstStyle xmlns:a="http://schemas.openxmlformats.org/drawingml/2006/main"/>
          <a:p xmlns:a="http://schemas.openxmlformats.org/drawingml/2006/main">
            <a:pPr>
              <a:lnSpc>
                <a:spcPct val="150000"/>
              </a:lnSpc>
              <a:buNone/>
            </a:pPr>
            <a:r>
              <a:rPr sz="900" spc="108">
                <a:solidFill>
                  <a:srgbClr val="6B7280"/>
                </a:solidFill>
                <a:latin typeface="Times New Roman"/>
                <a:ea typeface="Times New Roman"/>
                <a:cs typeface="Times New Roman"/>
              </a:rPr>
              <a:t>PHASE 03 · DEADLINE</a:t>
            </a:r>
          </a:p>
        </p:txBody>
      </p:sp>
      <p:sp>
        <p:nvSpPr>
          <p:cNvPr id="56" name="Shape 19">
            <a:extLst xmlns:a="http://schemas.openxmlformats.org/drawingml/2006/main">
              <a:ext uri="{FF2B5EF4-FFF2-40B4-BE49-F238E27FC236}">
                <a16:creationId xmlns:a16="http://schemas.microsoft.com/office/drawing/2014/main" id="{2736ACC0-27E8-4A0C-9177-0FBF9BF53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4628" y="3485479"/>
            <a:ext cx="2565400" cy="2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726"/>
          </a:solidFill>
        </p:spPr>
      </p:sp>
      <p:sp>
        <p:nvSpPr>
          <p:cNvPr id="59" name="Text 22">
            <a:extLst xmlns:a="http://schemas.openxmlformats.org/drawingml/2006/main">
              <a:ext uri="{FF2B5EF4-FFF2-40B4-BE49-F238E27FC236}">
                <a16:creationId xmlns:a16="http://schemas.microsoft.com/office/drawing/2014/main" id="{E9D31FC1-4BC2-43ED-8BF6-AB7E2B719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7828" y="2882229"/>
            <a:ext cx="2642362" cy="304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6933" tIns="16933" rIns="16933" bIns="16933" anchor="t">
            <a:normAutofit fontScale="92500" lnSpcReduction="20000"/>
          </a:bodyPr>
          <a:lstStyle xmlns:a="http://schemas.openxmlformats.org/drawingml/2006/main"/>
          <a:p xmlns:a="http://schemas.openxmlformats.org/drawingml/2006/main">
            <a:r>
              <a:rPr sz="2200" b="1" spc="22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06.30</a:t>
            </a:r>
          </a:p>
        </p:txBody>
      </p:sp>
      <p:sp>
        <p:nvSpPr>
          <p:cNvPr id="60" name="Text 23">
            <a:extLst xmlns:a="http://schemas.openxmlformats.org/drawingml/2006/main">
              <a:ext uri="{FF2B5EF4-FFF2-40B4-BE49-F238E27FC236}">
                <a16:creationId xmlns:a16="http://schemas.microsoft.com/office/drawing/2014/main" id="{B2F62955-4A21-43C6-ADCE-6C8D4E83F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7828" y="3199729"/>
            <a:ext cx="2642362" cy="196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6933" tIns="16933" rIns="16933" bIns="16933" anchor="t">
            <a:normAutofit fontScale="92500"/>
          </a:bodyPr>
          <a:lstStyle xmlns:a="http://schemas.openxmlformats.org/drawingml/2006/main"/>
          <a:p xmlns:a="http://schemas.openxmlformats.org/drawingml/2006/main">
            <a:pPr>
              <a:lnSpc>
                <a:spcPct val="150000"/>
              </a:lnSpc>
              <a:buNone/>
            </a:pPr>
            <a:r>
              <a:rPr sz="900" spc="108">
                <a:solidFill>
                  <a:srgbClr val="6B7280"/>
                </a:solidFill>
                <a:latin typeface="Times New Roman"/>
                <a:ea typeface="Times New Roman"/>
                <a:cs typeface="Times New Roman"/>
              </a:rPr>
              <a:t>PHASE 04 · DEADLINE</a:t>
            </a:r>
          </a:p>
        </p:txBody>
      </p:sp>
      <p:sp>
        <p:nvSpPr>
          <p:cNvPr id="61" name="Shape 24">
            <a:extLst xmlns:a="http://schemas.openxmlformats.org/drawingml/2006/main">
              <a:ext uri="{FF2B5EF4-FFF2-40B4-BE49-F238E27FC236}">
                <a16:creationId xmlns:a16="http://schemas.microsoft.com/office/drawing/2014/main" id="{B09ABEB9-FDDB-49CB-B6C7-FEAA8C475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7828" y="3485479"/>
            <a:ext cx="2565400" cy="2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726"/>
          </a:solidFill>
        </p:spPr>
      </p:sp>
    </p:spTree>
    <p:extLst>
      <p:ext uri="{BB962C8B-B14F-4D97-AF65-F5344CB8AC3E}">
        <p14:creationId xmlns:p14="http://schemas.microsoft.com/office/powerpoint/2010/main" val="504823097"/>
      </p:ext>
    </p:extLst>
  </p:cSld>
</p:sld>
</file>

<file path=ppt/slides/slide2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文本框 34">
            <a:extLst xmlns:a="http://schemas.openxmlformats.org/drawingml/2006/main">
              <a:ext uri="{FF2B5EF4-FFF2-40B4-BE49-F238E27FC236}">
                <a16:creationId xmlns:a16="http://schemas.microsoft.com/office/drawing/2014/main" id="{B4FBA366-54D4-4BA9-B42C-1177675AF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507" y="1470061"/>
            <a:ext cx="3300904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600"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4.2  测试与验收情况</a:t>
            </a:r>
          </a:p>
        </p:txBody>
      </p:sp>
      <p:sp>
        <p:nvSpPr>
          <p:cNvPr id="47" name="矩形 46">
            <a:extLst xmlns:a="http://schemas.openxmlformats.org/drawingml/2006/main">
              <a:ext uri="{FF2B5EF4-FFF2-40B4-BE49-F238E27FC236}">
                <a16:creationId xmlns:a16="http://schemas.microsoft.com/office/drawing/2014/main" id="{B452C0D7-B37F-43A2-B486-58A1E2746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6759" y="6130925"/>
            <a:ext cx="508000" cy="50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solidFill>
              <a:srgbClr val="174994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lt1"/>
                </a:solidFill>
                <a:latin typeface="微软雅黑"/>
                <a:ea typeface="微软雅黑"/>
                <a:cs typeface="微软雅黑"/>
              </a:rPr>
              <a:t>27</a:t>
            </a:r>
          </a:p>
        </p:txBody>
      </p:sp>
      <p:sp>
        <p:nvSpPr>
          <p:cNvPr id="81" name="矩形 80">
            <a:extLst xmlns:a="http://schemas.openxmlformats.org/drawingml/2006/main">
              <a:ext uri="{FF2B5EF4-FFF2-40B4-BE49-F238E27FC236}">
                <a16:creationId xmlns:a16="http://schemas.microsoft.com/office/drawing/2014/main" id="{48B67799-EAB8-4038-8133-7AA3CC348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-1"/>
            <a:ext cx="12192000" cy="12037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2" name="矩形 81">
            <a:extLst xmlns:a="http://schemas.openxmlformats.org/drawingml/2006/main">
              <a:ext uri="{FF2B5EF4-FFF2-40B4-BE49-F238E27FC236}">
                <a16:creationId xmlns:a16="http://schemas.microsoft.com/office/drawing/2014/main" id="{7618DFB8-9A5A-456E-B964-39FCCC1C4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0"/>
            <a:ext cx="2650603" cy="120376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3" name="文本框 82">
            <a:extLst xmlns:a="http://schemas.openxmlformats.org/drawingml/2006/main">
              <a:ext uri="{FF2B5EF4-FFF2-40B4-BE49-F238E27FC236}">
                <a16:creationId xmlns:a16="http://schemas.microsoft.com/office/drawing/2014/main" id="{EE8BAED2-0ED5-4BBE-89F5-3C9830933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7216"/>
            <a:ext cx="2316627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研究背景及意义</a:t>
            </a:r>
          </a:p>
        </p:txBody>
      </p:sp>
      <p:sp>
        <p:nvSpPr>
          <p:cNvPr id="84" name="文本框 83">
            <a:extLst xmlns:a="http://schemas.openxmlformats.org/drawingml/2006/main">
              <a:ext uri="{FF2B5EF4-FFF2-40B4-BE49-F238E27FC236}">
                <a16:creationId xmlns:a16="http://schemas.microsoft.com/office/drawing/2014/main" id="{F0916D0F-A50A-4E89-979A-0657F8E39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7873" y="417216"/>
            <a:ext cx="295465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研究目标与方案</a:t>
            </a:r>
          </a:p>
        </p:txBody>
      </p:sp>
      <p:sp>
        <p:nvSpPr>
          <p:cNvPr id="85" name="文本框 84">
            <a:extLst xmlns:a="http://schemas.openxmlformats.org/drawingml/2006/main">
              <a:ext uri="{FF2B5EF4-FFF2-40B4-BE49-F238E27FC236}">
                <a16:creationId xmlns:a16="http://schemas.microsoft.com/office/drawing/2014/main" id="{D60737E1-A6B8-41C4-A7A8-7A1BAEF6D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373" y="427155"/>
            <a:ext cx="2954655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研究框架介绍</a:t>
            </a:r>
          </a:p>
        </p:txBody>
      </p:sp>
      <p:sp>
        <p:nvSpPr>
          <p:cNvPr id="86" name="文本框 85">
            <a:extLst xmlns:a="http://schemas.openxmlformats.org/drawingml/2006/main">
              <a:ext uri="{FF2B5EF4-FFF2-40B4-BE49-F238E27FC236}">
                <a16:creationId xmlns:a16="http://schemas.microsoft.com/office/drawing/2014/main" id="{66297B84-6EFF-40AB-A53D-3C70859BC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0874" y="417215"/>
            <a:ext cx="2316628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研究进度安排</a:t>
            </a:r>
          </a:p>
        </p:txBody>
      </p:sp>
      <p:sp>
        <p:nvSpPr>
          <p:cNvPr id="87" name="文本框 86">
            <a:extLst xmlns:a="http://schemas.openxmlformats.org/drawingml/2006/main">
              <a:ext uri="{FF2B5EF4-FFF2-40B4-BE49-F238E27FC236}">
                <a16:creationId xmlns:a16="http://schemas.microsoft.com/office/drawing/2014/main" id="{75DC209D-EBD6-48A3-A875-278F50EE2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4348" y="427155"/>
            <a:ext cx="176368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小组分工</a:t>
            </a:r>
          </a:p>
        </p:txBody>
      </p:sp>
      <p:pic>
        <p:nvPicPr>
          <p:cNvPr id="88" name="图片 8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fd0fa18c91b444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5963" y="168319"/>
            <a:ext cx="867126" cy="867126"/>
          </a:xfrm>
          <a:prstGeom xmlns:a="http://schemas.openxmlformats.org/drawingml/2006/main" prst="rect">
            <a:avLst/>
          </a:prstGeom>
        </p:spPr>
      </p:pic>
      <p:sp>
        <p:nvSpPr>
          <p:cNvPr id="89" name="直接连接符 88">
            <a:extLst xmlns:a="http://schemas.openxmlformats.org/drawingml/2006/main">
              <a:ext uri="{FF2B5EF4-FFF2-40B4-BE49-F238E27FC236}">
                <a16:creationId xmlns:a16="http://schemas.microsoft.com/office/drawing/2014/main" id="{AEC731C6-3A93-48EC-9740-0B376D106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6855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0" name="直接连接符 89">
            <a:extLst xmlns:a="http://schemas.openxmlformats.org/drawingml/2006/main">
              <a:ext uri="{FF2B5EF4-FFF2-40B4-BE49-F238E27FC236}">
                <a16:creationId xmlns:a16="http://schemas.microsoft.com/office/drawing/2014/main" id="{F4DDAE19-5915-4940-B7E9-3DE0F34D6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1" name="直接连接符 90">
            <a:extLst xmlns:a="http://schemas.openxmlformats.org/drawingml/2006/main">
              <a:ext uri="{FF2B5EF4-FFF2-40B4-BE49-F238E27FC236}">
                <a16:creationId xmlns:a16="http://schemas.microsoft.com/office/drawing/2014/main" id="{864E3B89-389B-49AF-AAD1-09CADE7DA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2774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2" name="直接连接符 91">
            <a:extLst xmlns:a="http://schemas.openxmlformats.org/drawingml/2006/main">
              <a:ext uri="{FF2B5EF4-FFF2-40B4-BE49-F238E27FC236}">
                <a16:creationId xmlns:a16="http://schemas.microsoft.com/office/drawing/2014/main" id="{017FED8B-64D0-4756-B26A-A577B7463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3068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3" name="等腰三角形 92">
            <a:extLst xmlns:a="http://schemas.openxmlformats.org/drawingml/2006/main">
              <a:ext uri="{FF2B5EF4-FFF2-40B4-BE49-F238E27FC236}">
                <a16:creationId xmlns:a16="http://schemas.microsoft.com/office/drawing/2014/main" id="{D51AB20F-761E-45F5-B030-75D3E3FC8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4604" y="986817"/>
            <a:ext cx="664192" cy="213744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</p:spTree>
    <p:extLst>
      <p:ext uri="{BB962C8B-B14F-4D97-AF65-F5344CB8AC3E}">
        <p14:creationId xmlns:p14="http://schemas.microsoft.com/office/powerpoint/2010/main" val="1361452389"/>
      </p:ext>
    </p:extLst>
  </p:cSld>
</p:sld>
</file>

<file path=ppt/slides/slide2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文本框 34">
            <a:extLst xmlns:a="http://schemas.openxmlformats.org/drawingml/2006/main">
              <a:ext uri="{FF2B5EF4-FFF2-40B4-BE49-F238E27FC236}">
                <a16:creationId xmlns:a16="http://schemas.microsoft.com/office/drawing/2014/main" id="{B4FBA366-54D4-4BA9-B42C-1177675AF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507" y="1470061"/>
            <a:ext cx="3300904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600"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5.1  小组分工</a:t>
            </a:r>
          </a:p>
        </p:txBody>
      </p:sp>
      <p:sp>
        <p:nvSpPr>
          <p:cNvPr id="47" name="矩形 46">
            <a:extLst xmlns:a="http://schemas.openxmlformats.org/drawingml/2006/main">
              <a:ext uri="{FF2B5EF4-FFF2-40B4-BE49-F238E27FC236}">
                <a16:creationId xmlns:a16="http://schemas.microsoft.com/office/drawing/2014/main" id="{B452C0D7-B37F-43A2-B486-58A1E2746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6759" y="6130925"/>
            <a:ext cx="508000" cy="50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solidFill>
              <a:srgbClr val="174994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lt1"/>
                </a:solidFill>
                <a:latin typeface="微软雅黑"/>
                <a:ea typeface="微软雅黑"/>
                <a:cs typeface="微软雅黑"/>
              </a:rPr>
              <a:t>28</a:t>
            </a:r>
          </a:p>
        </p:txBody>
      </p:sp>
      <p:sp>
        <p:nvSpPr>
          <p:cNvPr id="81" name="矩形 80">
            <a:extLst xmlns:a="http://schemas.openxmlformats.org/drawingml/2006/main">
              <a:ext uri="{FF2B5EF4-FFF2-40B4-BE49-F238E27FC236}">
                <a16:creationId xmlns:a16="http://schemas.microsoft.com/office/drawing/2014/main" id="{48B67799-EAB8-4038-8133-7AA3CC348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-1"/>
            <a:ext cx="12192000" cy="12037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2" name="矩形 81">
            <a:extLst xmlns:a="http://schemas.openxmlformats.org/drawingml/2006/main">
              <a:ext uri="{FF2B5EF4-FFF2-40B4-BE49-F238E27FC236}">
                <a16:creationId xmlns:a16="http://schemas.microsoft.com/office/drawing/2014/main" id="{7618DFB8-9A5A-456E-B964-39FCCC1C4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0"/>
            <a:ext cx="2650603" cy="120376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3" name="文本框 82">
            <a:extLst xmlns:a="http://schemas.openxmlformats.org/drawingml/2006/main">
              <a:ext uri="{FF2B5EF4-FFF2-40B4-BE49-F238E27FC236}">
                <a16:creationId xmlns:a16="http://schemas.microsoft.com/office/drawing/2014/main" id="{EE8BAED2-0ED5-4BBE-89F5-3C9830933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7216"/>
            <a:ext cx="2316627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研究背景及意义</a:t>
            </a:r>
          </a:p>
        </p:txBody>
      </p:sp>
      <p:sp>
        <p:nvSpPr>
          <p:cNvPr id="84" name="文本框 83">
            <a:extLst xmlns:a="http://schemas.openxmlformats.org/drawingml/2006/main">
              <a:ext uri="{FF2B5EF4-FFF2-40B4-BE49-F238E27FC236}">
                <a16:creationId xmlns:a16="http://schemas.microsoft.com/office/drawing/2014/main" id="{F0916D0F-A50A-4E89-979A-0657F8E39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7873" y="417216"/>
            <a:ext cx="295465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研究目标与方案</a:t>
            </a:r>
          </a:p>
        </p:txBody>
      </p:sp>
      <p:sp>
        <p:nvSpPr>
          <p:cNvPr id="85" name="文本框 84">
            <a:extLst xmlns:a="http://schemas.openxmlformats.org/drawingml/2006/main">
              <a:ext uri="{FF2B5EF4-FFF2-40B4-BE49-F238E27FC236}">
                <a16:creationId xmlns:a16="http://schemas.microsoft.com/office/drawing/2014/main" id="{D60737E1-A6B8-41C4-A7A8-7A1BAEF6D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373" y="427155"/>
            <a:ext cx="2954655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研究框架介绍</a:t>
            </a:r>
          </a:p>
        </p:txBody>
      </p:sp>
      <p:sp>
        <p:nvSpPr>
          <p:cNvPr id="86" name="文本框 85">
            <a:extLst xmlns:a="http://schemas.openxmlformats.org/drawingml/2006/main">
              <a:ext uri="{FF2B5EF4-FFF2-40B4-BE49-F238E27FC236}">
                <a16:creationId xmlns:a16="http://schemas.microsoft.com/office/drawing/2014/main" id="{66297B84-6EFF-40AB-A53D-3C70859BC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0874" y="417215"/>
            <a:ext cx="2316628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研究进度安排</a:t>
            </a:r>
          </a:p>
        </p:txBody>
      </p:sp>
      <p:sp>
        <p:nvSpPr>
          <p:cNvPr id="87" name="文本框 86">
            <a:extLst xmlns:a="http://schemas.openxmlformats.org/drawingml/2006/main">
              <a:ext uri="{FF2B5EF4-FFF2-40B4-BE49-F238E27FC236}">
                <a16:creationId xmlns:a16="http://schemas.microsoft.com/office/drawing/2014/main" id="{75DC209D-EBD6-48A3-A875-278F50EE2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4348" y="427155"/>
            <a:ext cx="176368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小组分工</a:t>
            </a:r>
          </a:p>
        </p:txBody>
      </p:sp>
      <p:pic>
        <p:nvPicPr>
          <p:cNvPr id="88" name="图片 8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f8a2a87f1e54e2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5963" y="168319"/>
            <a:ext cx="867126" cy="867126"/>
          </a:xfrm>
          <a:prstGeom xmlns:a="http://schemas.openxmlformats.org/drawingml/2006/main" prst="rect">
            <a:avLst/>
          </a:prstGeom>
        </p:spPr>
      </p:pic>
      <p:sp>
        <p:nvSpPr>
          <p:cNvPr id="89" name="直接连接符 88">
            <a:extLst xmlns:a="http://schemas.openxmlformats.org/drawingml/2006/main">
              <a:ext uri="{FF2B5EF4-FFF2-40B4-BE49-F238E27FC236}">
                <a16:creationId xmlns:a16="http://schemas.microsoft.com/office/drawing/2014/main" id="{AEC731C6-3A93-48EC-9740-0B376D106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6855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0" name="直接连接符 89">
            <a:extLst xmlns:a="http://schemas.openxmlformats.org/drawingml/2006/main">
              <a:ext uri="{FF2B5EF4-FFF2-40B4-BE49-F238E27FC236}">
                <a16:creationId xmlns:a16="http://schemas.microsoft.com/office/drawing/2014/main" id="{F4DDAE19-5915-4940-B7E9-3DE0F34D6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1" name="直接连接符 90">
            <a:extLst xmlns:a="http://schemas.openxmlformats.org/drawingml/2006/main">
              <a:ext uri="{FF2B5EF4-FFF2-40B4-BE49-F238E27FC236}">
                <a16:creationId xmlns:a16="http://schemas.microsoft.com/office/drawing/2014/main" id="{864E3B89-389B-49AF-AAD1-09CADE7DA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2774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2" name="直接连接符 91">
            <a:extLst xmlns:a="http://schemas.openxmlformats.org/drawingml/2006/main">
              <a:ext uri="{FF2B5EF4-FFF2-40B4-BE49-F238E27FC236}">
                <a16:creationId xmlns:a16="http://schemas.microsoft.com/office/drawing/2014/main" id="{017FED8B-64D0-4756-B26A-A577B7463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3068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3" name="等腰三角形 92">
            <a:extLst xmlns:a="http://schemas.openxmlformats.org/drawingml/2006/main">
              <a:ext uri="{FF2B5EF4-FFF2-40B4-BE49-F238E27FC236}">
                <a16:creationId xmlns:a16="http://schemas.microsoft.com/office/drawing/2014/main" id="{D51AB20F-761E-45F5-B030-75D3E3FC8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4604" y="986817"/>
            <a:ext cx="664192" cy="213744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</p:spTree>
    <p:extLst>
      <p:ext uri="{BB962C8B-B14F-4D97-AF65-F5344CB8AC3E}">
        <p14:creationId xmlns:p14="http://schemas.microsoft.com/office/powerpoint/2010/main" val="1361452389"/>
      </p:ext>
    </p:extLst>
  </p:cSld>
</p:sld>
</file>

<file path=ppt/slides/slide2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B75B1E27-B13F-4025-AF3D-12626A482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7617" y="1438103"/>
            <a:ext cx="9710531" cy="439616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文本框 3">
            <a:extLst xmlns:a="http://schemas.openxmlformats.org/drawingml/2006/main">
              <a:ext uri="{FF2B5EF4-FFF2-40B4-BE49-F238E27FC236}">
                <a16:creationId xmlns:a16="http://schemas.microsoft.com/office/drawing/2014/main" id="{15101F59-0547-4625-9D11-56ED6460A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3844" y="3286495"/>
            <a:ext cx="5676900" cy="645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600"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敬请</a:t>
            </a:r>
            <a:r>
              <a:rPr sz="3600"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各位老师同学批评指正</a:t>
            </a:r>
          </a:p>
        </p:txBody>
      </p:sp>
      <p:sp>
        <p:nvSpPr>
          <p:cNvPr id="6" name="文本框 5">
            <a:extLst xmlns:a="http://schemas.openxmlformats.org/drawingml/2006/main">
              <a:ext uri="{FF2B5EF4-FFF2-40B4-BE49-F238E27FC236}">
                <a16:creationId xmlns:a16="http://schemas.microsoft.com/office/drawing/2014/main" id="{45611ECF-9700-4D3A-B594-A59298F40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3843" y="2340358"/>
            <a:ext cx="5600885" cy="7683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4400"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汇报结束     感谢观看</a:t>
            </a:r>
          </a:p>
        </p:txBody>
      </p:sp>
      <p:sp>
        <p:nvSpPr>
          <p:cNvPr id="9" name="直接连接符 8">
            <a:extLst xmlns:a="http://schemas.openxmlformats.org/drawingml/2006/main">
              <a:ext uri="{FF2B5EF4-FFF2-40B4-BE49-F238E27FC236}">
                <a16:creationId xmlns:a16="http://schemas.microsoft.com/office/drawing/2014/main" id="{D0843B20-529F-4BA5-A985-F6B812D86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48478" y="4643854"/>
            <a:ext cx="12990443" cy="0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1" name="文本框 10">
            <a:extLst xmlns:a="http://schemas.openxmlformats.org/drawingml/2006/main">
              <a:ext uri="{FF2B5EF4-FFF2-40B4-BE49-F238E27FC236}">
                <a16:creationId xmlns:a16="http://schemas.microsoft.com/office/drawing/2014/main" id="{8ABF4C17-E7B2-4183-A778-509571B4F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7457" y="5050565"/>
            <a:ext cx="1685077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汇报人：第</a:t>
            </a: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7</a:t>
            </a: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组</a:t>
            </a:r>
          </a:p>
        </p:txBody>
      </p:sp>
      <p:sp>
        <p:nvSpPr>
          <p:cNvPr id="12" name="文本框 11">
            <a:extLst xmlns:a="http://schemas.openxmlformats.org/drawingml/2006/main">
              <a:ext uri="{FF2B5EF4-FFF2-40B4-BE49-F238E27FC236}">
                <a16:creationId xmlns:a16="http://schemas.microsoft.com/office/drawing/2014/main" id="{81EE79FE-A7C6-4974-8B17-3C0741C25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5831" y="5050565"/>
            <a:ext cx="1685077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2026年5月26日</a:t>
            </a:r>
          </a:p>
        </p:txBody>
      </p:sp>
      <p:pic>
        <p:nvPicPr>
          <p:cNvPr id="13" name="图片 1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ece48a243c448c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516999" y="188082"/>
            <a:ext cx="2554357" cy="538993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0222704"/>
      </p:ext>
    </p:extLst>
  </p:cSld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2026-05-26T13:24:49.1570000Z</dcterms:created>
  <dcterms:modified xsi:type="dcterms:W3CDTF">2026-05-26T13:24:49.1570000Z</dcterms:modified>
</coreProperties>
</file>